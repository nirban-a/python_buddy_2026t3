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  <p:sldMasterId id="214748365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15" roundtripDataSignature="AMtx7mgB64wCGtYR4fQIEcJnJYZGIJw+y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customschemas.google.com/relationships/presentationmetadata" Target="metadata"/><Relationship Id="rId14" Type="http://schemas.openxmlformats.org/officeDocument/2006/relationships/slide" Target="slides/slide8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" name="Google Shape;54;p1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5" name="Google Shape;55;p1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" name="Google Shape;62;p2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3" name="Google Shape;63;p2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3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" name="Google Shape;84;p3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5" name="Google Shape;85;p3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4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3" name="Google Shape;113;p4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4" name="Google Shape;114;p4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5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0" name="Google Shape;160;p5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1" name="Google Shape;161;p5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6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6" name="Google Shape;176;p6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7" name="Google Shape;177;p6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7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6" name="Google Shape;196;p7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7" name="Google Shape;197;p7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8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2" name="Google Shape;212;p8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3" name="Google Shape;213;p8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3" name="Google Shape;13;p1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4" name="Google Shape;14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7" name="Google Shape;17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1" name="Google Shape;2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" name="Google Shape;24;p1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1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2" name="Google Shape;32;p1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6" name="Google Shape;3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1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0" name="Google Shape;40;p1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1" name="Google Shape;41;p1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2" name="Google Shape;42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2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5" name="Google Shape;45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8" name="Google Shape;48;p2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9" name="Google Shape;4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Layout" Target="../slideLayouts/slideLayout3.xml"/><Relationship Id="rId3" Type="http://schemas.openxmlformats.org/officeDocument/2006/relationships/slideLayout" Target="../slideLayouts/slideLayout4.xml"/><Relationship Id="rId4" Type="http://schemas.openxmlformats.org/officeDocument/2006/relationships/slideLayout" Target="../slideLayouts/slideLayout5.xml"/><Relationship Id="rId11" Type="http://schemas.openxmlformats.org/officeDocument/2006/relationships/slideLayout" Target="../slideLayouts/slideLayout12.xml"/><Relationship Id="rId10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10.xml"/><Relationship Id="rId5" Type="http://schemas.openxmlformats.org/officeDocument/2006/relationships/slideLayout" Target="../slideLayouts/slideLayout6.xml"/><Relationship Id="rId6" Type="http://schemas.openxmlformats.org/officeDocument/2006/relationships/slideLayout" Target="../slideLayouts/slideLayout7.xml"/><Relationship Id="rId7" Type="http://schemas.openxmlformats.org/officeDocument/2006/relationships/slideLayout" Target="../slideLayouts/slideLayout8.xml"/><Relationship Id="rId8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1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8E3D8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"/>
          <p:cNvSpPr/>
          <p:nvPr/>
        </p:nvSpPr>
        <p:spPr>
          <a:xfrm>
            <a:off x="0" y="1188720"/>
            <a:ext cx="9144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4800"/>
              <a:buFont typeface="Arial"/>
              <a:buNone/>
            </a:pPr>
            <a:r>
              <a:rPr b="1" i="0" lang="en" sz="48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2025 Jan Oppe 1 - Set 3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1"/>
          <p:cNvSpPr/>
          <p:nvPr/>
        </p:nvSpPr>
        <p:spPr>
          <a:xfrm>
            <a:off x="0" y="1874520"/>
            <a:ext cx="91440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400"/>
              <a:buFont typeface="Arial"/>
              <a:buNone/>
            </a:pPr>
            <a:r>
              <a:rPr b="1" i="0" lang="en" sz="24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Capitalize nth Character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1"/>
          <p:cNvSpPr/>
          <p:nvPr/>
        </p:nvSpPr>
        <p:spPr>
          <a:xfrm>
            <a:off x="0" y="2514600"/>
            <a:ext cx="91440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Section 1 - problem 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8E3D8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2"/>
          <p:cNvSpPr/>
          <p:nvPr/>
        </p:nvSpPr>
        <p:spPr>
          <a:xfrm>
            <a:off x="502920" y="292608"/>
            <a:ext cx="822960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4200"/>
              <a:buFont typeface="Arial"/>
              <a:buNone/>
            </a:pPr>
            <a:r>
              <a:rPr b="1" i="0" lang="en" sz="42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Problem Definition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2"/>
          <p:cNvSpPr/>
          <p:nvPr/>
        </p:nvSpPr>
        <p:spPr>
          <a:xfrm>
            <a:off x="411480" y="1078992"/>
            <a:ext cx="3794760" cy="3566160"/>
          </a:xfrm>
          <a:prstGeom prst="roundRect">
            <a:avLst>
              <a:gd fmla="val 3077" name="adj"/>
            </a:avLst>
          </a:prstGeom>
          <a:solidFill>
            <a:srgbClr val="FAFAF8"/>
          </a:solidFill>
          <a:ln cap="flat" cmpd="sng" w="12700">
            <a:solidFill>
              <a:srgbClr val="D8D3C8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2"/>
          <p:cNvSpPr/>
          <p:nvPr/>
        </p:nvSpPr>
        <p:spPr>
          <a:xfrm>
            <a:off x="594360" y="1261872"/>
            <a:ext cx="3429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4D8E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1B4D8E"/>
                </a:solidFill>
                <a:latin typeface="Arial"/>
                <a:ea typeface="Arial"/>
                <a:cs typeface="Arial"/>
                <a:sym typeface="Arial"/>
              </a:rPr>
              <a:t>PROBLEM STATEMENT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2"/>
          <p:cNvSpPr/>
          <p:nvPr/>
        </p:nvSpPr>
        <p:spPr>
          <a:xfrm>
            <a:off x="594360" y="1600200"/>
            <a:ext cx="34290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Write a function </a:t>
            </a:r>
            <a:r>
              <a:rPr b="1" i="0" lang="en" sz="1300" u="none" cap="none" strike="noStrike">
                <a:solidFill>
                  <a:srgbClr val="111111"/>
                </a:solidFill>
                <a:latin typeface="Courier New"/>
                <a:ea typeface="Courier New"/>
                <a:cs typeface="Courier New"/>
                <a:sym typeface="Courier New"/>
              </a:rPr>
              <a:t>'upper_nth_index_char'</a:t>
            </a:r>
            <a:r>
              <a:rPr b="0" i="0" lang="en" sz="13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 that takes a string </a:t>
            </a:r>
            <a:r>
              <a:rPr b="0" i="1" lang="en" sz="13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b="0" i="0" lang="en" sz="13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 and an integer </a:t>
            </a:r>
            <a:r>
              <a:rPr b="0" i="1" lang="en" sz="13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b="0" i="0" lang="en" sz="13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, and returns the string with the character at index </a:t>
            </a:r>
            <a:r>
              <a:rPr b="0" i="1" lang="en" sz="13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b="0" i="0" lang="en" sz="13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 capitali</a:t>
            </a:r>
            <a:r>
              <a:rPr lang="en" sz="1300">
                <a:solidFill>
                  <a:srgbClr val="111111"/>
                </a:solidFill>
              </a:rPr>
              <a:t>z</a:t>
            </a:r>
            <a:r>
              <a:rPr b="0" i="0" lang="en" sz="13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ed.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2"/>
          <p:cNvSpPr/>
          <p:nvPr/>
        </p:nvSpPr>
        <p:spPr>
          <a:xfrm>
            <a:off x="594360" y="2697480"/>
            <a:ext cx="34290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00"/>
              <a:buFont typeface="Arial"/>
              <a:buChar char="•"/>
            </a:pPr>
            <a:r>
              <a:rPr b="0" i="0" lang="en" sz="13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Use 0-based indexing (first character is at index 0).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1111"/>
              </a:buClr>
              <a:buSzPts val="1300"/>
              <a:buFont typeface="Arial"/>
              <a:buChar char="•"/>
            </a:pPr>
            <a:r>
              <a:rPr b="0" i="0" lang="en" sz="13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If n is out of bounds, return the string unchanged.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2"/>
          <p:cNvSpPr/>
          <p:nvPr/>
        </p:nvSpPr>
        <p:spPr>
          <a:xfrm>
            <a:off x="594360" y="3611880"/>
            <a:ext cx="3429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Only capitalize; don't change other characters.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1" name="Google Shape;71;p2"/>
          <p:cNvCxnSpPr/>
          <p:nvPr/>
        </p:nvCxnSpPr>
        <p:spPr>
          <a:xfrm>
            <a:off x="4251960" y="2834640"/>
            <a:ext cx="502920" cy="0"/>
          </a:xfrm>
          <a:prstGeom prst="straightConnector1">
            <a:avLst/>
          </a:prstGeom>
          <a:noFill/>
          <a:ln cap="flat" cmpd="sng" w="31750">
            <a:solidFill>
              <a:srgbClr val="1B4D8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2" name="Google Shape;72;p2"/>
          <p:cNvCxnSpPr/>
          <p:nvPr/>
        </p:nvCxnSpPr>
        <p:spPr>
          <a:xfrm>
            <a:off x="4672584" y="2743200"/>
            <a:ext cx="109728" cy="91440"/>
          </a:xfrm>
          <a:prstGeom prst="straightConnector1">
            <a:avLst/>
          </a:prstGeom>
          <a:noFill/>
          <a:ln cap="flat" cmpd="sng" w="31750">
            <a:solidFill>
              <a:srgbClr val="1B4D8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3" name="Google Shape;73;p2"/>
          <p:cNvCxnSpPr/>
          <p:nvPr/>
        </p:nvCxnSpPr>
        <p:spPr>
          <a:xfrm flipH="1" rot="10800000">
            <a:off x="4672584" y="2834640"/>
            <a:ext cx="109728" cy="91440"/>
          </a:xfrm>
          <a:prstGeom prst="straightConnector1">
            <a:avLst/>
          </a:prstGeom>
          <a:noFill/>
          <a:ln cap="flat" cmpd="sng" w="31750">
            <a:solidFill>
              <a:srgbClr val="1B4D8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4" name="Google Shape;74;p2"/>
          <p:cNvSpPr/>
          <p:nvPr/>
        </p:nvSpPr>
        <p:spPr>
          <a:xfrm>
            <a:off x="4892040" y="1078992"/>
            <a:ext cx="3858768" cy="3566160"/>
          </a:xfrm>
          <a:prstGeom prst="roundRect">
            <a:avLst>
              <a:gd fmla="val 3077" name="adj"/>
            </a:avLst>
          </a:prstGeom>
          <a:solidFill>
            <a:srgbClr val="FAFAF8"/>
          </a:solidFill>
          <a:ln cap="flat" cmpd="sng" w="12700">
            <a:solidFill>
              <a:srgbClr val="D8D3C8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2"/>
          <p:cNvSpPr/>
          <p:nvPr/>
        </p:nvSpPr>
        <p:spPr>
          <a:xfrm>
            <a:off x="5074920" y="1261872"/>
            <a:ext cx="349300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4D8E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1B4D8E"/>
                </a:solidFill>
                <a:latin typeface="Arial"/>
                <a:ea typeface="Arial"/>
                <a:cs typeface="Arial"/>
                <a:sym typeface="Arial"/>
              </a:rPr>
              <a:t>EXAMPLE &amp; EXPLANATION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2"/>
          <p:cNvSpPr/>
          <p:nvPr/>
        </p:nvSpPr>
        <p:spPr>
          <a:xfrm>
            <a:off x="5074920" y="1600200"/>
            <a:ext cx="349300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Given input </a:t>
            </a:r>
            <a:r>
              <a:rPr b="1" i="0" lang="en" sz="1300" u="none" cap="none" strike="noStrike">
                <a:solidFill>
                  <a:srgbClr val="111111"/>
                </a:solidFill>
                <a:latin typeface="Courier New"/>
                <a:ea typeface="Courier New"/>
                <a:cs typeface="Courier New"/>
                <a:sym typeface="Courier New"/>
              </a:rPr>
              <a:t>s = "hello", n = </a:t>
            </a:r>
            <a:r>
              <a:rPr b="1" lang="en" sz="1300">
                <a:solidFill>
                  <a:srgbClr val="111111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b="0" i="0" lang="en" sz="13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2"/>
          <p:cNvSpPr/>
          <p:nvPr/>
        </p:nvSpPr>
        <p:spPr>
          <a:xfrm>
            <a:off x="5074920" y="2011680"/>
            <a:ext cx="3493008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• Index 1 is 'e'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• Capitalize it → 'E'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Output: </a:t>
            </a:r>
            <a:r>
              <a:rPr b="1" i="0" lang="en" sz="1300" u="none" cap="none" strike="noStrike">
                <a:solidFill>
                  <a:srgbClr val="1B4D8E"/>
                </a:solidFill>
                <a:latin typeface="Courier New"/>
                <a:ea typeface="Courier New"/>
                <a:cs typeface="Courier New"/>
                <a:sym typeface="Courier New"/>
              </a:rPr>
              <a:t>"hEllo"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8" name="Google Shape;78;p2"/>
          <p:cNvCxnSpPr/>
          <p:nvPr/>
        </p:nvCxnSpPr>
        <p:spPr>
          <a:xfrm>
            <a:off x="5074920" y="2907792"/>
            <a:ext cx="3310128" cy="0"/>
          </a:xfrm>
          <a:prstGeom prst="straightConnector1">
            <a:avLst/>
          </a:prstGeom>
          <a:noFill/>
          <a:ln cap="flat" cmpd="sng" w="12700">
            <a:solidFill>
              <a:srgbClr val="D8D3C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9" name="Google Shape;79;p2"/>
          <p:cNvSpPr/>
          <p:nvPr/>
        </p:nvSpPr>
        <p:spPr>
          <a:xfrm>
            <a:off x="5074920" y="3017520"/>
            <a:ext cx="349300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Given input </a:t>
            </a:r>
            <a:r>
              <a:rPr b="1" i="0" lang="en" sz="1300" u="none" cap="none" strike="noStrike">
                <a:solidFill>
                  <a:srgbClr val="111111"/>
                </a:solidFill>
                <a:latin typeface="Courier New"/>
                <a:ea typeface="Courier New"/>
                <a:cs typeface="Courier New"/>
                <a:sym typeface="Courier New"/>
              </a:rPr>
              <a:t>s = "python", n = 9</a:t>
            </a:r>
            <a:r>
              <a:rPr b="0" i="0" lang="en" sz="13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2"/>
          <p:cNvSpPr/>
          <p:nvPr/>
        </p:nvSpPr>
        <p:spPr>
          <a:xfrm>
            <a:off x="5074920" y="3419856"/>
            <a:ext cx="3493008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• Index 9 is out of bounds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• (string has only 6 characters)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Output: </a:t>
            </a:r>
            <a:r>
              <a:rPr b="1" i="0" lang="en" sz="1300" u="none" cap="none" strike="noStrike">
                <a:solidFill>
                  <a:srgbClr val="B5451B"/>
                </a:solidFill>
                <a:latin typeface="Courier New"/>
                <a:ea typeface="Courier New"/>
                <a:cs typeface="Courier New"/>
                <a:sym typeface="Courier New"/>
              </a:rPr>
              <a:t>"python"</a:t>
            </a:r>
            <a:r>
              <a:rPr b="0" i="0" lang="en" sz="13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 (unchanged)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2"/>
          <p:cNvSpPr/>
          <p:nvPr/>
        </p:nvSpPr>
        <p:spPr>
          <a:xfrm>
            <a:off x="457200" y="4892040"/>
            <a:ext cx="8229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Python Buddy  ·  Section 1 - Problem 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8E3D8"/>
        </a:solid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3"/>
          <p:cNvSpPr/>
          <p:nvPr/>
        </p:nvSpPr>
        <p:spPr>
          <a:xfrm>
            <a:off x="502920" y="201168"/>
            <a:ext cx="822960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4200"/>
              <a:buFont typeface="Arial"/>
              <a:buNone/>
            </a:pPr>
            <a:r>
              <a:rPr b="1" i="0" lang="en" sz="42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The Problem Specification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3"/>
          <p:cNvSpPr/>
          <p:nvPr/>
        </p:nvSpPr>
        <p:spPr>
          <a:xfrm>
            <a:off x="411480" y="1005840"/>
            <a:ext cx="2240280" cy="3200400"/>
          </a:xfrm>
          <a:prstGeom prst="roundRect">
            <a:avLst>
              <a:gd fmla="val 4898" name="adj"/>
            </a:avLst>
          </a:prstGeom>
          <a:solidFill>
            <a:srgbClr val="FAFAF8"/>
          </a:solidFill>
          <a:ln cap="flat" cmpd="sng" w="12700">
            <a:solidFill>
              <a:srgbClr val="D8D3C8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3"/>
          <p:cNvSpPr/>
          <p:nvPr/>
        </p:nvSpPr>
        <p:spPr>
          <a:xfrm>
            <a:off x="594360" y="1207008"/>
            <a:ext cx="1874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4D8E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rgbClr val="1B4D8E"/>
                </a:solidFill>
                <a:latin typeface="Arial"/>
                <a:ea typeface="Arial"/>
                <a:cs typeface="Arial"/>
                <a:sym typeface="Arial"/>
              </a:rPr>
              <a:t>INPUT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3"/>
          <p:cNvSpPr/>
          <p:nvPr/>
        </p:nvSpPr>
        <p:spPr>
          <a:xfrm>
            <a:off x="530352" y="1664208"/>
            <a:ext cx="2011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00"/>
              <a:buFont typeface="Courier New"/>
              <a:buNone/>
            </a:pPr>
            <a:r>
              <a:rPr b="0" i="0" lang="en" sz="1300" u="none" cap="none" strike="noStrike">
                <a:solidFill>
                  <a:srgbClr val="111111"/>
                </a:solidFill>
                <a:latin typeface="Courier New"/>
                <a:ea typeface="Courier New"/>
                <a:cs typeface="Courier New"/>
                <a:sym typeface="Courier New"/>
              </a:rPr>
              <a:t>s (str)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00"/>
              <a:buFont typeface="Courier New"/>
              <a:buNone/>
            </a:pPr>
            <a:r>
              <a:rPr b="0" i="0" lang="en" sz="1300" u="none" cap="none" strike="noStrike">
                <a:solidFill>
                  <a:srgbClr val="111111"/>
                </a:solidFill>
                <a:latin typeface="Courier New"/>
                <a:ea typeface="Courier New"/>
                <a:cs typeface="Courier New"/>
                <a:sym typeface="Courier New"/>
              </a:rPr>
              <a:t>n (int)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3"/>
          <p:cNvSpPr/>
          <p:nvPr/>
        </p:nvSpPr>
        <p:spPr>
          <a:xfrm>
            <a:off x="594360" y="2212848"/>
            <a:ext cx="18745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A string and an index position.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2" name="Google Shape;92;p3"/>
          <p:cNvCxnSpPr/>
          <p:nvPr/>
        </p:nvCxnSpPr>
        <p:spPr>
          <a:xfrm>
            <a:off x="2706624" y="2606040"/>
            <a:ext cx="502920" cy="0"/>
          </a:xfrm>
          <a:prstGeom prst="straightConnector1">
            <a:avLst/>
          </a:prstGeom>
          <a:noFill/>
          <a:ln cap="flat" cmpd="sng" w="31750">
            <a:solidFill>
              <a:srgbClr val="1B4D8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3" name="Google Shape;93;p3"/>
          <p:cNvCxnSpPr/>
          <p:nvPr/>
        </p:nvCxnSpPr>
        <p:spPr>
          <a:xfrm>
            <a:off x="3127248" y="2514600"/>
            <a:ext cx="109728" cy="91440"/>
          </a:xfrm>
          <a:prstGeom prst="straightConnector1">
            <a:avLst/>
          </a:prstGeom>
          <a:noFill/>
          <a:ln cap="flat" cmpd="sng" w="31750">
            <a:solidFill>
              <a:srgbClr val="1B4D8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4" name="Google Shape;94;p3"/>
          <p:cNvCxnSpPr/>
          <p:nvPr/>
        </p:nvCxnSpPr>
        <p:spPr>
          <a:xfrm flipH="1" rot="10800000">
            <a:off x="3127248" y="2606040"/>
            <a:ext cx="109728" cy="91440"/>
          </a:xfrm>
          <a:prstGeom prst="straightConnector1">
            <a:avLst/>
          </a:prstGeom>
          <a:noFill/>
          <a:ln cap="flat" cmpd="sng" w="31750">
            <a:solidFill>
              <a:srgbClr val="1B4D8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5" name="Google Shape;95;p3"/>
          <p:cNvSpPr/>
          <p:nvPr/>
        </p:nvSpPr>
        <p:spPr>
          <a:xfrm>
            <a:off x="3337560" y="1005840"/>
            <a:ext cx="2468880" cy="3200400"/>
          </a:xfrm>
          <a:prstGeom prst="roundRect">
            <a:avLst>
              <a:gd fmla="val 4444" name="adj"/>
            </a:avLst>
          </a:prstGeom>
          <a:solidFill>
            <a:srgbClr val="FAFAF8"/>
          </a:solidFill>
          <a:ln cap="flat" cmpd="sng" w="12700">
            <a:solidFill>
              <a:srgbClr val="D8D3C8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3"/>
          <p:cNvSpPr/>
          <p:nvPr/>
        </p:nvSpPr>
        <p:spPr>
          <a:xfrm>
            <a:off x="3520440" y="1207008"/>
            <a:ext cx="2103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4D8E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rgbClr val="1B4D8E"/>
                </a:solidFill>
                <a:latin typeface="Arial"/>
                <a:ea typeface="Arial"/>
                <a:cs typeface="Arial"/>
                <a:sym typeface="Arial"/>
              </a:rPr>
              <a:t>THE BLACK BOX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3"/>
          <p:cNvSpPr/>
          <p:nvPr/>
        </p:nvSpPr>
        <p:spPr>
          <a:xfrm>
            <a:off x="3520440" y="1627632"/>
            <a:ext cx="21031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1. Check if n is valid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(0 ≤ n &lt; len(s))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3"/>
          <p:cNvSpPr/>
          <p:nvPr/>
        </p:nvSpPr>
        <p:spPr>
          <a:xfrm>
            <a:off x="3520440" y="2286000"/>
            <a:ext cx="21031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2. Extract character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at index 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3"/>
          <p:cNvSpPr/>
          <p:nvPr/>
        </p:nvSpPr>
        <p:spPr>
          <a:xfrm>
            <a:off x="3520440" y="2944368"/>
            <a:ext cx="21031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3. Capitalize that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character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3"/>
          <p:cNvSpPr/>
          <p:nvPr/>
        </p:nvSpPr>
        <p:spPr>
          <a:xfrm>
            <a:off x="3520440" y="3602736"/>
            <a:ext cx="21031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4. Rebuild string with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capitalized char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1" name="Google Shape;101;p3"/>
          <p:cNvCxnSpPr/>
          <p:nvPr/>
        </p:nvCxnSpPr>
        <p:spPr>
          <a:xfrm>
            <a:off x="5870448" y="2606040"/>
            <a:ext cx="502920" cy="0"/>
          </a:xfrm>
          <a:prstGeom prst="straightConnector1">
            <a:avLst/>
          </a:prstGeom>
          <a:noFill/>
          <a:ln cap="flat" cmpd="sng" w="31750">
            <a:solidFill>
              <a:srgbClr val="1B4D8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2" name="Google Shape;102;p3"/>
          <p:cNvCxnSpPr/>
          <p:nvPr/>
        </p:nvCxnSpPr>
        <p:spPr>
          <a:xfrm>
            <a:off x="6291072" y="2514600"/>
            <a:ext cx="109728" cy="91440"/>
          </a:xfrm>
          <a:prstGeom prst="straightConnector1">
            <a:avLst/>
          </a:prstGeom>
          <a:noFill/>
          <a:ln cap="flat" cmpd="sng" w="31750">
            <a:solidFill>
              <a:srgbClr val="1B4D8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3" name="Google Shape;103;p3"/>
          <p:cNvCxnSpPr/>
          <p:nvPr/>
        </p:nvCxnSpPr>
        <p:spPr>
          <a:xfrm flipH="1" rot="10800000">
            <a:off x="6291072" y="2606040"/>
            <a:ext cx="109728" cy="91440"/>
          </a:xfrm>
          <a:prstGeom prst="straightConnector1">
            <a:avLst/>
          </a:prstGeom>
          <a:noFill/>
          <a:ln cap="flat" cmpd="sng" w="31750">
            <a:solidFill>
              <a:srgbClr val="1B4D8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4" name="Google Shape;104;p3"/>
          <p:cNvSpPr/>
          <p:nvPr/>
        </p:nvSpPr>
        <p:spPr>
          <a:xfrm>
            <a:off x="6492240" y="1005840"/>
            <a:ext cx="2240280" cy="3200400"/>
          </a:xfrm>
          <a:prstGeom prst="roundRect">
            <a:avLst>
              <a:gd fmla="val 4898" name="adj"/>
            </a:avLst>
          </a:prstGeom>
          <a:solidFill>
            <a:srgbClr val="FAFAF8"/>
          </a:solidFill>
          <a:ln cap="flat" cmpd="sng" w="12700">
            <a:solidFill>
              <a:srgbClr val="D8D3C8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3"/>
          <p:cNvSpPr/>
          <p:nvPr/>
        </p:nvSpPr>
        <p:spPr>
          <a:xfrm>
            <a:off x="6675120" y="1207008"/>
            <a:ext cx="1874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4D8E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rgbClr val="1B4D8E"/>
                </a:solidFill>
                <a:latin typeface="Arial"/>
                <a:ea typeface="Arial"/>
                <a:cs typeface="Arial"/>
                <a:sym typeface="Arial"/>
              </a:rPr>
              <a:t>OUTPUT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3"/>
          <p:cNvSpPr/>
          <p:nvPr/>
        </p:nvSpPr>
        <p:spPr>
          <a:xfrm>
            <a:off x="6675120" y="1664208"/>
            <a:ext cx="18745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3200"/>
              <a:buFont typeface="Courier New"/>
              <a:buNone/>
            </a:pPr>
            <a:r>
              <a:rPr b="1" i="0" lang="en" sz="3200" u="none" cap="none" strike="noStrike">
                <a:solidFill>
                  <a:srgbClr val="111111"/>
                </a:solidFill>
                <a:latin typeface="Courier New"/>
                <a:ea typeface="Courier New"/>
                <a:cs typeface="Courier New"/>
                <a:sym typeface="Courier New"/>
              </a:rPr>
              <a:t>str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3"/>
          <p:cNvSpPr/>
          <p:nvPr/>
        </p:nvSpPr>
        <p:spPr>
          <a:xfrm>
            <a:off x="6675120" y="2304288"/>
            <a:ext cx="18745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Original string with nth character capitalized (or unchanged if out of bounds).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3"/>
          <p:cNvSpPr/>
          <p:nvPr/>
        </p:nvSpPr>
        <p:spPr>
          <a:xfrm>
            <a:off x="411480" y="4370832"/>
            <a:ext cx="8321040" cy="384048"/>
          </a:xfrm>
          <a:prstGeom prst="rect">
            <a:avLst/>
          </a:prstGeom>
          <a:solidFill>
            <a:srgbClr val="E8E3D8"/>
          </a:solidFill>
          <a:ln cap="flat" cmpd="sng" w="12700">
            <a:solidFill>
              <a:srgbClr val="E8E3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3"/>
          <p:cNvSpPr/>
          <p:nvPr/>
        </p:nvSpPr>
        <p:spPr>
          <a:xfrm>
            <a:off x="502920" y="4407408"/>
            <a:ext cx="80467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451B"/>
              </a:buClr>
              <a:buSzPts val="1300"/>
              <a:buFont typeface="Courier New"/>
              <a:buNone/>
            </a:pPr>
            <a:r>
              <a:rPr b="1" i="0" lang="en" sz="1300" u="none" cap="none" strike="noStrike">
                <a:solidFill>
                  <a:srgbClr val="B5451B"/>
                </a:solidFill>
                <a:latin typeface="Courier New"/>
                <a:ea typeface="Courier New"/>
                <a:cs typeface="Courier New"/>
                <a:sym typeface="Courier New"/>
              </a:rPr>
              <a:t>Constraint: </a:t>
            </a:r>
            <a:r>
              <a:rPr b="0" i="0" lang="en" sz="1300" u="none" cap="none" strike="noStrike">
                <a:solidFill>
                  <a:srgbClr val="B5451B"/>
                </a:solidFill>
                <a:latin typeface="Courier New"/>
                <a:ea typeface="Courier New"/>
                <a:cs typeface="Courier New"/>
                <a:sym typeface="Courier New"/>
              </a:rPr>
              <a:t>Use 0-based indexing. The first character is at index </a:t>
            </a:r>
            <a:r>
              <a:rPr b="1" i="0" lang="en" sz="1300" u="none" cap="none" strike="noStrike">
                <a:solidFill>
                  <a:srgbClr val="B5451B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b="0" i="0" lang="en" sz="1300" u="none" cap="none" strike="noStrike">
                <a:solidFill>
                  <a:srgbClr val="B5451B"/>
                </a:solidFill>
                <a:latin typeface="Courier New"/>
                <a:ea typeface="Courier New"/>
                <a:cs typeface="Courier New"/>
                <a:sym typeface="Courier New"/>
              </a:rPr>
              <a:t>, not 1.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3"/>
          <p:cNvSpPr/>
          <p:nvPr/>
        </p:nvSpPr>
        <p:spPr>
          <a:xfrm>
            <a:off x="457200" y="4892040"/>
            <a:ext cx="8229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Python Buddy  ·  Section 1 - Problem 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8E3D8"/>
        </a:soli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4"/>
          <p:cNvSpPr/>
          <p:nvPr/>
        </p:nvSpPr>
        <p:spPr>
          <a:xfrm>
            <a:off x="502920" y="201168"/>
            <a:ext cx="822960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4200"/>
              <a:buFont typeface="Arial"/>
              <a:buNone/>
            </a:pPr>
            <a:r>
              <a:rPr b="1" i="0" lang="en" sz="42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Visualizing the Operations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4"/>
          <p:cNvSpPr/>
          <p:nvPr/>
        </p:nvSpPr>
        <p:spPr>
          <a:xfrm>
            <a:off x="411480" y="960120"/>
            <a:ext cx="8321040" cy="3822192"/>
          </a:xfrm>
          <a:prstGeom prst="roundRect">
            <a:avLst>
              <a:gd fmla="val 2871" name="adj"/>
            </a:avLst>
          </a:prstGeom>
          <a:solidFill>
            <a:srgbClr val="FAFAF8"/>
          </a:solidFill>
          <a:ln cap="flat" cmpd="sng" w="12700">
            <a:solidFill>
              <a:srgbClr val="D8D3C8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4"/>
          <p:cNvSpPr/>
          <p:nvPr/>
        </p:nvSpPr>
        <p:spPr>
          <a:xfrm>
            <a:off x="685800" y="1143000"/>
            <a:ext cx="7772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600"/>
              <a:buFont typeface="Courier New"/>
              <a:buNone/>
            </a:pPr>
            <a:r>
              <a:rPr b="1" i="0" lang="en" sz="1600" u="none" cap="none" strike="noStrike">
                <a:solidFill>
                  <a:srgbClr val="111111"/>
                </a:solidFill>
                <a:latin typeface="Courier New"/>
                <a:ea typeface="Courier New"/>
                <a:cs typeface="Courier New"/>
                <a:sym typeface="Courier New"/>
              </a:rPr>
              <a:t>Example: s = "hello", n = 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4"/>
          <p:cNvSpPr/>
          <p:nvPr/>
        </p:nvSpPr>
        <p:spPr>
          <a:xfrm>
            <a:off x="685800" y="1536200"/>
            <a:ext cx="77724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4D8E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rgbClr val="1B4D8E"/>
                </a:solidFill>
                <a:latin typeface="Arial"/>
                <a:ea typeface="Arial"/>
                <a:cs typeface="Arial"/>
                <a:sym typeface="Arial"/>
              </a:rPr>
              <a:t>Step 1: Locate the character at index 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4"/>
          <p:cNvSpPr/>
          <p:nvPr/>
        </p:nvSpPr>
        <p:spPr>
          <a:xfrm>
            <a:off x="2560320" y="2011680"/>
            <a:ext cx="640080" cy="640080"/>
          </a:xfrm>
          <a:prstGeom prst="rect">
            <a:avLst/>
          </a:prstGeom>
          <a:solidFill>
            <a:srgbClr val="4A90D9">
              <a:alpha val="60000"/>
            </a:srgbClr>
          </a:solidFill>
          <a:ln cap="flat" cmpd="sng" w="25400">
            <a:solidFill>
              <a:srgbClr val="4A90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4"/>
          <p:cNvSpPr/>
          <p:nvPr/>
        </p:nvSpPr>
        <p:spPr>
          <a:xfrm>
            <a:off x="2560320" y="201168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400"/>
              <a:buFont typeface="Courier New"/>
              <a:buNone/>
            </a:pPr>
            <a:r>
              <a:rPr b="1" i="0" lang="en" sz="2400" u="none" cap="none" strike="noStrike">
                <a:solidFill>
                  <a:srgbClr val="111111"/>
                </a:solidFill>
                <a:latin typeface="Courier New"/>
                <a:ea typeface="Courier New"/>
                <a:cs typeface="Courier New"/>
                <a:sym typeface="Courier New"/>
              </a:rPr>
              <a:t>h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4"/>
          <p:cNvSpPr/>
          <p:nvPr/>
        </p:nvSpPr>
        <p:spPr>
          <a:xfrm>
            <a:off x="2560320" y="1755648"/>
            <a:ext cx="6400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100"/>
              <a:buFont typeface="Courier New"/>
              <a:buNone/>
            </a:pPr>
            <a:r>
              <a:rPr b="0" i="0" lang="en" sz="1100" u="none" cap="none" strike="noStrike">
                <a:solidFill>
                  <a:srgbClr val="888888"/>
                </a:solidFill>
                <a:latin typeface="Courier New"/>
                <a:ea typeface="Courier New"/>
                <a:cs typeface="Courier New"/>
                <a:sym typeface="Courier New"/>
              </a:rPr>
              <a:t>[0]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4"/>
          <p:cNvSpPr/>
          <p:nvPr/>
        </p:nvSpPr>
        <p:spPr>
          <a:xfrm>
            <a:off x="3383280" y="2011680"/>
            <a:ext cx="640080" cy="640080"/>
          </a:xfrm>
          <a:prstGeom prst="rect">
            <a:avLst/>
          </a:prstGeom>
          <a:solidFill>
            <a:srgbClr val="1B4D8E">
              <a:alpha val="80000"/>
            </a:srgbClr>
          </a:solidFill>
          <a:ln cap="flat" cmpd="sng" w="25400">
            <a:solidFill>
              <a:srgbClr val="1B4D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4"/>
          <p:cNvSpPr/>
          <p:nvPr/>
        </p:nvSpPr>
        <p:spPr>
          <a:xfrm>
            <a:off x="3383280" y="201168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400"/>
              <a:buFont typeface="Courier New"/>
              <a:buNone/>
            </a:pPr>
            <a:r>
              <a:rPr b="1" i="0" lang="en" sz="2400" u="none" cap="none" strike="noStrike">
                <a:solidFill>
                  <a:srgbClr val="111111"/>
                </a:solidFill>
                <a:latin typeface="Courier New"/>
                <a:ea typeface="Courier New"/>
                <a:cs typeface="Courier New"/>
                <a:sym typeface="Courier New"/>
              </a:rPr>
              <a:t>e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4"/>
          <p:cNvSpPr/>
          <p:nvPr/>
        </p:nvSpPr>
        <p:spPr>
          <a:xfrm>
            <a:off x="3383280" y="1755648"/>
            <a:ext cx="6400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100"/>
              <a:buFont typeface="Courier New"/>
              <a:buNone/>
            </a:pPr>
            <a:r>
              <a:rPr b="0" i="0" lang="en" sz="1100" u="none" cap="none" strike="noStrike">
                <a:solidFill>
                  <a:srgbClr val="888888"/>
                </a:solidFill>
                <a:latin typeface="Courier New"/>
                <a:ea typeface="Courier New"/>
                <a:cs typeface="Courier New"/>
                <a:sym typeface="Courier New"/>
              </a:rPr>
              <a:t>[1]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4"/>
          <p:cNvSpPr/>
          <p:nvPr/>
        </p:nvSpPr>
        <p:spPr>
          <a:xfrm>
            <a:off x="4206240" y="2011680"/>
            <a:ext cx="640080" cy="640080"/>
          </a:xfrm>
          <a:prstGeom prst="rect">
            <a:avLst/>
          </a:prstGeom>
          <a:solidFill>
            <a:srgbClr val="4A90D9">
              <a:alpha val="60000"/>
            </a:srgbClr>
          </a:solidFill>
          <a:ln cap="flat" cmpd="sng" w="25400">
            <a:solidFill>
              <a:srgbClr val="4A90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4"/>
          <p:cNvSpPr/>
          <p:nvPr/>
        </p:nvSpPr>
        <p:spPr>
          <a:xfrm>
            <a:off x="4206240" y="201168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400"/>
              <a:buFont typeface="Courier New"/>
              <a:buNone/>
            </a:pPr>
            <a:r>
              <a:rPr b="1" i="0" lang="en" sz="2400" u="none" cap="none" strike="noStrike">
                <a:solidFill>
                  <a:srgbClr val="111111"/>
                </a:solidFill>
                <a:latin typeface="Courier New"/>
                <a:ea typeface="Courier New"/>
                <a:cs typeface="Courier New"/>
                <a:sym typeface="Courier New"/>
              </a:rPr>
              <a:t>l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4"/>
          <p:cNvSpPr/>
          <p:nvPr/>
        </p:nvSpPr>
        <p:spPr>
          <a:xfrm>
            <a:off x="4206240" y="1755648"/>
            <a:ext cx="6400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100"/>
              <a:buFont typeface="Courier New"/>
              <a:buNone/>
            </a:pPr>
            <a:r>
              <a:rPr b="0" i="0" lang="en" sz="1100" u="none" cap="none" strike="noStrike">
                <a:solidFill>
                  <a:srgbClr val="888888"/>
                </a:solidFill>
                <a:latin typeface="Courier New"/>
                <a:ea typeface="Courier New"/>
                <a:cs typeface="Courier New"/>
                <a:sym typeface="Courier New"/>
              </a:rPr>
              <a:t>[2]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4"/>
          <p:cNvSpPr/>
          <p:nvPr/>
        </p:nvSpPr>
        <p:spPr>
          <a:xfrm>
            <a:off x="5029200" y="2011680"/>
            <a:ext cx="640080" cy="640080"/>
          </a:xfrm>
          <a:prstGeom prst="rect">
            <a:avLst/>
          </a:prstGeom>
          <a:solidFill>
            <a:srgbClr val="4A90D9">
              <a:alpha val="60000"/>
            </a:srgbClr>
          </a:solidFill>
          <a:ln cap="flat" cmpd="sng" w="25400">
            <a:solidFill>
              <a:srgbClr val="4A90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4"/>
          <p:cNvSpPr/>
          <p:nvPr/>
        </p:nvSpPr>
        <p:spPr>
          <a:xfrm>
            <a:off x="5029200" y="201168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400"/>
              <a:buFont typeface="Courier New"/>
              <a:buNone/>
            </a:pPr>
            <a:r>
              <a:rPr b="1" i="0" lang="en" sz="2400" u="none" cap="none" strike="noStrike">
                <a:solidFill>
                  <a:srgbClr val="111111"/>
                </a:solidFill>
                <a:latin typeface="Courier New"/>
                <a:ea typeface="Courier New"/>
                <a:cs typeface="Courier New"/>
                <a:sym typeface="Courier New"/>
              </a:rPr>
              <a:t>l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4"/>
          <p:cNvSpPr/>
          <p:nvPr/>
        </p:nvSpPr>
        <p:spPr>
          <a:xfrm>
            <a:off x="5029200" y="1755648"/>
            <a:ext cx="6400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100"/>
              <a:buFont typeface="Courier New"/>
              <a:buNone/>
            </a:pPr>
            <a:r>
              <a:rPr b="0" i="0" lang="en" sz="1100" u="none" cap="none" strike="noStrike">
                <a:solidFill>
                  <a:srgbClr val="888888"/>
                </a:solidFill>
                <a:latin typeface="Courier New"/>
                <a:ea typeface="Courier New"/>
                <a:cs typeface="Courier New"/>
                <a:sym typeface="Courier New"/>
              </a:rPr>
              <a:t>[3]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4"/>
          <p:cNvSpPr/>
          <p:nvPr/>
        </p:nvSpPr>
        <p:spPr>
          <a:xfrm>
            <a:off x="5852160" y="2011680"/>
            <a:ext cx="640080" cy="640080"/>
          </a:xfrm>
          <a:prstGeom prst="rect">
            <a:avLst/>
          </a:prstGeom>
          <a:solidFill>
            <a:srgbClr val="4A90D9">
              <a:alpha val="60000"/>
            </a:srgbClr>
          </a:solidFill>
          <a:ln cap="flat" cmpd="sng" w="25400">
            <a:solidFill>
              <a:srgbClr val="4A90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4"/>
          <p:cNvSpPr/>
          <p:nvPr/>
        </p:nvSpPr>
        <p:spPr>
          <a:xfrm>
            <a:off x="5852160" y="201168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400"/>
              <a:buFont typeface="Courier New"/>
              <a:buNone/>
            </a:pPr>
            <a:r>
              <a:rPr b="1" i="0" lang="en" sz="2400" u="none" cap="none" strike="noStrike">
                <a:solidFill>
                  <a:srgbClr val="111111"/>
                </a:solidFill>
                <a:latin typeface="Courier New"/>
                <a:ea typeface="Courier New"/>
                <a:cs typeface="Courier New"/>
                <a:sym typeface="Courier New"/>
              </a:rPr>
              <a:t>o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4"/>
          <p:cNvSpPr/>
          <p:nvPr/>
        </p:nvSpPr>
        <p:spPr>
          <a:xfrm>
            <a:off x="5852160" y="1755648"/>
            <a:ext cx="6400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100"/>
              <a:buFont typeface="Courier New"/>
              <a:buNone/>
            </a:pPr>
            <a:r>
              <a:rPr b="0" i="0" lang="en" sz="1100" u="none" cap="none" strike="noStrike">
                <a:solidFill>
                  <a:srgbClr val="888888"/>
                </a:solidFill>
                <a:latin typeface="Courier New"/>
                <a:ea typeface="Courier New"/>
                <a:cs typeface="Courier New"/>
                <a:sym typeface="Courier New"/>
              </a:rPr>
              <a:t>[4]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4"/>
          <p:cNvSpPr/>
          <p:nvPr/>
        </p:nvSpPr>
        <p:spPr>
          <a:xfrm>
            <a:off x="4023345" y="2871161"/>
            <a:ext cx="16458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4D8E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1B4D8E"/>
                </a:solidFill>
                <a:latin typeface="Arial"/>
                <a:ea typeface="Arial"/>
                <a:cs typeface="Arial"/>
                <a:sym typeface="Arial"/>
              </a:rPr>
              <a:t>Target: index 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4"/>
          <p:cNvSpPr/>
          <p:nvPr/>
        </p:nvSpPr>
        <p:spPr>
          <a:xfrm>
            <a:off x="685800" y="3017520"/>
            <a:ext cx="7772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4D8E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rgbClr val="1B4D8E"/>
                </a:solidFill>
                <a:latin typeface="Arial"/>
                <a:ea typeface="Arial"/>
                <a:cs typeface="Arial"/>
                <a:sym typeface="Arial"/>
              </a:rPr>
              <a:t>Step 2: Capitalize the character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4"/>
          <p:cNvSpPr/>
          <p:nvPr/>
        </p:nvSpPr>
        <p:spPr>
          <a:xfrm>
            <a:off x="1371600" y="3337560"/>
            <a:ext cx="2286000" cy="685800"/>
          </a:xfrm>
          <a:prstGeom prst="roundRect">
            <a:avLst>
              <a:gd fmla="val 16000" name="adj"/>
            </a:avLst>
          </a:prstGeom>
          <a:solidFill>
            <a:srgbClr val="FAFAF8"/>
          </a:solidFill>
          <a:ln cap="flat" cmpd="sng" w="12700">
            <a:solidFill>
              <a:srgbClr val="D8D3C8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4"/>
          <p:cNvSpPr/>
          <p:nvPr/>
        </p:nvSpPr>
        <p:spPr>
          <a:xfrm>
            <a:off x="1508760" y="3401568"/>
            <a:ext cx="2011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Original: 'e'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4"/>
          <p:cNvSpPr/>
          <p:nvPr/>
        </p:nvSpPr>
        <p:spPr>
          <a:xfrm>
            <a:off x="1508760" y="3675888"/>
            <a:ext cx="20116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1300"/>
              <a:buFont typeface="Courier New"/>
              <a:buNone/>
            </a:pPr>
            <a:r>
              <a:rPr b="1" i="0" lang="en" sz="1300" u="none" cap="none" strike="noStrike">
                <a:solidFill>
                  <a:srgbClr val="22C55E"/>
                </a:solidFill>
                <a:latin typeface="Courier New"/>
                <a:ea typeface="Courier New"/>
                <a:cs typeface="Courier New"/>
                <a:sym typeface="Courier New"/>
              </a:rPr>
              <a:t>'e'.upper() → 'E'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0" name="Google Shape;140;p4"/>
          <p:cNvCxnSpPr/>
          <p:nvPr/>
        </p:nvCxnSpPr>
        <p:spPr>
          <a:xfrm>
            <a:off x="3703320" y="3657600"/>
            <a:ext cx="548640" cy="0"/>
          </a:xfrm>
          <a:prstGeom prst="straightConnector1">
            <a:avLst/>
          </a:prstGeom>
          <a:noFill/>
          <a:ln cap="flat" cmpd="sng" w="25400">
            <a:solidFill>
              <a:srgbClr val="1B4D8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1" name="Google Shape;141;p4"/>
          <p:cNvCxnSpPr/>
          <p:nvPr/>
        </p:nvCxnSpPr>
        <p:spPr>
          <a:xfrm>
            <a:off x="4169664" y="3584448"/>
            <a:ext cx="82296" cy="73152"/>
          </a:xfrm>
          <a:prstGeom prst="straightConnector1">
            <a:avLst/>
          </a:prstGeom>
          <a:noFill/>
          <a:ln cap="flat" cmpd="sng" w="25400">
            <a:solidFill>
              <a:srgbClr val="1B4D8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2" name="Google Shape;142;p4"/>
          <p:cNvCxnSpPr/>
          <p:nvPr/>
        </p:nvCxnSpPr>
        <p:spPr>
          <a:xfrm flipH="1" rot="10800000">
            <a:off x="4169664" y="3657600"/>
            <a:ext cx="82296" cy="73152"/>
          </a:xfrm>
          <a:prstGeom prst="straightConnector1">
            <a:avLst/>
          </a:prstGeom>
          <a:noFill/>
          <a:ln cap="flat" cmpd="sng" w="25400">
            <a:solidFill>
              <a:srgbClr val="1B4D8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3" name="Google Shape;143;p4"/>
          <p:cNvSpPr/>
          <p:nvPr/>
        </p:nvSpPr>
        <p:spPr>
          <a:xfrm>
            <a:off x="4343400" y="3401568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Step 3: Rebuild the string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4"/>
          <p:cNvSpPr/>
          <p:nvPr/>
        </p:nvSpPr>
        <p:spPr>
          <a:xfrm>
            <a:off x="4355617" y="3675888"/>
            <a:ext cx="36576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00"/>
              <a:buFont typeface="Courier New"/>
              <a:buNone/>
            </a:pPr>
            <a:r>
              <a:rPr b="1" i="0" lang="en" sz="1300" u="none" cap="none" strike="noStrike">
                <a:solidFill>
                  <a:srgbClr val="111111"/>
                </a:solidFill>
                <a:latin typeface="Courier New"/>
                <a:ea typeface="Courier New"/>
                <a:cs typeface="Courier New"/>
                <a:sym typeface="Courier New"/>
              </a:rPr>
              <a:t>s[:1] + 'E' + s[2:]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4"/>
          <p:cNvSpPr/>
          <p:nvPr/>
        </p:nvSpPr>
        <p:spPr>
          <a:xfrm>
            <a:off x="685800" y="4206240"/>
            <a:ext cx="7772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4D8E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rgbClr val="1B4D8E"/>
                </a:solidFill>
                <a:latin typeface="Arial"/>
                <a:ea typeface="Arial"/>
                <a:cs typeface="Arial"/>
                <a:sym typeface="Arial"/>
              </a:rPr>
              <a:t>Result: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4"/>
          <p:cNvSpPr/>
          <p:nvPr/>
        </p:nvSpPr>
        <p:spPr>
          <a:xfrm>
            <a:off x="2560320" y="4498848"/>
            <a:ext cx="640080" cy="640080"/>
          </a:xfrm>
          <a:prstGeom prst="rect">
            <a:avLst/>
          </a:prstGeom>
          <a:solidFill>
            <a:srgbClr val="E8E3D8"/>
          </a:solidFill>
          <a:ln cap="flat" cmpd="sng" w="25400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4"/>
          <p:cNvSpPr/>
          <p:nvPr/>
        </p:nvSpPr>
        <p:spPr>
          <a:xfrm>
            <a:off x="2560320" y="4498848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400"/>
              <a:buFont typeface="Courier New"/>
              <a:buNone/>
            </a:pPr>
            <a:r>
              <a:rPr b="1" i="0" lang="en" sz="2400" u="none" cap="none" strike="noStrike">
                <a:solidFill>
                  <a:srgbClr val="111111"/>
                </a:solidFill>
                <a:latin typeface="Courier New"/>
                <a:ea typeface="Courier New"/>
                <a:cs typeface="Courier New"/>
                <a:sym typeface="Courier New"/>
              </a:rPr>
              <a:t>h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4"/>
          <p:cNvSpPr/>
          <p:nvPr/>
        </p:nvSpPr>
        <p:spPr>
          <a:xfrm>
            <a:off x="3383280" y="4498848"/>
            <a:ext cx="640080" cy="640080"/>
          </a:xfrm>
          <a:prstGeom prst="rect">
            <a:avLst/>
          </a:prstGeom>
          <a:solidFill>
            <a:srgbClr val="22C55E">
              <a:alpha val="80000"/>
            </a:srgbClr>
          </a:solidFill>
          <a:ln cap="flat" cmpd="sng" w="25400">
            <a:solidFill>
              <a:srgbClr val="22C5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4"/>
          <p:cNvSpPr/>
          <p:nvPr/>
        </p:nvSpPr>
        <p:spPr>
          <a:xfrm>
            <a:off x="3383280" y="4498848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400"/>
              <a:buFont typeface="Courier New"/>
              <a:buNone/>
            </a:pPr>
            <a:r>
              <a:rPr b="1" i="0" lang="en" sz="2400" u="none" cap="none" strike="noStrike">
                <a:solidFill>
                  <a:srgbClr val="111111"/>
                </a:solidFill>
                <a:latin typeface="Courier New"/>
                <a:ea typeface="Courier New"/>
                <a:cs typeface="Courier New"/>
                <a:sym typeface="Courier New"/>
              </a:rPr>
              <a:t>E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4"/>
          <p:cNvSpPr/>
          <p:nvPr/>
        </p:nvSpPr>
        <p:spPr>
          <a:xfrm>
            <a:off x="4206240" y="4498848"/>
            <a:ext cx="640080" cy="640080"/>
          </a:xfrm>
          <a:prstGeom prst="rect">
            <a:avLst/>
          </a:prstGeom>
          <a:solidFill>
            <a:srgbClr val="E8E3D8"/>
          </a:solidFill>
          <a:ln cap="flat" cmpd="sng" w="25400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4"/>
          <p:cNvSpPr/>
          <p:nvPr/>
        </p:nvSpPr>
        <p:spPr>
          <a:xfrm>
            <a:off x="4206240" y="4498848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400"/>
              <a:buFont typeface="Courier New"/>
              <a:buNone/>
            </a:pPr>
            <a:r>
              <a:rPr b="1" i="0" lang="en" sz="2400" u="none" cap="none" strike="noStrike">
                <a:solidFill>
                  <a:srgbClr val="111111"/>
                </a:solidFill>
                <a:latin typeface="Courier New"/>
                <a:ea typeface="Courier New"/>
                <a:cs typeface="Courier New"/>
                <a:sym typeface="Courier New"/>
              </a:rPr>
              <a:t>l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4"/>
          <p:cNvSpPr/>
          <p:nvPr/>
        </p:nvSpPr>
        <p:spPr>
          <a:xfrm>
            <a:off x="5029200" y="4498848"/>
            <a:ext cx="640080" cy="640080"/>
          </a:xfrm>
          <a:prstGeom prst="rect">
            <a:avLst/>
          </a:prstGeom>
          <a:solidFill>
            <a:srgbClr val="E8E3D8"/>
          </a:solidFill>
          <a:ln cap="flat" cmpd="sng" w="25400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4"/>
          <p:cNvSpPr/>
          <p:nvPr/>
        </p:nvSpPr>
        <p:spPr>
          <a:xfrm>
            <a:off x="5029200" y="4498848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400"/>
              <a:buFont typeface="Courier New"/>
              <a:buNone/>
            </a:pPr>
            <a:r>
              <a:rPr b="1" i="0" lang="en" sz="2400" u="none" cap="none" strike="noStrike">
                <a:solidFill>
                  <a:srgbClr val="111111"/>
                </a:solidFill>
                <a:latin typeface="Courier New"/>
                <a:ea typeface="Courier New"/>
                <a:cs typeface="Courier New"/>
                <a:sym typeface="Courier New"/>
              </a:rPr>
              <a:t>l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4"/>
          <p:cNvSpPr/>
          <p:nvPr/>
        </p:nvSpPr>
        <p:spPr>
          <a:xfrm>
            <a:off x="5852160" y="4498848"/>
            <a:ext cx="640080" cy="640080"/>
          </a:xfrm>
          <a:prstGeom prst="rect">
            <a:avLst/>
          </a:prstGeom>
          <a:solidFill>
            <a:srgbClr val="E8E3D8"/>
          </a:solidFill>
          <a:ln cap="flat" cmpd="sng" w="25400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4"/>
          <p:cNvSpPr/>
          <p:nvPr/>
        </p:nvSpPr>
        <p:spPr>
          <a:xfrm>
            <a:off x="5852160" y="4498848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400"/>
              <a:buFont typeface="Courier New"/>
              <a:buNone/>
            </a:pPr>
            <a:r>
              <a:rPr b="1" i="0" lang="en" sz="2400" u="none" cap="none" strike="noStrike">
                <a:solidFill>
                  <a:srgbClr val="111111"/>
                </a:solidFill>
                <a:latin typeface="Courier New"/>
                <a:ea typeface="Courier New"/>
                <a:cs typeface="Courier New"/>
                <a:sym typeface="Courier New"/>
              </a:rPr>
              <a:t>o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4"/>
          <p:cNvSpPr/>
          <p:nvPr/>
        </p:nvSpPr>
        <p:spPr>
          <a:xfrm>
            <a:off x="457200" y="4892040"/>
            <a:ext cx="8229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Python Buddy  ·  Section 1 - Problem 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4"/>
          <p:cNvSpPr/>
          <p:nvPr/>
        </p:nvSpPr>
        <p:spPr>
          <a:xfrm rot="5400000">
            <a:off x="3659850" y="2804150"/>
            <a:ext cx="251400" cy="255900"/>
          </a:xfrm>
          <a:prstGeom prst="bentUpArrow">
            <a:avLst>
              <a:gd fmla="val 25000" name="adj1"/>
              <a:gd fmla="val 25000" name="adj2"/>
              <a:gd fmla="val 25000" name="adj3"/>
            </a:avLst>
          </a:prstGeom>
          <a:solidFill>
            <a:srgbClr val="FAFAF8"/>
          </a:solidFill>
          <a:ln cap="flat" cmpd="sng" w="12700">
            <a:solidFill>
              <a:srgbClr val="D8D3C8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11111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8E3D8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5"/>
          <p:cNvSpPr/>
          <p:nvPr/>
        </p:nvSpPr>
        <p:spPr>
          <a:xfrm>
            <a:off x="502920" y="137160"/>
            <a:ext cx="82296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3800"/>
              <a:buFont typeface="Arial"/>
              <a:buNone/>
            </a:pPr>
            <a:r>
              <a:rPr b="1" i="0" lang="en" sz="38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The Explanatory Approach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5"/>
          <p:cNvSpPr/>
          <p:nvPr/>
        </p:nvSpPr>
        <p:spPr>
          <a:xfrm>
            <a:off x="502920" y="658368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Step-by-step using string slicing to rebuild the string.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5"/>
          <p:cNvSpPr/>
          <p:nvPr/>
        </p:nvSpPr>
        <p:spPr>
          <a:xfrm>
            <a:off x="411480" y="1024128"/>
            <a:ext cx="5577840" cy="3749040"/>
          </a:xfrm>
          <a:prstGeom prst="roundRect">
            <a:avLst>
              <a:gd fmla="val 2927" name="adj"/>
            </a:avLst>
          </a:prstGeom>
          <a:solidFill>
            <a:srgbClr val="FAFAF8"/>
          </a:solidFill>
          <a:ln cap="flat" cmpd="sng" w="12700">
            <a:solidFill>
              <a:srgbClr val="D8D3C8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5"/>
          <p:cNvSpPr/>
          <p:nvPr/>
        </p:nvSpPr>
        <p:spPr>
          <a:xfrm>
            <a:off x="640080" y="1143000"/>
            <a:ext cx="5120640" cy="34930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50"/>
              <a:buFont typeface="Courier New"/>
              <a:buNone/>
            </a:pPr>
            <a:r>
              <a:rPr b="0" i="0" lang="en" sz="1150" u="none" cap="none" strike="noStrike">
                <a:solidFill>
                  <a:srgbClr val="111111"/>
                </a:solidFill>
                <a:latin typeface="Courier New"/>
                <a:ea typeface="Courier New"/>
                <a:cs typeface="Courier New"/>
                <a:sym typeface="Courier New"/>
              </a:rPr>
              <a:t>def upper_nth_index_char(s, n):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50"/>
              <a:buFont typeface="Courier New"/>
              <a:buNone/>
            </a:pPr>
            <a:r>
              <a:rPr b="0" i="0" lang="en" sz="1150" u="none" cap="none" strike="noStrike">
                <a:solidFill>
                  <a:srgbClr val="111111"/>
                </a:solidFill>
                <a:latin typeface="Courier New"/>
                <a:ea typeface="Courier New"/>
                <a:cs typeface="Courier New"/>
                <a:sym typeface="Courier New"/>
              </a:rPr>
              <a:t>    # Step 1: Check if index is valid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50"/>
              <a:buFont typeface="Courier New"/>
              <a:buNone/>
            </a:pPr>
            <a:r>
              <a:rPr b="0" i="0" lang="en" sz="1150" u="none" cap="none" strike="noStrike">
                <a:solidFill>
                  <a:srgbClr val="111111"/>
                </a:solidFill>
                <a:latin typeface="Courier New"/>
                <a:ea typeface="Courier New"/>
                <a:cs typeface="Courier New"/>
                <a:sym typeface="Courier New"/>
              </a:rPr>
              <a:t>    if n &lt; 0 or n &gt;= len(s):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50"/>
              <a:buFont typeface="Courier New"/>
              <a:buNone/>
            </a:pPr>
            <a:r>
              <a:rPr b="0" i="0" lang="en" sz="1150" u="none" cap="none" strike="noStrike">
                <a:solidFill>
                  <a:srgbClr val="111111"/>
                </a:solidFill>
                <a:latin typeface="Courier New"/>
                <a:ea typeface="Courier New"/>
                <a:cs typeface="Courier New"/>
                <a:sym typeface="Courier New"/>
              </a:rPr>
              <a:t>        return s  # Out of bounds, return unchanged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Calibri"/>
              <a:buNone/>
            </a:pPr>
            <a:r>
              <a:t/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50"/>
              <a:buFont typeface="Courier New"/>
              <a:buNone/>
            </a:pPr>
            <a:r>
              <a:rPr b="0" i="0" lang="en" sz="1150" u="none" cap="none" strike="noStrike">
                <a:solidFill>
                  <a:srgbClr val="111111"/>
                </a:solidFill>
                <a:latin typeface="Courier New"/>
                <a:ea typeface="Courier New"/>
                <a:cs typeface="Courier New"/>
                <a:sym typeface="Courier New"/>
              </a:rPr>
              <a:t>    # Step 2: Extract the character at index 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50"/>
              <a:buFont typeface="Courier New"/>
              <a:buNone/>
            </a:pPr>
            <a:r>
              <a:rPr b="0" i="0" lang="en" sz="1150" u="none" cap="none" strike="noStrike">
                <a:solidFill>
                  <a:srgbClr val="111111"/>
                </a:solidFill>
                <a:latin typeface="Courier New"/>
                <a:ea typeface="Courier New"/>
                <a:cs typeface="Courier New"/>
                <a:sym typeface="Courier New"/>
              </a:rPr>
              <a:t>    target_char = s[n]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Calibri"/>
              <a:buNone/>
            </a:pPr>
            <a:r>
              <a:t/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50"/>
              <a:buFont typeface="Courier New"/>
              <a:buNone/>
            </a:pPr>
            <a:r>
              <a:rPr b="0" i="0" lang="en" sz="1150" u="none" cap="none" strike="noStrike">
                <a:solidFill>
                  <a:srgbClr val="111111"/>
                </a:solidFill>
                <a:latin typeface="Courier New"/>
                <a:ea typeface="Courier New"/>
                <a:cs typeface="Courier New"/>
                <a:sym typeface="Courier New"/>
              </a:rPr>
              <a:t>    # Step 3: Capitalize it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50"/>
              <a:buFont typeface="Courier New"/>
              <a:buNone/>
            </a:pPr>
            <a:r>
              <a:rPr b="0" i="0" lang="en" sz="1150" u="none" cap="none" strike="noStrike">
                <a:solidFill>
                  <a:srgbClr val="111111"/>
                </a:solidFill>
                <a:latin typeface="Courier New"/>
                <a:ea typeface="Courier New"/>
                <a:cs typeface="Courier New"/>
                <a:sym typeface="Courier New"/>
              </a:rPr>
              <a:t>    capitalized = target_char.upper()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Calibri"/>
              <a:buNone/>
            </a:pPr>
            <a:r>
              <a:t/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50"/>
              <a:buFont typeface="Courier New"/>
              <a:buNone/>
            </a:pPr>
            <a:r>
              <a:rPr b="0" i="0" lang="en" sz="1150" u="none" cap="none" strike="noStrike">
                <a:solidFill>
                  <a:srgbClr val="111111"/>
                </a:solidFill>
                <a:latin typeface="Courier New"/>
                <a:ea typeface="Courier New"/>
                <a:cs typeface="Courier New"/>
                <a:sym typeface="Courier New"/>
              </a:rPr>
              <a:t>    # Step 4: Rebuild string using slicing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50"/>
              <a:buFont typeface="Courier New"/>
              <a:buNone/>
            </a:pPr>
            <a:r>
              <a:rPr b="0" i="0" lang="en" sz="1150" u="none" cap="none" strike="noStrike">
                <a:solidFill>
                  <a:srgbClr val="111111"/>
                </a:solidFill>
                <a:latin typeface="Courier New"/>
                <a:ea typeface="Courier New"/>
                <a:cs typeface="Courier New"/>
                <a:sym typeface="Courier New"/>
              </a:rPr>
              <a:t>    # Before n + capitalized char + after 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50"/>
              <a:buFont typeface="Courier New"/>
              <a:buNone/>
            </a:pPr>
            <a:r>
              <a:rPr b="0" i="0" lang="en" sz="1150" u="none" cap="none" strike="noStrike">
                <a:solidFill>
                  <a:srgbClr val="111111"/>
                </a:solidFill>
                <a:latin typeface="Courier New"/>
                <a:ea typeface="Courier New"/>
                <a:cs typeface="Courier New"/>
                <a:sym typeface="Courier New"/>
              </a:rPr>
              <a:t>    result = s[:n] + capitalized + s[n+1:]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50"/>
              <a:buFont typeface="Courier New"/>
              <a:buNone/>
            </a:pPr>
            <a:r>
              <a:rPr b="0" i="0" lang="en" sz="1150" u="none" cap="none" strike="noStrike">
                <a:solidFill>
                  <a:srgbClr val="111111"/>
                </a:solidFill>
                <a:latin typeface="Courier New"/>
                <a:ea typeface="Courier New"/>
                <a:cs typeface="Courier New"/>
                <a:sym typeface="Courier New"/>
              </a:rPr>
              <a:t>    return result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7" name="Google Shape;167;p5"/>
          <p:cNvCxnSpPr/>
          <p:nvPr/>
        </p:nvCxnSpPr>
        <p:spPr>
          <a:xfrm>
            <a:off x="6108192" y="1737360"/>
            <a:ext cx="411480" cy="0"/>
          </a:xfrm>
          <a:prstGeom prst="straightConnector1">
            <a:avLst/>
          </a:prstGeom>
          <a:noFill/>
          <a:ln cap="flat" cmpd="sng" w="19050">
            <a:solidFill>
              <a:srgbClr val="B5451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8" name="Google Shape;168;p5"/>
          <p:cNvSpPr/>
          <p:nvPr/>
        </p:nvSpPr>
        <p:spPr>
          <a:xfrm>
            <a:off x="6565392" y="1536192"/>
            <a:ext cx="214884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451B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B5451B"/>
                </a:solidFill>
                <a:latin typeface="Arial"/>
                <a:ea typeface="Arial"/>
                <a:cs typeface="Arial"/>
                <a:sym typeface="Arial"/>
              </a:rPr>
              <a:t>Bounds check prevents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451B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B5451B"/>
                </a:solidFill>
                <a:latin typeface="Arial"/>
                <a:ea typeface="Arial"/>
                <a:cs typeface="Arial"/>
                <a:sym typeface="Arial"/>
              </a:rPr>
              <a:t>IndexError for invalid n.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9" name="Google Shape;169;p5"/>
          <p:cNvCxnSpPr/>
          <p:nvPr/>
        </p:nvCxnSpPr>
        <p:spPr>
          <a:xfrm>
            <a:off x="6108192" y="2788920"/>
            <a:ext cx="411480" cy="0"/>
          </a:xfrm>
          <a:prstGeom prst="straightConnector1">
            <a:avLst/>
          </a:prstGeom>
          <a:noFill/>
          <a:ln cap="flat" cmpd="sng" w="19050">
            <a:solidFill>
              <a:srgbClr val="B5451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0" name="Google Shape;170;p5"/>
          <p:cNvSpPr/>
          <p:nvPr/>
        </p:nvSpPr>
        <p:spPr>
          <a:xfrm>
            <a:off x="6565392" y="2523744"/>
            <a:ext cx="21488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451B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B5451B"/>
                </a:solidFill>
                <a:latin typeface="Arial"/>
                <a:ea typeface="Arial"/>
                <a:cs typeface="Arial"/>
                <a:sym typeface="Arial"/>
              </a:rPr>
              <a:t>.upper() converts to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451B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B5451B"/>
                </a:solidFill>
                <a:latin typeface="Arial"/>
                <a:ea typeface="Arial"/>
                <a:cs typeface="Arial"/>
                <a:sym typeface="Arial"/>
              </a:rPr>
              <a:t>uppercase (works for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451B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B5451B"/>
                </a:solidFill>
                <a:latin typeface="Arial"/>
                <a:ea typeface="Arial"/>
                <a:cs typeface="Arial"/>
                <a:sym typeface="Arial"/>
              </a:rPr>
              <a:t>any character).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1" name="Google Shape;171;p5"/>
          <p:cNvCxnSpPr/>
          <p:nvPr/>
        </p:nvCxnSpPr>
        <p:spPr>
          <a:xfrm>
            <a:off x="6108192" y="4160520"/>
            <a:ext cx="411480" cy="0"/>
          </a:xfrm>
          <a:prstGeom prst="straightConnector1">
            <a:avLst/>
          </a:prstGeom>
          <a:noFill/>
          <a:ln cap="flat" cmpd="sng" w="19050">
            <a:solidFill>
              <a:srgbClr val="B5451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2" name="Google Shape;172;p5"/>
          <p:cNvSpPr/>
          <p:nvPr/>
        </p:nvSpPr>
        <p:spPr>
          <a:xfrm>
            <a:off x="6565392" y="3895344"/>
            <a:ext cx="21488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451B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B5451B"/>
                </a:solidFill>
                <a:latin typeface="Arial"/>
                <a:ea typeface="Arial"/>
                <a:cs typeface="Arial"/>
                <a:sym typeface="Arial"/>
              </a:rPr>
              <a:t>String slicing: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451B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B5451B"/>
                </a:solidFill>
                <a:latin typeface="Arial"/>
                <a:ea typeface="Arial"/>
                <a:cs typeface="Arial"/>
                <a:sym typeface="Arial"/>
              </a:rPr>
              <a:t>s[:n] = before target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451B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B5451B"/>
                </a:solidFill>
                <a:latin typeface="Arial"/>
                <a:ea typeface="Arial"/>
                <a:cs typeface="Arial"/>
                <a:sym typeface="Arial"/>
              </a:rPr>
              <a:t>s[n+1:] = after target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5"/>
          <p:cNvSpPr/>
          <p:nvPr/>
        </p:nvSpPr>
        <p:spPr>
          <a:xfrm>
            <a:off x="457200" y="4892040"/>
            <a:ext cx="8229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Python Buddy  ·  Section 1 - Problem 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8E3D8"/>
        </a:solidFill>
      </p:bgPr>
    </p:bg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6"/>
          <p:cNvSpPr/>
          <p:nvPr/>
        </p:nvSpPr>
        <p:spPr>
          <a:xfrm>
            <a:off x="502920" y="137160"/>
            <a:ext cx="82296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3800"/>
              <a:buFont typeface="Arial"/>
              <a:buNone/>
            </a:pPr>
            <a:r>
              <a:rPr b="1" i="0" lang="en" sz="38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The Mutable Optimization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6"/>
          <p:cNvSpPr/>
          <p:nvPr/>
        </p:nvSpPr>
        <p:spPr>
          <a:xfrm>
            <a:off x="502920" y="658368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Converting to a list for in-place modification.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6"/>
          <p:cNvSpPr/>
          <p:nvPr/>
        </p:nvSpPr>
        <p:spPr>
          <a:xfrm>
            <a:off x="411475" y="950975"/>
            <a:ext cx="8321100" cy="2039100"/>
          </a:xfrm>
          <a:prstGeom prst="roundRect">
            <a:avLst>
              <a:gd fmla="val 5581" name="adj"/>
            </a:avLst>
          </a:prstGeom>
          <a:solidFill>
            <a:srgbClr val="FAFAF8"/>
          </a:solidFill>
          <a:ln cap="flat" cmpd="sng" w="12700">
            <a:solidFill>
              <a:srgbClr val="D8D3C8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6"/>
          <p:cNvSpPr/>
          <p:nvPr/>
        </p:nvSpPr>
        <p:spPr>
          <a:xfrm>
            <a:off x="685800" y="1028700"/>
            <a:ext cx="7863900" cy="173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400"/>
              <a:buFont typeface="Courier New"/>
              <a:buNone/>
            </a:pPr>
            <a:r>
              <a:rPr b="0" i="0" lang="en" sz="1400" u="none" cap="none" strike="noStrike">
                <a:solidFill>
                  <a:srgbClr val="111111"/>
                </a:solidFill>
                <a:latin typeface="Courier New"/>
                <a:ea typeface="Courier New"/>
                <a:cs typeface="Courier New"/>
                <a:sym typeface="Courier New"/>
              </a:rPr>
              <a:t>def upper_nth_index_char(s, n):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400"/>
              <a:buFont typeface="Courier New"/>
              <a:buNone/>
            </a:pPr>
            <a:r>
              <a:rPr b="0" i="0" lang="en" sz="1400" u="none" cap="none" strike="noStrike">
                <a:solidFill>
                  <a:srgbClr val="111111"/>
                </a:solidFill>
                <a:latin typeface="Courier New"/>
                <a:ea typeface="Courier New"/>
                <a:cs typeface="Courier New"/>
                <a:sym typeface="Courier New"/>
              </a:rPr>
              <a:t>    # Bounds check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400"/>
              <a:buFont typeface="Courier New"/>
              <a:buNone/>
            </a:pPr>
            <a:r>
              <a:rPr b="0" i="0" lang="en" sz="1400" u="none" cap="none" strike="noStrike">
                <a:solidFill>
                  <a:srgbClr val="111111"/>
                </a:solidFill>
                <a:latin typeface="Courier New"/>
                <a:ea typeface="Courier New"/>
                <a:cs typeface="Courier New"/>
                <a:sym typeface="Courier New"/>
              </a:rPr>
              <a:t>    if n &lt; 0 or n &gt;= len(s):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400"/>
              <a:buFont typeface="Courier New"/>
              <a:buNone/>
            </a:pPr>
            <a:r>
              <a:rPr b="0" i="0" lang="en" sz="1400" u="none" cap="none" strike="noStrike">
                <a:solidFill>
                  <a:srgbClr val="111111"/>
                </a:solidFill>
                <a:latin typeface="Courier New"/>
                <a:ea typeface="Courier New"/>
                <a:cs typeface="Courier New"/>
                <a:sym typeface="Courier New"/>
              </a:rPr>
              <a:t>        return 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400"/>
              <a:buFont typeface="Courier New"/>
              <a:buNone/>
            </a:pPr>
            <a:r>
              <a:rPr b="0" i="0" lang="en" sz="1400" u="none" cap="none" strike="noStrike">
                <a:solidFill>
                  <a:srgbClr val="111111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400"/>
              <a:buFont typeface="Courier New"/>
              <a:buNone/>
            </a:pPr>
            <a:r>
              <a:rPr b="0" i="0" lang="en" sz="1400" u="none" cap="none" strike="noStrike">
                <a:solidFill>
                  <a:srgbClr val="111111"/>
                </a:solidFill>
                <a:latin typeface="Courier New"/>
                <a:ea typeface="Courier New"/>
                <a:cs typeface="Courier New"/>
                <a:sym typeface="Courier New"/>
              </a:rPr>
              <a:t>    # Convert to list, modify, convert back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400"/>
              <a:buFont typeface="Courier New"/>
              <a:buNone/>
            </a:pPr>
            <a:r>
              <a:rPr b="0" i="0" lang="en" sz="1400" u="none" cap="none" strike="noStrike">
                <a:solidFill>
                  <a:srgbClr val="111111"/>
                </a:solidFill>
                <a:latin typeface="Courier New"/>
                <a:ea typeface="Courier New"/>
                <a:cs typeface="Courier New"/>
                <a:sym typeface="Courier New"/>
              </a:rPr>
              <a:t>    chars = list(s)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400"/>
              <a:buFont typeface="Courier New"/>
              <a:buNone/>
            </a:pPr>
            <a:r>
              <a:rPr b="0" i="0" lang="en" sz="1400" u="none" cap="none" strike="noStrike">
                <a:solidFill>
                  <a:srgbClr val="111111"/>
                </a:solidFill>
                <a:latin typeface="Courier New"/>
                <a:ea typeface="Courier New"/>
                <a:cs typeface="Courier New"/>
                <a:sym typeface="Courier New"/>
              </a:rPr>
              <a:t>    chars[n] = chars[n].upper()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400"/>
              <a:buFont typeface="Courier New"/>
              <a:buNone/>
            </a:pPr>
            <a:r>
              <a:rPr b="0" i="0" lang="en" sz="1400" u="none" cap="none" strike="noStrike">
                <a:solidFill>
                  <a:srgbClr val="111111"/>
                </a:solidFill>
                <a:latin typeface="Courier New"/>
                <a:ea typeface="Courier New"/>
                <a:cs typeface="Courier New"/>
                <a:sym typeface="Courier New"/>
              </a:rPr>
              <a:t>    return ''.join(chars)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6"/>
          <p:cNvSpPr/>
          <p:nvPr/>
        </p:nvSpPr>
        <p:spPr>
          <a:xfrm>
            <a:off x="411450" y="3047875"/>
            <a:ext cx="8321100" cy="1938600"/>
          </a:xfrm>
          <a:prstGeom prst="roundRect">
            <a:avLst>
              <a:gd fmla="val 6593" name="adj"/>
            </a:avLst>
          </a:prstGeom>
          <a:solidFill>
            <a:srgbClr val="FAFAF8"/>
          </a:solidFill>
          <a:ln cap="flat" cmpd="sng" w="12700">
            <a:solidFill>
              <a:srgbClr val="D8D3C8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6"/>
          <p:cNvSpPr/>
          <p:nvPr/>
        </p:nvSpPr>
        <p:spPr>
          <a:xfrm>
            <a:off x="685775" y="3166745"/>
            <a:ext cx="77724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4D8E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1B4D8E"/>
                </a:solidFill>
                <a:latin typeface="Arial"/>
                <a:ea typeface="Arial"/>
                <a:cs typeface="Arial"/>
                <a:sym typeface="Arial"/>
              </a:rPr>
              <a:t>Why convert to a list?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6"/>
          <p:cNvSpPr/>
          <p:nvPr/>
        </p:nvSpPr>
        <p:spPr>
          <a:xfrm>
            <a:off x="685775" y="3468497"/>
            <a:ext cx="18288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Strings in Python are 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6"/>
          <p:cNvSpPr/>
          <p:nvPr/>
        </p:nvSpPr>
        <p:spPr>
          <a:xfrm>
            <a:off x="2514575" y="3468497"/>
            <a:ext cx="9144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451B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B5451B"/>
                </a:solidFill>
                <a:latin typeface="Arial"/>
                <a:ea typeface="Arial"/>
                <a:cs typeface="Arial"/>
                <a:sym typeface="Arial"/>
              </a:rPr>
              <a:t>immutable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6"/>
          <p:cNvSpPr/>
          <p:nvPr/>
        </p:nvSpPr>
        <p:spPr>
          <a:xfrm>
            <a:off x="3428975" y="3468497"/>
            <a:ext cx="45720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 – you cannot change them directly: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6"/>
          <p:cNvSpPr/>
          <p:nvPr/>
        </p:nvSpPr>
        <p:spPr>
          <a:xfrm>
            <a:off x="685775" y="3715385"/>
            <a:ext cx="7772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451B"/>
              </a:buClr>
              <a:buSzPts val="1150"/>
              <a:buFont typeface="Courier New"/>
              <a:buNone/>
            </a:pPr>
            <a:r>
              <a:rPr b="0" i="0" lang="en" sz="1150" u="none" cap="none" strike="noStrike">
                <a:solidFill>
                  <a:srgbClr val="B5451B"/>
                </a:solidFill>
                <a:latin typeface="Courier New"/>
                <a:ea typeface="Courier New"/>
                <a:cs typeface="Courier New"/>
                <a:sym typeface="Courier New"/>
              </a:rPr>
              <a:t>s[1] = 'E'  # ❌ TypeError: 'str' object does not support item assignment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6"/>
          <p:cNvSpPr/>
          <p:nvPr/>
        </p:nvSpPr>
        <p:spPr>
          <a:xfrm>
            <a:off x="685775" y="4053713"/>
            <a:ext cx="5487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Lists 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6"/>
          <p:cNvSpPr/>
          <p:nvPr/>
        </p:nvSpPr>
        <p:spPr>
          <a:xfrm>
            <a:off x="1234415" y="4053713"/>
            <a:ext cx="10059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22C55E"/>
                </a:solidFill>
                <a:latin typeface="Arial"/>
                <a:ea typeface="Arial"/>
                <a:cs typeface="Arial"/>
                <a:sym typeface="Arial"/>
              </a:rPr>
              <a:t>are mutable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6"/>
          <p:cNvSpPr/>
          <p:nvPr/>
        </p:nvSpPr>
        <p:spPr>
          <a:xfrm>
            <a:off x="2240255" y="4053713"/>
            <a:ext cx="53034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, so we can modify individual characters: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6"/>
          <p:cNvSpPr/>
          <p:nvPr/>
        </p:nvSpPr>
        <p:spPr>
          <a:xfrm>
            <a:off x="685775" y="4300601"/>
            <a:ext cx="7772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1150"/>
              <a:buFont typeface="Courier New"/>
              <a:buNone/>
            </a:pPr>
            <a:r>
              <a:rPr b="0" i="0" lang="en" sz="1150" u="none" cap="none" strike="noStrike">
                <a:solidFill>
                  <a:srgbClr val="22C55E"/>
                </a:solidFill>
                <a:latin typeface="Courier New"/>
                <a:ea typeface="Courier New"/>
                <a:cs typeface="Courier New"/>
                <a:sym typeface="Courier New"/>
              </a:rPr>
              <a:t>chars = list(s)      # Convert to list: ['h','e','l','l','o']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1150"/>
              <a:buFont typeface="Courier New"/>
              <a:buNone/>
            </a:pPr>
            <a:r>
              <a:rPr b="0" i="0" lang="en" sz="1150" u="none" cap="none" strike="noStrike">
                <a:solidFill>
                  <a:srgbClr val="22C55E"/>
                </a:solidFill>
                <a:latin typeface="Courier New"/>
                <a:ea typeface="Courier New"/>
                <a:cs typeface="Courier New"/>
                <a:sym typeface="Courier New"/>
              </a:rPr>
              <a:t>chars[1] = 'E'       # ✓ Modify in place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1150"/>
              <a:buFont typeface="Courier New"/>
              <a:buNone/>
            </a:pPr>
            <a:r>
              <a:rPr b="0" i="0" lang="en" sz="1150" u="none" cap="none" strike="noStrike">
                <a:solidFill>
                  <a:srgbClr val="22C55E"/>
                </a:solidFill>
                <a:latin typeface="Courier New"/>
                <a:ea typeface="Courier New"/>
                <a:cs typeface="Courier New"/>
                <a:sym typeface="Courier New"/>
              </a:rPr>
              <a:t>''.join(chars)       # Convert back: 'hEllo'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6"/>
          <p:cNvSpPr/>
          <p:nvPr/>
        </p:nvSpPr>
        <p:spPr>
          <a:xfrm>
            <a:off x="411450" y="4957240"/>
            <a:ext cx="82296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Python Buddy  ·  Section 1 - Problem 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8E3D8"/>
        </a:solidFill>
      </p:bgPr>
    </p:bg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7"/>
          <p:cNvSpPr/>
          <p:nvPr/>
        </p:nvSpPr>
        <p:spPr>
          <a:xfrm>
            <a:off x="0" y="201168"/>
            <a:ext cx="91440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4200"/>
              <a:buFont typeface="Arial"/>
              <a:buNone/>
            </a:pPr>
            <a:r>
              <a:rPr b="1" i="0" lang="en" sz="42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Solution Comparison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0" name="Google Shape;200;p7"/>
          <p:cNvCxnSpPr/>
          <p:nvPr/>
        </p:nvCxnSpPr>
        <p:spPr>
          <a:xfrm>
            <a:off x="4572000" y="987552"/>
            <a:ext cx="0" cy="3822192"/>
          </a:xfrm>
          <a:prstGeom prst="straightConnector1">
            <a:avLst/>
          </a:prstGeom>
          <a:noFill/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1" name="Google Shape;201;p7"/>
          <p:cNvSpPr/>
          <p:nvPr/>
        </p:nvSpPr>
        <p:spPr>
          <a:xfrm>
            <a:off x="1645920" y="1051560"/>
            <a:ext cx="10972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Calibri"/>
              <a:buNone/>
            </a:pPr>
            <a:r>
              <a:rPr b="0" i="0" lang="en" sz="4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✂️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7"/>
          <p:cNvSpPr/>
          <p:nvPr/>
        </p:nvSpPr>
        <p:spPr>
          <a:xfrm>
            <a:off x="457200" y="2011680"/>
            <a:ext cx="39319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String Slicing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7"/>
          <p:cNvSpPr/>
          <p:nvPr/>
        </p:nvSpPr>
        <p:spPr>
          <a:xfrm>
            <a:off x="640080" y="2514600"/>
            <a:ext cx="356616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400"/>
              <a:buFont typeface="Arial"/>
              <a:buChar char="•"/>
            </a:pPr>
            <a:r>
              <a:rPr b="0" i="0" lang="en" sz="14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Simple and readable.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111111"/>
              </a:buClr>
              <a:buSzPts val="1400"/>
              <a:buFont typeface="Arial"/>
              <a:buChar char="•"/>
            </a:pPr>
            <a:r>
              <a:rPr b="0" i="0" lang="en" sz="14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Works in one expression.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111111"/>
              </a:buClr>
              <a:buSzPts val="1400"/>
              <a:buFont typeface="Arial"/>
              <a:buChar char="•"/>
            </a:pPr>
            <a:r>
              <a:rPr b="0" i="0" lang="en" sz="14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No type conversion needed.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111111"/>
              </a:buClr>
              <a:buSzPts val="1400"/>
              <a:buFont typeface="Arial"/>
              <a:buChar char="•"/>
            </a:pPr>
            <a:r>
              <a:rPr b="0" i="0" lang="en" sz="14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Best for: Beginners &amp; clarity.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7"/>
          <p:cNvSpPr/>
          <p:nvPr/>
        </p:nvSpPr>
        <p:spPr>
          <a:xfrm>
            <a:off x="548640" y="4160520"/>
            <a:ext cx="3749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ourier New"/>
              <a:buNone/>
            </a:pPr>
            <a:r>
              <a:rPr b="0" i="0" lang="en" sz="1200" u="none" cap="none" strike="noStrike">
                <a:solidFill>
                  <a:srgbClr val="888888"/>
                </a:solidFill>
                <a:latin typeface="Courier New"/>
                <a:ea typeface="Courier New"/>
                <a:cs typeface="Courier New"/>
                <a:sym typeface="Courier New"/>
              </a:rPr>
              <a:t>s[:n] + s[n].upper() + s[n+1:]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7"/>
          <p:cNvSpPr/>
          <p:nvPr/>
        </p:nvSpPr>
        <p:spPr>
          <a:xfrm>
            <a:off x="6035040" y="1051560"/>
            <a:ext cx="10972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Calibri"/>
              <a:buNone/>
            </a:pPr>
            <a:r>
              <a:rPr b="0" i="0" lang="en" sz="4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📝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7"/>
          <p:cNvSpPr/>
          <p:nvPr/>
        </p:nvSpPr>
        <p:spPr>
          <a:xfrm>
            <a:off x="4754880" y="2011680"/>
            <a:ext cx="4114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List Conversion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7"/>
          <p:cNvSpPr/>
          <p:nvPr/>
        </p:nvSpPr>
        <p:spPr>
          <a:xfrm>
            <a:off x="4937760" y="2514600"/>
            <a:ext cx="384048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400"/>
              <a:buFont typeface="Arial"/>
              <a:buChar char="•"/>
            </a:pPr>
            <a:r>
              <a:rPr b="0" i="0" lang="en" sz="14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More explicit modification.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111111"/>
              </a:buClr>
              <a:buSzPts val="1400"/>
              <a:buFont typeface="Arial"/>
              <a:buChar char="•"/>
            </a:pPr>
            <a:r>
              <a:rPr b="0" i="0" lang="en" sz="14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Easier to understand for complex edits.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111111"/>
              </a:buClr>
              <a:buSzPts val="1400"/>
              <a:buFont typeface="Arial"/>
              <a:buChar char="•"/>
            </a:pPr>
            <a:r>
              <a:rPr b="0" i="0" lang="en" sz="14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Demonstrates mutability concept.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111111"/>
              </a:buClr>
              <a:buSzPts val="1400"/>
              <a:buFont typeface="Arial"/>
              <a:buChar char="•"/>
            </a:pPr>
            <a:r>
              <a:rPr b="0" i="0" lang="en" sz="14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Best for: Learning &amp; multiple changes.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7"/>
          <p:cNvSpPr/>
          <p:nvPr/>
        </p:nvSpPr>
        <p:spPr>
          <a:xfrm>
            <a:off x="4846320" y="4160520"/>
            <a:ext cx="3931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ourier New"/>
              <a:buNone/>
            </a:pPr>
            <a:r>
              <a:rPr b="0" i="0" lang="en" sz="1200" u="none" cap="none" strike="noStrike">
                <a:solidFill>
                  <a:srgbClr val="888888"/>
                </a:solidFill>
                <a:latin typeface="Courier New"/>
                <a:ea typeface="Courier New"/>
                <a:cs typeface="Courier New"/>
                <a:sym typeface="Courier New"/>
              </a:rPr>
              <a:t>list(s) → modify → ''.join()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7"/>
          <p:cNvSpPr/>
          <p:nvPr/>
        </p:nvSpPr>
        <p:spPr>
          <a:xfrm>
            <a:off x="457200" y="4892040"/>
            <a:ext cx="8229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Python Buddy  ·  Section 1 - Problem 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8E3D8"/>
        </a:solidFill>
      </p:bgPr>
    </p:bg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8"/>
          <p:cNvSpPr/>
          <p:nvPr/>
        </p:nvSpPr>
        <p:spPr>
          <a:xfrm>
            <a:off x="502920" y="201168"/>
            <a:ext cx="82296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4200"/>
              <a:buFont typeface="Arial"/>
              <a:buNone/>
            </a:pPr>
            <a:r>
              <a:rPr b="1" i="0" lang="en" sz="42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Key Takeaways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8"/>
          <p:cNvSpPr/>
          <p:nvPr/>
        </p:nvSpPr>
        <p:spPr>
          <a:xfrm>
            <a:off x="411480" y="914400"/>
            <a:ext cx="2606040" cy="2240280"/>
          </a:xfrm>
          <a:prstGeom prst="roundRect">
            <a:avLst>
              <a:gd fmla="val 4898" name="adj"/>
            </a:avLst>
          </a:prstGeom>
          <a:solidFill>
            <a:srgbClr val="FFFFFF"/>
          </a:solidFill>
          <a:ln cap="flat" cmpd="sng" w="19050">
            <a:solidFill>
              <a:srgbClr val="1B4D8E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8"/>
          <p:cNvSpPr/>
          <p:nvPr/>
        </p:nvSpPr>
        <p:spPr>
          <a:xfrm>
            <a:off x="576072" y="1078992"/>
            <a:ext cx="2276856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4D8E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1B4D8E"/>
                </a:solidFill>
                <a:latin typeface="Arial"/>
                <a:ea typeface="Arial"/>
                <a:cs typeface="Arial"/>
                <a:sym typeface="Arial"/>
              </a:rPr>
              <a:t>01 Strings are Immutable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8"/>
          <p:cNvSpPr/>
          <p:nvPr/>
        </p:nvSpPr>
        <p:spPr>
          <a:xfrm>
            <a:off x="576072" y="1572768"/>
            <a:ext cx="2276856" cy="1444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50"/>
              <a:buFont typeface="Arial"/>
              <a:buNone/>
            </a:pPr>
            <a:r>
              <a:rPr b="0" i="0" lang="en" sz="125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You cannot modify strings in-place with </a:t>
            </a:r>
            <a:r>
              <a:rPr b="1" i="0" lang="en" sz="1250" u="none" cap="none" strike="noStrike">
                <a:solidFill>
                  <a:srgbClr val="1B4D8E"/>
                </a:solidFill>
                <a:latin typeface="Arial"/>
                <a:ea typeface="Arial"/>
                <a:cs typeface="Arial"/>
                <a:sym typeface="Arial"/>
              </a:rPr>
              <a:t>s[n] = 'X'</a:t>
            </a:r>
            <a:r>
              <a:rPr b="0" i="0" lang="en" sz="125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. You must create a new string using slicing or convert to a list first.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8"/>
          <p:cNvSpPr/>
          <p:nvPr/>
        </p:nvSpPr>
        <p:spPr>
          <a:xfrm>
            <a:off x="3264408" y="914400"/>
            <a:ext cx="2606040" cy="2240280"/>
          </a:xfrm>
          <a:prstGeom prst="roundRect">
            <a:avLst>
              <a:gd fmla="val 4898" name="adj"/>
            </a:avLst>
          </a:prstGeom>
          <a:solidFill>
            <a:srgbClr val="FFFFFF"/>
          </a:solidFill>
          <a:ln cap="flat" cmpd="sng" w="19050">
            <a:solidFill>
              <a:srgbClr val="1B4D8E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8"/>
          <p:cNvSpPr/>
          <p:nvPr/>
        </p:nvSpPr>
        <p:spPr>
          <a:xfrm>
            <a:off x="3429000" y="1078992"/>
            <a:ext cx="2276856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4D8E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1B4D8E"/>
                </a:solidFill>
                <a:latin typeface="Arial"/>
                <a:ea typeface="Arial"/>
                <a:cs typeface="Arial"/>
                <a:sym typeface="Arial"/>
              </a:rPr>
              <a:t>02 Slicing is Powerful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8"/>
          <p:cNvSpPr/>
          <p:nvPr/>
        </p:nvSpPr>
        <p:spPr>
          <a:xfrm>
            <a:off x="3429000" y="1572768"/>
            <a:ext cx="2276856" cy="1444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50"/>
              <a:buFont typeface="Arial"/>
              <a:buNone/>
            </a:pPr>
            <a:r>
              <a:rPr b="0" i="0" lang="en" sz="125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Use </a:t>
            </a:r>
            <a:r>
              <a:rPr b="1" i="0" lang="en" sz="1250" u="none" cap="none" strike="noStrike">
                <a:solidFill>
                  <a:srgbClr val="1B4D8E"/>
                </a:solidFill>
                <a:latin typeface="Arial"/>
                <a:ea typeface="Arial"/>
                <a:cs typeface="Arial"/>
                <a:sym typeface="Arial"/>
              </a:rPr>
              <a:t>s[:n]</a:t>
            </a:r>
            <a:r>
              <a:rPr b="0" i="0" lang="en" sz="125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 (before) and </a:t>
            </a:r>
            <a:r>
              <a:rPr b="1" i="0" lang="en" sz="1250" u="none" cap="none" strike="noStrike">
                <a:solidFill>
                  <a:srgbClr val="1B4D8E"/>
                </a:solidFill>
                <a:latin typeface="Arial"/>
                <a:ea typeface="Arial"/>
                <a:cs typeface="Arial"/>
                <a:sym typeface="Arial"/>
              </a:rPr>
              <a:t>s[n+1:]</a:t>
            </a:r>
            <a:r>
              <a:rPr b="0" i="0" lang="en" sz="125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 (after) to extract parts of a string. Combined with the modified character, you rebuild the string.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8"/>
          <p:cNvSpPr/>
          <p:nvPr/>
        </p:nvSpPr>
        <p:spPr>
          <a:xfrm>
            <a:off x="6117336" y="914400"/>
            <a:ext cx="2606040" cy="2240280"/>
          </a:xfrm>
          <a:prstGeom prst="roundRect">
            <a:avLst>
              <a:gd fmla="val 4898" name="adj"/>
            </a:avLst>
          </a:prstGeom>
          <a:solidFill>
            <a:srgbClr val="FFFFFF"/>
          </a:solidFill>
          <a:ln cap="flat" cmpd="sng" w="19050">
            <a:solidFill>
              <a:srgbClr val="1B4D8E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8"/>
          <p:cNvSpPr/>
          <p:nvPr/>
        </p:nvSpPr>
        <p:spPr>
          <a:xfrm>
            <a:off x="6281928" y="1078992"/>
            <a:ext cx="2276856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4D8E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1B4D8E"/>
                </a:solidFill>
                <a:latin typeface="Arial"/>
                <a:ea typeface="Arial"/>
                <a:cs typeface="Arial"/>
                <a:sym typeface="Arial"/>
              </a:rPr>
              <a:t>03 Always Check Bounds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8"/>
          <p:cNvSpPr/>
          <p:nvPr/>
        </p:nvSpPr>
        <p:spPr>
          <a:xfrm>
            <a:off x="6281928" y="1572768"/>
            <a:ext cx="2276856" cy="1444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50"/>
              <a:buFont typeface="Arial"/>
              <a:buNone/>
            </a:pPr>
            <a:r>
              <a:rPr b="0" i="0" lang="en" sz="125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Before accessing </a:t>
            </a:r>
            <a:r>
              <a:rPr b="1" i="0" lang="en" sz="1250" u="none" cap="none" strike="noStrike">
                <a:solidFill>
                  <a:srgbClr val="1B4D8E"/>
                </a:solidFill>
                <a:latin typeface="Arial"/>
                <a:ea typeface="Arial"/>
                <a:cs typeface="Arial"/>
                <a:sym typeface="Arial"/>
              </a:rPr>
              <a:t>s[n]</a:t>
            </a:r>
            <a:r>
              <a:rPr b="0" i="0" lang="en" sz="125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, verify </a:t>
            </a:r>
            <a:r>
              <a:rPr b="1" i="0" lang="en" sz="1250" u="none" cap="none" strike="noStrike">
                <a:solidFill>
                  <a:srgbClr val="1B4D8E"/>
                </a:solidFill>
                <a:latin typeface="Arial"/>
                <a:ea typeface="Arial"/>
                <a:cs typeface="Arial"/>
                <a:sym typeface="Arial"/>
              </a:rPr>
              <a:t>0 ≤ n &lt; len(s)</a:t>
            </a:r>
            <a:r>
              <a:rPr b="0" i="0" lang="en" sz="125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 to avoid IndexError. Return the original string if out of bounds.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8"/>
          <p:cNvSpPr/>
          <p:nvPr/>
        </p:nvSpPr>
        <p:spPr>
          <a:xfrm>
            <a:off x="411480" y="3310128"/>
            <a:ext cx="8321040" cy="1371600"/>
          </a:xfrm>
          <a:prstGeom prst="roundRect">
            <a:avLst>
              <a:gd fmla="val 6667" name="adj"/>
            </a:avLst>
          </a:prstGeom>
          <a:solidFill>
            <a:srgbClr val="D9E8F5"/>
          </a:solidFill>
          <a:ln cap="flat" cmpd="sng" w="12700">
            <a:solidFill>
              <a:srgbClr val="9EC4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8"/>
          <p:cNvSpPr/>
          <p:nvPr/>
        </p:nvSpPr>
        <p:spPr>
          <a:xfrm>
            <a:off x="658368" y="3438144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4D8E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rgbClr val="1B4D8E"/>
                </a:solidFill>
                <a:latin typeface="Arial"/>
                <a:ea typeface="Arial"/>
                <a:cs typeface="Arial"/>
                <a:sym typeface="Arial"/>
              </a:rPr>
              <a:t>Final Syntax Cheat Sheet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8"/>
          <p:cNvSpPr/>
          <p:nvPr/>
        </p:nvSpPr>
        <p:spPr>
          <a:xfrm>
            <a:off x="658368" y="3749040"/>
            <a:ext cx="7955280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00"/>
              <a:buFont typeface="Courier New"/>
              <a:buNone/>
            </a:pPr>
            <a:r>
              <a:rPr b="0" i="0" lang="en" sz="1200" u="none" cap="none" strike="noStrike">
                <a:solidFill>
                  <a:srgbClr val="111111"/>
                </a:solidFill>
                <a:latin typeface="Courier New"/>
                <a:ea typeface="Courier New"/>
                <a:cs typeface="Courier New"/>
                <a:sym typeface="Courier New"/>
              </a:rPr>
              <a:t># Slicing:  return s[:n] + s[n].upper() + s[n+1:] if 0 &lt;= n &lt; len(s) else 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00"/>
              <a:buFont typeface="Courier New"/>
              <a:buNone/>
            </a:pPr>
            <a:r>
              <a:rPr b="0" i="0" lang="en" sz="1200" u="none" cap="none" strike="noStrike">
                <a:solidFill>
                  <a:srgbClr val="111111"/>
                </a:solidFill>
                <a:latin typeface="Courier New"/>
                <a:ea typeface="Courier New"/>
                <a:cs typeface="Courier New"/>
                <a:sym typeface="Courier New"/>
              </a:rPr>
              <a:t># List:     chars = list(s); chars[n] = chars[n].upper(); return ''.join(chars)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8"/>
          <p:cNvSpPr/>
          <p:nvPr/>
        </p:nvSpPr>
        <p:spPr>
          <a:xfrm>
            <a:off x="457200" y="4892040"/>
            <a:ext cx="8229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Python Buddy  ·  Section 1 - Problem 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