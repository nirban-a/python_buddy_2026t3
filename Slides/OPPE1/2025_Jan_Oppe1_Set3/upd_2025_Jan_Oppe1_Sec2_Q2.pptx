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6" roundtripDataSignature="AMtx7mg1PU1wfeRR0BPg93OIlDS9f3Gp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" name="Google Shape;55;p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p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p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1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4DC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400"/>
              <a:buFont typeface="Arial"/>
              <a:buNone/>
            </a:pPr>
            <a:r>
              <a:rPr b="1" i="0" lang="en" sz="5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2025 Jan Oppe 1 - Set 3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457200" y="2377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Max Column Sum &amp; Max Column Sum Index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Section 2 - Problem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4DC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/>
          <p:nvPr/>
        </p:nvSpPr>
        <p:spPr>
          <a:xfrm>
            <a:off x="320040" y="137160"/>
            <a:ext cx="8503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600"/>
              <a:buFont typeface="Arial"/>
              <a:buNone/>
            </a:pPr>
            <a:r>
              <a:rPr b="1" i="0" lang="en" sz="4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Problem Definition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320040" y="914400"/>
            <a:ext cx="3749040" cy="3977640"/>
          </a:xfrm>
          <a:prstGeom prst="roundRect">
            <a:avLst>
              <a:gd fmla="val 2439" name="adj"/>
            </a:avLst>
          </a:prstGeom>
          <a:solidFill>
            <a:srgbClr val="FFFFFF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548640" y="1078992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548640" y="1417320"/>
            <a:ext cx="3337560" cy="324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Given an </a:t>
            </a:r>
            <a:r>
              <a:rPr b="1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 × n matrix</a:t>
            </a:r>
            <a: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, find:</a:t>
            </a:r>
            <a:b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1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0-based index</a:t>
            </a:r>
            <a: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of the column</a:t>
            </a:r>
            <a:b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   with the largest sum.</a:t>
            </a:r>
            <a:b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1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maximum column sum</a:t>
            </a:r>
            <a: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itself.</a:t>
            </a:r>
            <a:b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Tie-breaking rule:</a:t>
            </a:r>
            <a: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If multiple columns</a:t>
            </a:r>
            <a:b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share the maximum sum, return the</a:t>
            </a:r>
            <a:b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smallest index</a:t>
            </a:r>
            <a: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(first column).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" name="Google Shape;69;p2"/>
          <p:cNvCxnSpPr/>
          <p:nvPr/>
        </p:nvCxnSpPr>
        <p:spPr>
          <a:xfrm>
            <a:off x="4160520" y="2907792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2F549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" name="Google Shape;70;p2"/>
          <p:cNvSpPr/>
          <p:nvPr/>
        </p:nvSpPr>
        <p:spPr>
          <a:xfrm>
            <a:off x="4736592" y="914400"/>
            <a:ext cx="4087368" cy="3977640"/>
          </a:xfrm>
          <a:prstGeom prst="roundRect">
            <a:avLst>
              <a:gd fmla="val 2299" name="adj"/>
            </a:avLst>
          </a:prstGeom>
          <a:solidFill>
            <a:srgbClr val="FFFFFF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4956048" y="107899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EXAMPLE &amp; EXPLANATION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4956048" y="141732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Given matrix: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4956048" y="1728215"/>
            <a:ext cx="3657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1" i="0" lang="en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[[1, 2, 3],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1" i="0" lang="en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[4, 5, 6],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1" i="0" lang="en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[7, 8, 9]]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4956048" y="2560320"/>
            <a:ext cx="3657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Column sums:</a:t>
            </a:r>
            <a:br>
              <a:rPr b="1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Col 0: 1+4+7 = 12</a:t>
            </a:r>
            <a:b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Col 1: 2+</a:t>
            </a: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+8 = 1</a:t>
            </a: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b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Col 2: 3+6+9 = </a:t>
            </a:r>
            <a:r>
              <a:rPr b="1" i="0" lang="en" sz="125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18  ← max</a:t>
            </a:r>
            <a:br>
              <a:rPr b="1" i="0" lang="en" sz="125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" sz="125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p2"/>
          <p:cNvCxnSpPr/>
          <p:nvPr/>
        </p:nvCxnSpPr>
        <p:spPr>
          <a:xfrm>
            <a:off x="4956048" y="3886200"/>
            <a:ext cx="361188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2"/>
          <p:cNvSpPr/>
          <p:nvPr/>
        </p:nvSpPr>
        <p:spPr>
          <a:xfrm>
            <a:off x="4956048" y="4005072"/>
            <a:ext cx="2286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Output line 1 (index):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7242048" y="4005072"/>
            <a:ext cx="14173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400"/>
              <a:buFont typeface="Courier New"/>
              <a:buNone/>
            </a:pPr>
            <a:r>
              <a:rPr b="1" i="0" lang="en" sz="140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4956048" y="4297680"/>
            <a:ext cx="2286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Output line 2 (sum): 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7242048" y="4297680"/>
            <a:ext cx="14173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400"/>
              <a:buFont typeface="Courier New"/>
              <a:buNone/>
            </a:pPr>
            <a:r>
              <a:rPr b="1" i="0" lang="en" sz="140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18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320040" y="489204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2 -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4DC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/>
          <p:nvPr/>
        </p:nvSpPr>
        <p:spPr>
          <a:xfrm>
            <a:off x="320040" y="109728"/>
            <a:ext cx="8503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600"/>
              <a:buFont typeface="Arial"/>
              <a:buNone/>
            </a:pPr>
            <a:r>
              <a:rPr b="1" i="0" lang="en" sz="4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Problem Specification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320040" y="960120"/>
            <a:ext cx="2423160" cy="3493008"/>
          </a:xfrm>
          <a:prstGeom prst="roundRect">
            <a:avLst>
              <a:gd fmla="val 3774" name="adj"/>
            </a:avLst>
          </a:prstGeom>
          <a:solidFill>
            <a:srgbClr val="FFFFFF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02920" y="1115568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502920" y="1508760"/>
            <a:ext cx="2057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ourier New"/>
              <a:buNone/>
            </a:pPr>
            <a:r>
              <a:rPr b="1" i="0" lang="en" sz="17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matrix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ourier New"/>
              <a:buNone/>
            </a:pPr>
            <a:r>
              <a:rPr b="1" i="0" lang="en" sz="17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(list of lists)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502920" y="2267712"/>
            <a:ext cx="2057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An m × n 2D matrix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(rows × columns)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containing integers.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3"/>
          <p:cNvCxnSpPr/>
          <p:nvPr/>
        </p:nvCxnSpPr>
        <p:spPr>
          <a:xfrm>
            <a:off x="2834640" y="2706624"/>
            <a:ext cx="594360" cy="0"/>
          </a:xfrm>
          <a:prstGeom prst="straightConnector1">
            <a:avLst/>
          </a:prstGeom>
          <a:noFill/>
          <a:ln cap="flat" cmpd="sng" w="25400">
            <a:solidFill>
              <a:srgbClr val="2F549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2" name="Google Shape;92;p3"/>
          <p:cNvSpPr/>
          <p:nvPr/>
        </p:nvSpPr>
        <p:spPr>
          <a:xfrm>
            <a:off x="3493008" y="960120"/>
            <a:ext cx="2697480" cy="3493008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3675888" y="1115568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THE BLACK BOX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3675888" y="1481328"/>
            <a:ext cx="2377440" cy="2852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For each column j,</a:t>
            </a:r>
            <a:b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   sum all rows</a:t>
            </a:r>
            <a:b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Track the maximum</a:t>
            </a:r>
            <a:b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   sum seen so far</a:t>
            </a:r>
            <a:b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Record the column</a:t>
            </a:r>
            <a:b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   index of the max</a:t>
            </a:r>
            <a:b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Return index &amp; sum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3"/>
          <p:cNvCxnSpPr/>
          <p:nvPr/>
        </p:nvCxnSpPr>
        <p:spPr>
          <a:xfrm>
            <a:off x="6281928" y="2706624"/>
            <a:ext cx="594360" cy="0"/>
          </a:xfrm>
          <a:prstGeom prst="straightConnector1">
            <a:avLst/>
          </a:prstGeom>
          <a:noFill/>
          <a:ln cap="flat" cmpd="sng" w="25400">
            <a:solidFill>
              <a:srgbClr val="2F549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6" name="Google Shape;96;p3"/>
          <p:cNvSpPr/>
          <p:nvPr/>
        </p:nvSpPr>
        <p:spPr>
          <a:xfrm>
            <a:off x="6949440" y="960120"/>
            <a:ext cx="1874520" cy="3493008"/>
          </a:xfrm>
          <a:prstGeom prst="roundRect">
            <a:avLst>
              <a:gd fmla="val 4878" name="adj"/>
            </a:avLst>
          </a:prstGeom>
          <a:solidFill>
            <a:srgbClr val="FFFFFF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7114032" y="1115568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7114032" y="1572768"/>
            <a:ext cx="1554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Courier New"/>
              <a:buNone/>
            </a:pPr>
            <a:r>
              <a:rPr b="1" i="0" lang="en" sz="28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Courier New"/>
              <a:buNone/>
            </a:pPr>
            <a:r>
              <a:rPr b="1" i="0" lang="en" sz="28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7114032" y="2331720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Line 1: column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Line 2: max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column sum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320040" y="4544568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22A"/>
              </a:buClr>
              <a:buSzPts val="1150"/>
              <a:buFont typeface="Courier New"/>
              <a:buNone/>
            </a:pPr>
            <a:r>
              <a:rPr b="1" i="0" lang="en" sz="1150" u="none" cap="none" strike="noStrike">
                <a:solidFill>
                  <a:srgbClr val="C0522A"/>
                </a:solidFill>
                <a:latin typeface="Courier New"/>
                <a:ea typeface="Courier New"/>
                <a:cs typeface="Courier New"/>
                <a:sym typeface="Courier New"/>
              </a:rPr>
              <a:t>Constraint: </a:t>
            </a:r>
            <a:r>
              <a:rPr b="0" i="0" lang="en" sz="1150" u="none" cap="none" strike="noStrike">
                <a:solidFill>
                  <a:srgbClr val="C0522A"/>
                </a:solidFill>
                <a:latin typeface="Courier New"/>
                <a:ea typeface="Courier New"/>
                <a:cs typeface="Courier New"/>
                <a:sym typeface="Courier New"/>
              </a:rPr>
              <a:t>Tie-break by smallest index — use </a:t>
            </a:r>
            <a:r>
              <a:rPr b="1" i="0" lang="en" sz="1150" u="none" cap="none" strike="noStrike">
                <a:solidFill>
                  <a:srgbClr val="C0522A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" sz="1150" u="none" cap="none" strike="noStrike">
                <a:solidFill>
                  <a:srgbClr val="C0522A"/>
                </a:solidFill>
                <a:latin typeface="Courier New"/>
                <a:ea typeface="Courier New"/>
                <a:cs typeface="Courier New"/>
                <a:sym typeface="Courier New"/>
              </a:rPr>
              <a:t> (not </a:t>
            </a:r>
            <a:r>
              <a:rPr b="1" i="0" lang="en" sz="1150" u="none" cap="none" strike="noStrike">
                <a:solidFill>
                  <a:srgbClr val="C0522A"/>
                </a:solidFill>
                <a:latin typeface="Courier New"/>
                <a:ea typeface="Courier New"/>
                <a:cs typeface="Courier New"/>
                <a:sym typeface="Courier New"/>
              </a:rPr>
              <a:t>&gt;=</a:t>
            </a:r>
            <a:r>
              <a:rPr b="0" i="0" lang="en" sz="1150" u="none" cap="none" strike="noStrike">
                <a:solidFill>
                  <a:srgbClr val="C0522A"/>
                </a:solidFill>
                <a:latin typeface="Courier New"/>
                <a:ea typeface="Courier New"/>
                <a:cs typeface="Courier New"/>
                <a:sym typeface="Courier New"/>
              </a:rPr>
              <a:t>) when updating the max.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320040" y="489204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2 -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4DC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/>
          <p:nvPr/>
        </p:nvSpPr>
        <p:spPr>
          <a:xfrm>
            <a:off x="320040" y="109728"/>
            <a:ext cx="8503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600"/>
              <a:buFont typeface="Arial"/>
              <a:buNone/>
            </a:pPr>
            <a:r>
              <a:rPr b="1" i="0" lang="en" sz="4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Visualizing the Operations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320040" y="868680"/>
            <a:ext cx="8503800" cy="4096500"/>
          </a:xfrm>
          <a:prstGeom prst="roundRect">
            <a:avLst>
              <a:gd fmla="val 2232" name="adj"/>
            </a:avLst>
          </a:prstGeom>
          <a:solidFill>
            <a:srgbClr val="FFFFFF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594360" y="1024128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50"/>
              <a:buFont typeface="Courier New"/>
              <a:buNone/>
            </a:pPr>
            <a:r>
              <a:rPr b="1" i="0" lang="en" sz="14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Example:  matrix = [[1, 2, 3], [4, 5, 6], [7, 8, 9]]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1150120" y="1522545"/>
            <a:ext cx="594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Col 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1854208" y="1522545"/>
            <a:ext cx="594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Col 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2558296" y="1522545"/>
            <a:ext cx="594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Col 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647200" y="1796865"/>
            <a:ext cx="475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Row 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1150120" y="1796865"/>
            <a:ext cx="594300" cy="502800"/>
          </a:xfrm>
          <a:prstGeom prst="roundRect">
            <a:avLst>
              <a:gd fmla="val 9091" name="adj"/>
            </a:avLst>
          </a:prstGeom>
          <a:solidFill>
            <a:srgbClr val="D4E3F5"/>
          </a:solidFill>
          <a:ln cap="flat" cmpd="sng" w="9525">
            <a:solidFill>
              <a:srgbClr val="8AAE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1150120" y="1796865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1854208" y="1796865"/>
            <a:ext cx="594300" cy="502800"/>
          </a:xfrm>
          <a:prstGeom prst="roundRect">
            <a:avLst>
              <a:gd fmla="val 9091" name="adj"/>
            </a:avLst>
          </a:prstGeom>
          <a:solidFill>
            <a:srgbClr val="D4E3F5"/>
          </a:solidFill>
          <a:ln cap="flat" cmpd="sng" w="9525">
            <a:solidFill>
              <a:srgbClr val="8AAE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1854208" y="1796865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2558296" y="1796865"/>
            <a:ext cx="594300" cy="502800"/>
          </a:xfrm>
          <a:prstGeom prst="roundRect">
            <a:avLst>
              <a:gd fmla="val 9091" name="adj"/>
            </a:avLst>
          </a:prstGeom>
          <a:solidFill>
            <a:srgbClr val="C5E0C5"/>
          </a:solidFill>
          <a:ln cap="flat" cmpd="sng" w="9525">
            <a:solidFill>
              <a:srgbClr val="7EB8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2558296" y="1796865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647200" y="2372937"/>
            <a:ext cx="475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Row 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1150120" y="2372937"/>
            <a:ext cx="594300" cy="502800"/>
          </a:xfrm>
          <a:prstGeom prst="roundRect">
            <a:avLst>
              <a:gd fmla="val 9091" name="adj"/>
            </a:avLst>
          </a:prstGeom>
          <a:solidFill>
            <a:srgbClr val="D4E3F5"/>
          </a:solidFill>
          <a:ln cap="flat" cmpd="sng" w="9525">
            <a:solidFill>
              <a:srgbClr val="8AAE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1150120" y="2372937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1854208" y="2372937"/>
            <a:ext cx="594300" cy="502800"/>
          </a:xfrm>
          <a:prstGeom prst="roundRect">
            <a:avLst>
              <a:gd fmla="val 9091" name="adj"/>
            </a:avLst>
          </a:prstGeom>
          <a:solidFill>
            <a:srgbClr val="D4E3F5"/>
          </a:solidFill>
          <a:ln cap="flat" cmpd="sng" w="9525">
            <a:solidFill>
              <a:srgbClr val="8AAE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1854208" y="2372937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2558296" y="2372937"/>
            <a:ext cx="594300" cy="502800"/>
          </a:xfrm>
          <a:prstGeom prst="roundRect">
            <a:avLst>
              <a:gd fmla="val 9091" name="adj"/>
            </a:avLst>
          </a:prstGeom>
          <a:solidFill>
            <a:srgbClr val="C5E0C5"/>
          </a:solidFill>
          <a:ln cap="flat" cmpd="sng" w="9525">
            <a:solidFill>
              <a:srgbClr val="7EB8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2558296" y="2372937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647200" y="2949009"/>
            <a:ext cx="475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Row 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1150120" y="2949009"/>
            <a:ext cx="594300" cy="502800"/>
          </a:xfrm>
          <a:prstGeom prst="roundRect">
            <a:avLst>
              <a:gd fmla="val 9091" name="adj"/>
            </a:avLst>
          </a:prstGeom>
          <a:solidFill>
            <a:srgbClr val="D4E3F5"/>
          </a:solidFill>
          <a:ln cap="flat" cmpd="sng" w="9525">
            <a:solidFill>
              <a:srgbClr val="8AAE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1150120" y="2949009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1854208" y="2949009"/>
            <a:ext cx="594300" cy="502800"/>
          </a:xfrm>
          <a:prstGeom prst="roundRect">
            <a:avLst>
              <a:gd fmla="val 9091" name="adj"/>
            </a:avLst>
          </a:prstGeom>
          <a:solidFill>
            <a:srgbClr val="D4E3F5"/>
          </a:solidFill>
          <a:ln cap="flat" cmpd="sng" w="9525">
            <a:solidFill>
              <a:srgbClr val="8AAE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1854208" y="2949009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2558296" y="2949009"/>
            <a:ext cx="594300" cy="502800"/>
          </a:xfrm>
          <a:prstGeom prst="roundRect">
            <a:avLst>
              <a:gd fmla="val 9091" name="adj"/>
            </a:avLst>
          </a:prstGeom>
          <a:solidFill>
            <a:srgbClr val="C5E0C5"/>
          </a:solidFill>
          <a:ln cap="flat" cmpd="sng" w="9525">
            <a:solidFill>
              <a:srgbClr val="7EB8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2558296" y="2949009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647200" y="3634809"/>
            <a:ext cx="475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Sum: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1150120" y="3634809"/>
            <a:ext cx="594300" cy="502800"/>
          </a:xfrm>
          <a:prstGeom prst="roundRect">
            <a:avLst>
              <a:gd fmla="val 9091" name="adj"/>
            </a:avLst>
          </a:prstGeom>
          <a:solidFill>
            <a:srgbClr val="E0E8F4"/>
          </a:solidFill>
          <a:ln cap="flat" cmpd="sng" w="12700">
            <a:solidFill>
              <a:srgbClr val="A0BA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1150120" y="3634809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1854208" y="3634809"/>
            <a:ext cx="594300" cy="502800"/>
          </a:xfrm>
          <a:prstGeom prst="roundRect">
            <a:avLst>
              <a:gd fmla="val 9091" name="adj"/>
            </a:avLst>
          </a:prstGeom>
          <a:solidFill>
            <a:srgbClr val="E0E8F4"/>
          </a:solidFill>
          <a:ln cap="flat" cmpd="sng" w="12700">
            <a:solidFill>
              <a:srgbClr val="A0BA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1854208" y="3634809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2558296" y="3634809"/>
            <a:ext cx="594300" cy="502800"/>
          </a:xfrm>
          <a:prstGeom prst="roundRect">
            <a:avLst>
              <a:gd fmla="val 9091" name="adj"/>
            </a:avLst>
          </a:prstGeom>
          <a:solidFill>
            <a:srgbClr val="A8D5A2"/>
          </a:solidFill>
          <a:ln cap="flat" cmpd="sng" w="12700">
            <a:solidFill>
              <a:srgbClr val="5DAA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2558296" y="3634809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3364992" y="14173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Step 1: Sum each column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3364992" y="1783080"/>
            <a:ext cx="5257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300"/>
              <a:buFont typeface="Courier New"/>
              <a:buNone/>
            </a:pPr>
            <a:r>
              <a:rPr b="1" i="0" lang="en" sz="1300" u="none" cap="none" strike="noStrike">
                <a:solidFill>
                  <a:srgbClr val="2F5496"/>
                </a:solidFill>
                <a:latin typeface="Courier New"/>
                <a:ea typeface="Courier New"/>
                <a:cs typeface="Courier New"/>
                <a:sym typeface="Courier New"/>
              </a:rPr>
              <a:t>Col 0:  </a:t>
            </a:r>
            <a:r>
              <a:rPr b="0" i="0" lang="en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1 + 4 + 7  =  12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3364992" y="2130552"/>
            <a:ext cx="5257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300"/>
              <a:buFont typeface="Courier New"/>
              <a:buNone/>
            </a:pPr>
            <a:r>
              <a:rPr b="1" i="0" lang="en" sz="1300" u="none" cap="none" strike="noStrike">
                <a:solidFill>
                  <a:srgbClr val="2F5496"/>
                </a:solidFill>
                <a:latin typeface="Courier New"/>
                <a:ea typeface="Courier New"/>
                <a:cs typeface="Courier New"/>
                <a:sym typeface="Courier New"/>
              </a:rPr>
              <a:t>Col 1:  </a:t>
            </a:r>
            <a:r>
              <a:rPr b="0" i="0" lang="en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2 + 5 + 8  =  15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3364992" y="2478024"/>
            <a:ext cx="5257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300"/>
              <a:buFont typeface="Courier New"/>
              <a:buNone/>
            </a:pPr>
            <a:r>
              <a:rPr b="1" i="0" lang="en" sz="1300" u="none" cap="none" strike="noStrike">
                <a:solidFill>
                  <a:srgbClr val="2F5496"/>
                </a:solidFill>
                <a:latin typeface="Courier New"/>
                <a:ea typeface="Courier New"/>
                <a:cs typeface="Courier New"/>
                <a:sym typeface="Courier New"/>
              </a:rPr>
              <a:t>Col 2:  </a:t>
            </a:r>
            <a:r>
              <a:rPr b="0" i="0" lang="en" sz="130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3 + 6 + 9  =  18  ← maximum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3364992" y="290779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Step 2: Identify max and its index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3364992" y="3218688"/>
            <a:ext cx="5257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max_sum   = </a:t>
            </a:r>
            <a:r>
              <a:rPr b="1" i="0" lang="en" sz="135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18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max_index =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350"/>
              <a:buFont typeface="Courier New"/>
              <a:buNone/>
            </a:pPr>
            <a:r>
              <a:rPr b="1" i="0" lang="en" sz="135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" sz="13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  (0-based column index)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3364992" y="4005072"/>
            <a:ext cx="5257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✓ Output: </a:t>
            </a:r>
            <a:r>
              <a:rPr b="1" i="0" lang="en" sz="130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" sz="13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  (index)   then   </a:t>
            </a:r>
            <a:r>
              <a:rPr b="1" i="0" lang="en" sz="130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18</a:t>
            </a:r>
            <a:r>
              <a:rPr b="0" i="0" lang="en" sz="13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  (sum)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320040" y="489204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2 -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4DC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"/>
          <p:cNvSpPr/>
          <p:nvPr/>
        </p:nvSpPr>
        <p:spPr>
          <a:xfrm>
            <a:off x="320040" y="109728"/>
            <a:ext cx="85039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400"/>
              <a:buFont typeface="Arial"/>
              <a:buNone/>
            </a:pPr>
            <a:r>
              <a:rPr b="1" i="0" lang="en" sz="4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Explanatory Approach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320040" y="713232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50"/>
              <a:buFont typeface="Arial"/>
              <a:buNone/>
            </a:pPr>
            <a:r>
              <a:rPr b="0" i="0" lang="en" sz="14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Step-by-step: iterate columns, sum each, track maximum manually.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320040" y="1078992"/>
            <a:ext cx="5989320" cy="3703320"/>
          </a:xfrm>
          <a:prstGeom prst="roundRect">
            <a:avLst>
              <a:gd fmla="val 2469" name="adj"/>
            </a:avLst>
          </a:prstGeom>
          <a:solidFill>
            <a:srgbClr val="FFFFFF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449995" y="1078995"/>
            <a:ext cx="5623500" cy="3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# take rows and columns</a:t>
            </a:r>
            <a:endParaRPr sz="9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m, n = map(int, input().split())</a:t>
            </a:r>
            <a:endParaRPr sz="9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# create matrix</a:t>
            </a:r>
            <a:endParaRPr sz="9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matrix = []</a:t>
            </a:r>
            <a:endParaRPr sz="9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for _ in range(m):</a:t>
            </a:r>
            <a:endParaRPr sz="9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row = list(map(int, input().split()))</a:t>
            </a:r>
            <a:endParaRPr sz="9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matrix.append(row)</a:t>
            </a:r>
            <a:endParaRPr sz="9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rows = len(matrix)</a:t>
            </a:r>
            <a:endParaRPr sz="9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cols = len(matrix[0])</a:t>
            </a:r>
            <a:endParaRPr sz="9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max_sum = None</a:t>
            </a:r>
            <a:endParaRPr sz="9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max_index = 0</a:t>
            </a:r>
            <a:endParaRPr sz="9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for j in range(cols):</a:t>
            </a:r>
            <a:endParaRPr sz="9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col_sum = 0</a:t>
            </a:r>
            <a:endParaRPr sz="9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for i in range(rows):</a:t>
            </a:r>
            <a:endParaRPr sz="9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col_sum += matrix[i][j]</a:t>
            </a:r>
            <a:endParaRPr sz="9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if max_sum is None or col_sum &gt; max_sum:</a:t>
            </a:r>
            <a:endParaRPr sz="9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max_sum = col_sum</a:t>
            </a:r>
            <a:endParaRPr sz="9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max_index = j</a:t>
            </a:r>
            <a:endParaRPr sz="9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print(max_index)</a:t>
            </a:r>
            <a:endParaRPr sz="9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print(max_sum)</a:t>
            </a:r>
            <a:endParaRPr sz="9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urier New"/>
              <a:buNone/>
            </a:pPr>
            <a:r>
              <a:t/>
            </a:r>
            <a:endParaRPr sz="9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58" name="Google Shape;158;p5"/>
          <p:cNvCxnSpPr/>
          <p:nvPr/>
        </p:nvCxnSpPr>
        <p:spPr>
          <a:xfrm>
            <a:off x="6373368" y="1472184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C052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5"/>
          <p:cNvSpPr/>
          <p:nvPr/>
        </p:nvSpPr>
        <p:spPr>
          <a:xfrm>
            <a:off x="6739128" y="1353312"/>
            <a:ext cx="20299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22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C0522A"/>
                </a:solidFill>
                <a:latin typeface="Arial"/>
                <a:ea typeface="Arial"/>
                <a:cs typeface="Arial"/>
                <a:sym typeface="Arial"/>
              </a:rPr>
              <a:t>Get matrix dimensions.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5"/>
          <p:cNvCxnSpPr/>
          <p:nvPr/>
        </p:nvCxnSpPr>
        <p:spPr>
          <a:xfrm>
            <a:off x="6373368" y="1929384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C052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5"/>
          <p:cNvSpPr/>
          <p:nvPr/>
        </p:nvSpPr>
        <p:spPr>
          <a:xfrm>
            <a:off x="6739128" y="1810512"/>
            <a:ext cx="20299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22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C0522A"/>
                </a:solidFill>
                <a:latin typeface="Arial"/>
                <a:ea typeface="Arial"/>
                <a:cs typeface="Arial"/>
                <a:sym typeface="Arial"/>
              </a:rPr>
              <a:t>None means 'not set yet'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22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C0522A"/>
                </a:solidFill>
                <a:latin typeface="Arial"/>
                <a:ea typeface="Arial"/>
                <a:cs typeface="Arial"/>
                <a:sym typeface="Arial"/>
              </a:rPr>
              <a:t>— handles any values.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5"/>
          <p:cNvCxnSpPr/>
          <p:nvPr/>
        </p:nvCxnSpPr>
        <p:spPr>
          <a:xfrm>
            <a:off x="6373368" y="2606040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C052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5"/>
          <p:cNvSpPr/>
          <p:nvPr/>
        </p:nvSpPr>
        <p:spPr>
          <a:xfrm>
            <a:off x="6739128" y="2487168"/>
            <a:ext cx="20299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22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C0522A"/>
                </a:solidFill>
                <a:latin typeface="Arial"/>
                <a:ea typeface="Arial"/>
                <a:cs typeface="Arial"/>
                <a:sym typeface="Arial"/>
              </a:rPr>
              <a:t>Outer loop over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22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C0522A"/>
                </a:solidFill>
                <a:latin typeface="Arial"/>
                <a:ea typeface="Arial"/>
                <a:cs typeface="Arial"/>
                <a:sym typeface="Arial"/>
              </a:rPr>
              <a:t>columns (j).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5"/>
          <p:cNvCxnSpPr/>
          <p:nvPr/>
        </p:nvCxnSpPr>
        <p:spPr>
          <a:xfrm>
            <a:off x="6373368" y="2935224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C052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5"/>
          <p:cNvSpPr/>
          <p:nvPr/>
        </p:nvSpPr>
        <p:spPr>
          <a:xfrm>
            <a:off x="6739128" y="2816352"/>
            <a:ext cx="20299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22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C0522A"/>
                </a:solidFill>
                <a:latin typeface="Arial"/>
                <a:ea typeface="Arial"/>
                <a:cs typeface="Arial"/>
                <a:sym typeface="Arial"/>
              </a:rPr>
              <a:t>Inner loop sums all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22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C0522A"/>
                </a:solidFill>
                <a:latin typeface="Arial"/>
                <a:ea typeface="Arial"/>
                <a:cs typeface="Arial"/>
                <a:sym typeface="Arial"/>
              </a:rPr>
              <a:t>rows in column j.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5"/>
          <p:cNvCxnSpPr/>
          <p:nvPr/>
        </p:nvCxnSpPr>
        <p:spPr>
          <a:xfrm>
            <a:off x="6373368" y="3520440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C052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5"/>
          <p:cNvSpPr/>
          <p:nvPr/>
        </p:nvSpPr>
        <p:spPr>
          <a:xfrm>
            <a:off x="6739128" y="3401568"/>
            <a:ext cx="20299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22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C0522A"/>
                </a:solidFill>
                <a:latin typeface="Arial"/>
                <a:ea typeface="Arial"/>
                <a:cs typeface="Arial"/>
                <a:sym typeface="Arial"/>
              </a:rPr>
              <a:t>Update only if strictly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22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C0522A"/>
                </a:solidFill>
                <a:latin typeface="Arial"/>
                <a:ea typeface="Arial"/>
                <a:cs typeface="Arial"/>
                <a:sym typeface="Arial"/>
              </a:rPr>
              <a:t>greater — preserves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22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C0522A"/>
                </a:solidFill>
                <a:latin typeface="Arial"/>
                <a:ea typeface="Arial"/>
                <a:cs typeface="Arial"/>
                <a:sym typeface="Arial"/>
              </a:rPr>
              <a:t>first max on ties.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5"/>
          <p:cNvCxnSpPr/>
          <p:nvPr/>
        </p:nvCxnSpPr>
        <p:spPr>
          <a:xfrm>
            <a:off x="6373368" y="4462272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C052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5"/>
          <p:cNvSpPr/>
          <p:nvPr/>
        </p:nvSpPr>
        <p:spPr>
          <a:xfrm>
            <a:off x="6739128" y="4343400"/>
            <a:ext cx="20299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22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C0522A"/>
                </a:solidFill>
                <a:latin typeface="Arial"/>
                <a:ea typeface="Arial"/>
                <a:cs typeface="Arial"/>
                <a:sym typeface="Arial"/>
              </a:rPr>
              <a:t>Print index first,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22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C0522A"/>
                </a:solidFill>
                <a:latin typeface="Arial"/>
                <a:ea typeface="Arial"/>
                <a:cs typeface="Arial"/>
                <a:sym typeface="Arial"/>
              </a:rPr>
              <a:t>then the sum.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329565" y="4892040"/>
            <a:ext cx="5029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2 -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4DC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"/>
          <p:cNvSpPr/>
          <p:nvPr/>
        </p:nvSpPr>
        <p:spPr>
          <a:xfrm>
            <a:off x="320040" y="109728"/>
            <a:ext cx="85039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400"/>
              <a:buFont typeface="Arial"/>
              <a:buNone/>
            </a:pPr>
            <a:r>
              <a:rPr b="1" i="0" lang="en" sz="4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2D List Slicing Approach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320040" y="713232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50"/>
              <a:buFont typeface="Arial"/>
              <a:buNone/>
            </a:pPr>
            <a:r>
              <a:rPr b="0" i="0" lang="en" sz="14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Extract each column with a list comprehension — no zip() needed.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320040" y="1078992"/>
            <a:ext cx="8503920" cy="1719072"/>
          </a:xfrm>
          <a:prstGeom prst="roundRect">
            <a:avLst>
              <a:gd fmla="val 5319" name="adj"/>
            </a:avLst>
          </a:prstGeom>
          <a:solidFill>
            <a:srgbClr val="FFFFFF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548640" y="1188720"/>
            <a:ext cx="8092440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ourier New"/>
              <a:buNone/>
            </a:pPr>
            <a:r>
              <a:rPr b="0" i="0" lang="en" sz="14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cols = len(matrix[0])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ourier New"/>
              <a:buNone/>
            </a:pPr>
            <a:r>
              <a:rPr b="0" i="0" lang="en" sz="14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col_sums = [sum(matrix[i][j] for i in range(len(matrix))) for j in range(cols)]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ourier New"/>
              <a:buNone/>
            </a:pPr>
            <a:r>
              <a:rPr b="0" i="0" lang="en" sz="14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max_index = col_sums.index(max(col_sums))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ourier New"/>
              <a:buNone/>
            </a:pPr>
            <a:r>
              <a:rPr b="0" i="0" lang="en" sz="14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print(max_index)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ourier New"/>
              <a:buNone/>
            </a:pPr>
            <a:r>
              <a:rPr b="0" i="0" lang="en" sz="14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print(col_sums[max_index])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320040" y="2944368"/>
            <a:ext cx="8503920" cy="1956816"/>
          </a:xfrm>
          <a:prstGeom prst="roundRect">
            <a:avLst>
              <a:gd fmla="val 4673" name="adj"/>
            </a:avLst>
          </a:prstGeom>
          <a:solidFill>
            <a:srgbClr val="E8EFF8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566928" y="3054096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How 2D list slicing works: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594360" y="3456432"/>
            <a:ext cx="384048" cy="320040"/>
          </a:xfrm>
          <a:prstGeom prst="rect">
            <a:avLst/>
          </a:prstGeom>
          <a:solidFill>
            <a:srgbClr val="D4E3F5"/>
          </a:solidFill>
          <a:ln cap="flat" cmpd="sng" w="9525">
            <a:solidFill>
              <a:srgbClr val="8AAE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594360" y="3456432"/>
            <a:ext cx="3840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1014984" y="3456432"/>
            <a:ext cx="384048" cy="320040"/>
          </a:xfrm>
          <a:prstGeom prst="rect">
            <a:avLst/>
          </a:prstGeom>
          <a:solidFill>
            <a:srgbClr val="D4E3F5"/>
          </a:solidFill>
          <a:ln cap="flat" cmpd="sng" w="9525">
            <a:solidFill>
              <a:srgbClr val="8AAE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1014984" y="3456432"/>
            <a:ext cx="3840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1435608" y="3456432"/>
            <a:ext cx="384048" cy="320040"/>
          </a:xfrm>
          <a:prstGeom prst="rect">
            <a:avLst/>
          </a:prstGeom>
          <a:solidFill>
            <a:srgbClr val="C5E0C5"/>
          </a:solidFill>
          <a:ln cap="flat" cmpd="sng" w="9525">
            <a:solidFill>
              <a:srgbClr val="5DAA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1435608" y="3456432"/>
            <a:ext cx="3840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594360" y="3813048"/>
            <a:ext cx="384048" cy="320040"/>
          </a:xfrm>
          <a:prstGeom prst="rect">
            <a:avLst/>
          </a:prstGeom>
          <a:solidFill>
            <a:srgbClr val="D4E3F5"/>
          </a:solidFill>
          <a:ln cap="flat" cmpd="sng" w="9525">
            <a:solidFill>
              <a:srgbClr val="8AAE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594360" y="3813048"/>
            <a:ext cx="3840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1014984" y="3813048"/>
            <a:ext cx="384048" cy="320040"/>
          </a:xfrm>
          <a:prstGeom prst="rect">
            <a:avLst/>
          </a:prstGeom>
          <a:solidFill>
            <a:srgbClr val="D4E3F5"/>
          </a:solidFill>
          <a:ln cap="flat" cmpd="sng" w="9525">
            <a:solidFill>
              <a:srgbClr val="8AAE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1014984" y="3813048"/>
            <a:ext cx="3840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1435608" y="3813048"/>
            <a:ext cx="384048" cy="320040"/>
          </a:xfrm>
          <a:prstGeom prst="rect">
            <a:avLst/>
          </a:prstGeom>
          <a:solidFill>
            <a:srgbClr val="C5E0C5"/>
          </a:solidFill>
          <a:ln cap="flat" cmpd="sng" w="9525">
            <a:solidFill>
              <a:srgbClr val="5DAA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1435608" y="3813048"/>
            <a:ext cx="3840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594360" y="4169664"/>
            <a:ext cx="384048" cy="320040"/>
          </a:xfrm>
          <a:prstGeom prst="rect">
            <a:avLst/>
          </a:prstGeom>
          <a:solidFill>
            <a:srgbClr val="D4E3F5"/>
          </a:solidFill>
          <a:ln cap="flat" cmpd="sng" w="9525">
            <a:solidFill>
              <a:srgbClr val="8AAE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594360" y="4169664"/>
            <a:ext cx="3840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1014984" y="4169664"/>
            <a:ext cx="384048" cy="320040"/>
          </a:xfrm>
          <a:prstGeom prst="rect">
            <a:avLst/>
          </a:prstGeom>
          <a:solidFill>
            <a:srgbClr val="D4E3F5"/>
          </a:solidFill>
          <a:ln cap="flat" cmpd="sng" w="9525">
            <a:solidFill>
              <a:srgbClr val="8AAE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1014984" y="4169664"/>
            <a:ext cx="3840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1435608" y="4169664"/>
            <a:ext cx="384048" cy="320040"/>
          </a:xfrm>
          <a:prstGeom prst="rect">
            <a:avLst/>
          </a:prstGeom>
          <a:solidFill>
            <a:srgbClr val="C5E0C5"/>
          </a:solidFill>
          <a:ln cap="flat" cmpd="sng" w="9525">
            <a:solidFill>
              <a:srgbClr val="5DAA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1435608" y="4169664"/>
            <a:ext cx="3840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p6"/>
          <p:cNvCxnSpPr/>
          <p:nvPr/>
        </p:nvCxnSpPr>
        <p:spPr>
          <a:xfrm>
            <a:off x="1874520" y="3931920"/>
            <a:ext cx="256032" cy="0"/>
          </a:xfrm>
          <a:prstGeom prst="straightConnector1">
            <a:avLst/>
          </a:prstGeom>
          <a:noFill/>
          <a:ln cap="flat" cmpd="sng" w="22850">
            <a:solidFill>
              <a:srgbClr val="C0522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1" name="Google Shape;201;p6"/>
          <p:cNvSpPr/>
          <p:nvPr/>
        </p:nvSpPr>
        <p:spPr>
          <a:xfrm>
            <a:off x="2331720" y="3429000"/>
            <a:ext cx="6446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80"/>
              <a:buFont typeface="Courier New"/>
              <a:buNone/>
            </a:pPr>
            <a:r>
              <a:rPr b="1" i="0" lang="en" sz="118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matrix[i][j]  </a:t>
            </a:r>
            <a:r>
              <a:rPr b="0" i="0" lang="en" sz="118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→  Access element at row i, column j — standard 2D indexing.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2331720" y="3840480"/>
            <a:ext cx="6446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80"/>
              <a:buFont typeface="Courier New"/>
              <a:buNone/>
            </a:pPr>
            <a:r>
              <a:rPr b="1" i="0" lang="en" sz="118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for i in range(len(matrix))  </a:t>
            </a:r>
            <a:r>
              <a:rPr b="0" i="0" lang="en" sz="118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→  Iterates over every row to collect all values in column j.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2331720" y="4251960"/>
            <a:ext cx="6446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80"/>
              <a:buFont typeface="Courier New"/>
              <a:buNone/>
            </a:pPr>
            <a:r>
              <a:rPr b="1" i="0" lang="en" sz="118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col_sums.index(max(col_sums))  </a:t>
            </a:r>
            <a:r>
              <a:rPr b="0" i="0" lang="en" sz="118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→  Finds the index of the maximum — returns the FIRST occurrence on ties.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320040" y="489204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2 -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4DC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"/>
          <p:cNvSpPr/>
          <p:nvPr/>
        </p:nvSpPr>
        <p:spPr>
          <a:xfrm>
            <a:off x="320040" y="109728"/>
            <a:ext cx="85039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400"/>
              <a:buFont typeface="Arial"/>
              <a:buNone/>
            </a:pPr>
            <a:r>
              <a:rPr b="1" i="0" lang="en" sz="4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Pythonic Optimization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320040" y="713232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50"/>
              <a:buFont typeface="Arial"/>
              <a:buNone/>
            </a:pPr>
            <a:r>
              <a:rPr b="0" i="0" lang="en" sz="14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Using zip(), enumerate(), and max() with a key function.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320040" y="1078992"/>
            <a:ext cx="8503920" cy="1572768"/>
          </a:xfrm>
          <a:prstGeom prst="roundRect">
            <a:avLst>
              <a:gd fmla="val 5814" name="adj"/>
            </a:avLst>
          </a:prstGeom>
          <a:solidFill>
            <a:srgbClr val="FFFFFF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548640" y="1188720"/>
            <a:ext cx="8092440" cy="138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ourier New"/>
              <a:buNone/>
            </a:pPr>
            <a:r>
              <a:rPr b="0" i="0" lang="en" sz="14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col_sums = [sum(col) for col in zip(*matrix)]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ourier New"/>
              <a:buNone/>
            </a:pPr>
            <a:r>
              <a:rPr b="0" i="0" lang="en" sz="14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max_index, max_sum = max(enumerate(col_sums), key=lambda x: x[1])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ourier New"/>
              <a:buNone/>
            </a:pPr>
            <a:r>
              <a:rPr b="0" i="0" lang="en" sz="14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print(max_index)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ourier New"/>
              <a:buNone/>
            </a:pPr>
            <a:r>
              <a:rPr b="0" i="0" lang="en" sz="14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print(max_sum)</a:t>
            </a:r>
            <a:endParaRPr b="0" i="0" sz="1400" u="none" cap="none" strike="noStrike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ourier New"/>
              <a:buNone/>
            </a:pPr>
            <a:r>
              <a:t/>
            </a:r>
            <a:endParaRPr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ourier New"/>
              <a:buNone/>
            </a:pPr>
            <a:r>
              <a:t/>
            </a:r>
            <a:endParaRPr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320040" y="2816352"/>
            <a:ext cx="8503920" cy="2084832"/>
          </a:xfrm>
          <a:prstGeom prst="roundRect">
            <a:avLst>
              <a:gd fmla="val 4386" name="adj"/>
            </a:avLst>
          </a:prstGeom>
          <a:solidFill>
            <a:srgbClr val="E8EFF8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566928" y="2926080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How each Pythonic trick works: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566928" y="329184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250"/>
              <a:buFont typeface="Courier New"/>
              <a:buNone/>
            </a:pPr>
            <a:r>
              <a:rPr b="1" i="0" lang="en" sz="125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zip(*matrix)</a:t>
            </a: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 →  Transposes the matrix — groups each column together as a tuple. The * unpacks the rows.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566928" y="37947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250"/>
              <a:buFont typeface="Courier New"/>
              <a:buNone/>
            </a:pPr>
            <a:r>
              <a:rPr b="1" i="0" lang="en" sz="125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sum(col) for col in ...</a:t>
            </a: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 →  List comprehension builds a flat list of column sums in one line.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566928" y="42976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250"/>
              <a:buFont typeface="Courier New"/>
              <a:buNone/>
            </a:pPr>
            <a:r>
              <a:rPr b="1" i="0" lang="en" sz="125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max(enumerate(col_sums), key=lambda x: x[1])</a:t>
            </a: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 →  Finds the (index, sum) pair with the largest sum. enumerate() adds the index; key= compares by sum. First max wins on ties.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320040" y="489204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2 -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4DC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400"/>
              <a:buFont typeface="Arial"/>
              <a:buNone/>
            </a:pPr>
            <a:r>
              <a:rPr b="1" i="0" lang="en" sz="4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Solution Comparison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" name="Google Shape;226;p8"/>
          <p:cNvCxnSpPr/>
          <p:nvPr/>
        </p:nvCxnSpPr>
        <p:spPr>
          <a:xfrm>
            <a:off x="3127248" y="868680"/>
            <a:ext cx="0" cy="4160520"/>
          </a:xfrm>
          <a:prstGeom prst="straightConnector1">
            <a:avLst/>
          </a:prstGeom>
          <a:noFill/>
          <a:ln cap="flat" cmpd="sng" w="152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" name="Google Shape;227;p8"/>
          <p:cNvCxnSpPr/>
          <p:nvPr/>
        </p:nvCxnSpPr>
        <p:spPr>
          <a:xfrm>
            <a:off x="6016752" y="868680"/>
            <a:ext cx="0" cy="4160520"/>
          </a:xfrm>
          <a:prstGeom prst="straightConnector1">
            <a:avLst/>
          </a:prstGeom>
          <a:noFill/>
          <a:ln cap="flat" cmpd="sng" w="152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8"/>
          <p:cNvSpPr/>
          <p:nvPr/>
        </p:nvSpPr>
        <p:spPr>
          <a:xfrm>
            <a:off x="320040" y="896112"/>
            <a:ext cx="2697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400"/>
              <a:buFont typeface="Arial"/>
              <a:buNone/>
            </a:pPr>
            <a:r>
              <a:rPr b="0" i="0" lang="en" sz="3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↻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320040" y="1481328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Nested Loop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411480" y="1901952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Very beginner-friendly.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11480" y="2340864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Explicit row &amp; column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iteration.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411480" y="2779776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Easy to trace &amp; debug.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411480" y="3218688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Best for: Learning.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365760" y="379476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for j in range(cols):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  col_sum += matrix[i][j]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3218688" y="896112"/>
            <a:ext cx="2697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400"/>
              <a:buFont typeface="Arial"/>
              <a:buNone/>
            </a:pPr>
            <a:r>
              <a:rPr b="0" i="0" lang="en" sz="3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✂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3218688" y="1481328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2D List Slicing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3310128" y="1901952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No imports needed.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3310128" y="2340864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Readable comprehension.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3310128" y="2779776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index() gives first max.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3310128" y="3218688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Best for: Mid-level clarity.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3264408" y="379476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sum(matrix[i][j]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  for i in range(rows))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6108192" y="896112"/>
            <a:ext cx="2697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400"/>
              <a:buFont typeface="Arial"/>
              <a:buNone/>
            </a:pPr>
            <a:r>
              <a:rPr b="0" i="0" lang="en" sz="3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⚡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6108192" y="1481328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zip() + max()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6199632" y="1901952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Most concise — 2 lines.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6199632" y="2340864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Uses Python built-ins.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6199632" y="2779776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Elegant &amp; idiomatic.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6199632" y="3218688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Best for: Interviews.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6153912" y="379476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max(enumerate(sums),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  key=lambda x: x[1])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320040" y="489204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2 -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4DC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600"/>
              <a:buFont typeface="Arial"/>
              <a:buNone/>
            </a:pPr>
            <a:r>
              <a:rPr b="1" i="0" lang="en" sz="4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Key Takeaways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320040" y="868680"/>
            <a:ext cx="2761488" cy="2212848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502920" y="987552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350"/>
              <a:buFont typeface="Arial"/>
              <a:buNone/>
            </a:pPr>
            <a:r>
              <a:rPr b="1" i="0" lang="en" sz="135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01 Column Indexing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502920" y="1389888"/>
            <a:ext cx="2423160" cy="1444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Access column j across all rows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with  matrix[i][j]  — the core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pattern for 2D list slicing.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3227832" y="868680"/>
            <a:ext cx="2761488" cy="2212848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3410712" y="987552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350"/>
              <a:buFont typeface="Arial"/>
              <a:buNone/>
            </a:pPr>
            <a:r>
              <a:rPr b="1" i="0" lang="en" sz="135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02 Tie-breaking with  &gt;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3410712" y="1389888"/>
            <a:ext cx="2423160" cy="1444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Use  col_sum &gt; max_sum  (not &gt;=)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to preserve the first (smallest)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index when sums are equal.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6135624" y="868680"/>
            <a:ext cx="2761488" cy="2212848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6318504" y="987552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350"/>
              <a:buFont typeface="Arial"/>
              <a:buNone/>
            </a:pPr>
            <a:r>
              <a:rPr b="1" i="0" lang="en" sz="135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03 zip(*matrix) Trick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6318504" y="1389888"/>
            <a:ext cx="2423160" cy="1444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zip(*matrix)  transposes rows into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columns. Each tuple from zip 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one full column ready to sum().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320040" y="3218688"/>
            <a:ext cx="8503920" cy="1691640"/>
          </a:xfrm>
          <a:prstGeom prst="roundRect">
            <a:avLst>
              <a:gd fmla="val 5405" name="adj"/>
            </a:avLst>
          </a:prstGeom>
          <a:solidFill>
            <a:srgbClr val="E8EFF8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566928" y="333756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350"/>
              <a:buFont typeface="Arial"/>
              <a:buNone/>
            </a:pPr>
            <a:r>
              <a:rPr b="1" i="0" lang="en" sz="135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Final Syntax Cheat Sheet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566928" y="3648456"/>
            <a:ext cx="804672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# Nested Loop:   for j in range(cols): col_sum += matrix[i][j]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# 2D Slicing:    col_sums = [sum(matrix[i][j] for i in range(rows)) for j in range(cols)]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#                max_index = col_sums.index(max(col_sums))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# zip + max():   col_sums = [sum(col) for col in zip(*matrix)]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#                max_index, max_sum = max(enumerate(col_sums), key=lambda x: x[1])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320040" y="489204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2 -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