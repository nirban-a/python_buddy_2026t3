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5" roundtripDataSignature="AMtx7mjTJqPYc3VbS7G9tChKi7/tIrmx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customschemas.google.com/relationships/presentationmetadata" Target="metadata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" name="Google Shape;55;p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" name="Google Shape;63;p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" name="Google Shape;84;p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p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7" name="Google Shape;197;p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1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1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1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2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4DC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400"/>
              <a:buFont typeface="Arial"/>
              <a:buNone/>
            </a:pPr>
            <a:r>
              <a:rPr b="1" i="0" lang="en" sz="5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2025 Jan Oppe 1 - Set 3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"/>
          <p:cNvSpPr/>
          <p:nvPr/>
        </p:nvSpPr>
        <p:spPr>
          <a:xfrm>
            <a:off x="457200" y="24231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Arial"/>
              <a:buNone/>
            </a:pPr>
            <a:r>
              <a:rPr b="1" i="0" lang="en" sz="2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Replace Vowels with Next the Alphabet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Section 2 - Problem 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4DC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/>
          <p:nvPr/>
        </p:nvSpPr>
        <p:spPr>
          <a:xfrm>
            <a:off x="320040" y="137160"/>
            <a:ext cx="8503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600"/>
              <a:buFont typeface="Arial"/>
              <a:buNone/>
            </a:pPr>
            <a:r>
              <a:rPr b="1" i="0" lang="en" sz="4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Problem Definition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320040" y="960120"/>
            <a:ext cx="3657600" cy="3931920"/>
          </a:xfrm>
          <a:prstGeom prst="roundRect">
            <a:avLst>
              <a:gd fmla="val 2500" name="adj"/>
            </a:avLst>
          </a:prstGeom>
          <a:solidFill>
            <a:srgbClr val="FFFFFF"/>
          </a:solidFill>
          <a:ln cap="flat" cmpd="sng" w="9525">
            <a:solidFill>
              <a:srgbClr val="D0CB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548640" y="1115568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548640" y="1444752"/>
            <a:ext cx="32461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Write a function</a:t>
            </a:r>
            <a:br>
              <a:rPr b="0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" sz="13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'replace_vowels_with_next_alphabet'</a:t>
            </a:r>
            <a:r>
              <a:rPr b="0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that replaces each vowel in a string with the next letter in the alphabet.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548640" y="2697480"/>
            <a:ext cx="32461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 Case-sensitive: </a:t>
            </a:r>
            <a:r>
              <a:rPr b="0" i="0" lang="en" sz="1300" u="none" cap="none" strike="noStrike">
                <a:solidFill>
                  <a:srgbClr val="2F5496"/>
                </a:solidFill>
                <a:latin typeface="Courier New"/>
                <a:ea typeface="Courier New"/>
                <a:cs typeface="Courier New"/>
                <a:sym typeface="Courier New"/>
              </a:rPr>
              <a:t>'a'→'b'</a:t>
            </a:r>
            <a:r>
              <a:rPr b="0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" sz="1300" u="none" cap="none" strike="noStrike">
                <a:solidFill>
                  <a:srgbClr val="2F5496"/>
                </a:solidFill>
                <a:latin typeface="Courier New"/>
                <a:ea typeface="Courier New"/>
                <a:cs typeface="Courier New"/>
                <a:sym typeface="Courier New"/>
              </a:rPr>
              <a:t>'A'→'B'</a:t>
            </a:r>
            <a:br>
              <a:rPr b="0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 Non-vowels stay unchanged.</a:t>
            </a:r>
            <a:br>
              <a:rPr b="0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 Vowels: </a:t>
            </a:r>
            <a:r>
              <a:rPr b="0" i="0" lang="en" sz="1300" u="none" cap="none" strike="noStrike">
                <a:solidFill>
                  <a:srgbClr val="2F5496"/>
                </a:solidFill>
                <a:latin typeface="Courier New"/>
                <a:ea typeface="Courier New"/>
                <a:cs typeface="Courier New"/>
                <a:sym typeface="Courier New"/>
              </a:rPr>
              <a:t>a, e, i, o, u</a:t>
            </a:r>
            <a:r>
              <a:rPr b="0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(and uppercase).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" name="Google Shape;70;p2"/>
          <p:cNvCxnSpPr/>
          <p:nvPr/>
        </p:nvCxnSpPr>
        <p:spPr>
          <a:xfrm>
            <a:off x="4078224" y="2907792"/>
            <a:ext cx="502920" cy="0"/>
          </a:xfrm>
          <a:prstGeom prst="straightConnector1">
            <a:avLst/>
          </a:prstGeom>
          <a:noFill/>
          <a:ln cap="flat" cmpd="sng" w="25400">
            <a:solidFill>
              <a:srgbClr val="2F549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1" name="Google Shape;71;p2"/>
          <p:cNvSpPr/>
          <p:nvPr/>
        </p:nvSpPr>
        <p:spPr>
          <a:xfrm>
            <a:off x="4663440" y="960120"/>
            <a:ext cx="4160520" cy="3931920"/>
          </a:xfrm>
          <a:prstGeom prst="roundRect">
            <a:avLst>
              <a:gd fmla="val 2326" name="adj"/>
            </a:avLst>
          </a:prstGeom>
          <a:solidFill>
            <a:srgbClr val="FFFFFF"/>
          </a:solidFill>
          <a:ln cap="flat" cmpd="sng" w="9525">
            <a:solidFill>
              <a:srgbClr val="D0CB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4892040" y="111556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EXAMPLE &amp; EXPLANATION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4892040" y="146304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Given input: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4892040" y="175564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ourier New"/>
              <a:buNone/>
            </a:pPr>
            <a:r>
              <a:rPr b="1" i="0" lang="en" sz="14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s = "hello"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4892040" y="2084832"/>
            <a:ext cx="374904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 'h' → not a vowel → 'h'</a:t>
            </a:r>
            <a:b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 'e' → vowel → next letter → </a:t>
            </a:r>
            <a:r>
              <a:rPr b="1" i="0" lang="en" sz="125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'f'</a:t>
            </a:r>
            <a:br>
              <a:rPr b="1" i="0" lang="en" sz="125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 'l' → not a vowel → 'l'</a:t>
            </a:r>
            <a:b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 'l' → not a vowel → 'l'</a:t>
            </a:r>
            <a:b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 'o' → vowel → next letter → </a:t>
            </a:r>
            <a:r>
              <a:rPr b="1" i="0" lang="en" sz="125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'p'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" name="Google Shape;76;p2"/>
          <p:cNvCxnSpPr/>
          <p:nvPr/>
        </p:nvCxnSpPr>
        <p:spPr>
          <a:xfrm>
            <a:off x="4892040" y="3584448"/>
            <a:ext cx="36576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" name="Google Shape;77;p2"/>
          <p:cNvSpPr/>
          <p:nvPr/>
        </p:nvSpPr>
        <p:spPr>
          <a:xfrm>
            <a:off x="4892040" y="370332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Output: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5897880" y="370332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400"/>
              <a:buFont typeface="Courier New"/>
              <a:buNone/>
            </a:pPr>
            <a:r>
              <a:rPr b="1" i="0" lang="en" sz="1400" u="none" cap="none" strike="noStrike">
                <a:solidFill>
                  <a:srgbClr val="2E7D32"/>
                </a:solidFill>
                <a:latin typeface="Courier New"/>
                <a:ea typeface="Courier New"/>
                <a:cs typeface="Courier New"/>
                <a:sym typeface="Courier New"/>
              </a:rPr>
              <a:t>"hfllp"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4892040" y="406908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Also: "heLLO" → </a:t>
            </a:r>
            <a:r>
              <a:rPr b="1" i="0" lang="en" sz="1250" u="none" cap="none" strike="noStrike">
                <a:solidFill>
                  <a:srgbClr val="2E7D32"/>
                </a:solidFill>
                <a:latin typeface="Courier New"/>
                <a:ea typeface="Courier New"/>
                <a:cs typeface="Courier New"/>
                <a:sym typeface="Courier New"/>
              </a:rPr>
              <a:t>"hfLLP"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320040" y="489204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Python Buddy  ·  Section 2 - Problem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4DC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/>
          <p:nvPr/>
        </p:nvSpPr>
        <p:spPr>
          <a:xfrm>
            <a:off x="320040" y="109728"/>
            <a:ext cx="85039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800"/>
              <a:buFont typeface="Arial"/>
              <a:buNone/>
            </a:pPr>
            <a:r>
              <a:rPr b="1" i="0" lang="en" sz="48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The Problem Specification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320040" y="960120"/>
            <a:ext cx="2423160" cy="3520440"/>
          </a:xfrm>
          <a:prstGeom prst="roundRect">
            <a:avLst>
              <a:gd fmla="val 3774" name="adj"/>
            </a:avLst>
          </a:prstGeom>
          <a:solidFill>
            <a:srgbClr val="FFFFFF"/>
          </a:solidFill>
          <a:ln cap="flat" cmpd="sng" w="9525">
            <a:solidFill>
              <a:srgbClr val="D0CB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502920" y="1115568"/>
            <a:ext cx="2057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502920" y="1508760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Courier New"/>
              <a:buNone/>
            </a:pPr>
            <a:r>
              <a:rPr b="1" i="0" lang="en" sz="20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s (str)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502920" y="2084832"/>
            <a:ext cx="2057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 string that may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contain vowels and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non-vowels.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" name="Google Shape;91;p3"/>
          <p:cNvCxnSpPr/>
          <p:nvPr/>
        </p:nvCxnSpPr>
        <p:spPr>
          <a:xfrm>
            <a:off x="2834640" y="2720340"/>
            <a:ext cx="594360" cy="0"/>
          </a:xfrm>
          <a:prstGeom prst="straightConnector1">
            <a:avLst/>
          </a:prstGeom>
          <a:noFill/>
          <a:ln cap="flat" cmpd="sng" w="25400">
            <a:solidFill>
              <a:srgbClr val="2F549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2" name="Google Shape;92;p3"/>
          <p:cNvSpPr/>
          <p:nvPr/>
        </p:nvSpPr>
        <p:spPr>
          <a:xfrm>
            <a:off x="3493008" y="960120"/>
            <a:ext cx="2697480" cy="3520440"/>
          </a:xfrm>
          <a:prstGeom prst="roundRect">
            <a:avLst>
              <a:gd fmla="val 3390" name="adj"/>
            </a:avLst>
          </a:prstGeom>
          <a:solidFill>
            <a:srgbClr val="FFFFFF"/>
          </a:solidFill>
          <a:ln cap="flat" cmpd="sng" w="9525">
            <a:solidFill>
              <a:srgbClr val="D0CB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3675888" y="1115568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THE BLACK BOX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3675888" y="1481328"/>
            <a:ext cx="237744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b="0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Scan each char</a:t>
            </a:r>
            <a:br>
              <a:rPr b="0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b="0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Check if vowel</a:t>
            </a:r>
            <a:br>
              <a:rPr b="0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   (in 'aeiouAEIOU')</a:t>
            </a:r>
            <a:br>
              <a:rPr b="0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b="0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If yes → </a:t>
            </a:r>
            <a:r>
              <a:rPr b="0" i="0" lang="en" sz="1300" u="none" cap="none" strike="noStrike">
                <a:solidFill>
                  <a:srgbClr val="2F5496"/>
                </a:solidFill>
                <a:latin typeface="Courier New"/>
                <a:ea typeface="Courier New"/>
                <a:cs typeface="Courier New"/>
                <a:sym typeface="Courier New"/>
              </a:rPr>
              <a:t>chr(ord(c)+1)</a:t>
            </a:r>
            <a:br>
              <a:rPr b="0" i="0" lang="en" sz="1300" u="none" cap="none" strike="noStrike">
                <a:solidFill>
                  <a:srgbClr val="2F5496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" sz="1300" u="none" cap="none" strike="noStrike">
                <a:solidFill>
                  <a:srgbClr val="2F5496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4. </a:t>
            </a:r>
            <a:r>
              <a:rPr b="0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If no → keep as 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3"/>
          <p:cNvCxnSpPr/>
          <p:nvPr/>
        </p:nvCxnSpPr>
        <p:spPr>
          <a:xfrm>
            <a:off x="6281928" y="2720340"/>
            <a:ext cx="594360" cy="0"/>
          </a:xfrm>
          <a:prstGeom prst="straightConnector1">
            <a:avLst/>
          </a:prstGeom>
          <a:noFill/>
          <a:ln cap="flat" cmpd="sng" w="25400">
            <a:solidFill>
              <a:srgbClr val="2F549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6" name="Google Shape;96;p3"/>
          <p:cNvSpPr/>
          <p:nvPr/>
        </p:nvSpPr>
        <p:spPr>
          <a:xfrm>
            <a:off x="6949440" y="960120"/>
            <a:ext cx="1874520" cy="3520440"/>
          </a:xfrm>
          <a:prstGeom prst="roundRect">
            <a:avLst>
              <a:gd fmla="val 4878" name="adj"/>
            </a:avLst>
          </a:prstGeom>
          <a:solidFill>
            <a:srgbClr val="FFFFFF"/>
          </a:solidFill>
          <a:ln cap="flat" cmpd="sng" w="9525">
            <a:solidFill>
              <a:srgbClr val="D0CB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7114032" y="1115568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7114032" y="1572768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Courier New"/>
              <a:buNone/>
            </a:pPr>
            <a:r>
              <a:rPr b="1" i="0" lang="en" sz="3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str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7114032" y="2240280"/>
            <a:ext cx="1554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Modified string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with vowels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replaced.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320040" y="4553712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22A"/>
              </a:buClr>
              <a:buSzPts val="1150"/>
              <a:buFont typeface="Courier New"/>
              <a:buNone/>
            </a:pPr>
            <a:r>
              <a:rPr b="1" i="0" lang="en" sz="1150" u="none" cap="none" strike="noStrike">
                <a:solidFill>
                  <a:srgbClr val="C0522A"/>
                </a:solidFill>
                <a:latin typeface="Courier New"/>
                <a:ea typeface="Courier New"/>
                <a:cs typeface="Courier New"/>
                <a:sym typeface="Courier New"/>
              </a:rPr>
              <a:t>Constraint: </a:t>
            </a:r>
            <a:r>
              <a:rPr b="0" i="0" lang="en" sz="1150" u="none" cap="none" strike="noStrike">
                <a:solidFill>
                  <a:srgbClr val="C0522A"/>
                </a:solidFill>
                <a:latin typeface="Courier New"/>
                <a:ea typeface="Courier New"/>
                <a:cs typeface="Courier New"/>
                <a:sym typeface="Courier New"/>
              </a:rPr>
              <a:t>The function is case-sensitive. </a:t>
            </a:r>
            <a:r>
              <a:rPr b="1" i="0" lang="en" sz="1150" u="none" cap="none" strike="noStrike">
                <a:solidFill>
                  <a:srgbClr val="C0522A"/>
                </a:solidFill>
                <a:latin typeface="Courier New"/>
                <a:ea typeface="Courier New"/>
                <a:cs typeface="Courier New"/>
                <a:sym typeface="Courier New"/>
              </a:rPr>
              <a:t>'a'→'b'</a:t>
            </a:r>
            <a:r>
              <a:rPr b="0" i="0" lang="en" sz="1150" u="none" cap="none" strike="noStrike">
                <a:solidFill>
                  <a:srgbClr val="C0522A"/>
                </a:solidFill>
                <a:latin typeface="Courier New"/>
                <a:ea typeface="Courier New"/>
                <a:cs typeface="Courier New"/>
                <a:sym typeface="Courier New"/>
              </a:rPr>
              <a:t> but </a:t>
            </a:r>
            <a:r>
              <a:rPr b="1" i="0" lang="en" sz="1150" u="none" cap="none" strike="noStrike">
                <a:solidFill>
                  <a:srgbClr val="C0522A"/>
                </a:solidFill>
                <a:latin typeface="Courier New"/>
                <a:ea typeface="Courier New"/>
                <a:cs typeface="Courier New"/>
                <a:sym typeface="Courier New"/>
              </a:rPr>
              <a:t>'A'→'B'</a:t>
            </a:r>
            <a:r>
              <a:rPr b="0" i="0" lang="en" sz="1150" u="none" cap="none" strike="noStrike">
                <a:solidFill>
                  <a:srgbClr val="C0522A"/>
                </a:solidFill>
                <a:latin typeface="Courier New"/>
                <a:ea typeface="Courier New"/>
                <a:cs typeface="Courier New"/>
                <a:sym typeface="Courier New"/>
              </a:rPr>
              <a:t> (ASCII shift works for both)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320040" y="489204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Python Buddy  ·  Section 2 - Problem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4DC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/>
          <p:nvPr/>
        </p:nvSpPr>
        <p:spPr>
          <a:xfrm>
            <a:off x="320040" y="109728"/>
            <a:ext cx="85039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800"/>
              <a:buFont typeface="Arial"/>
              <a:buNone/>
            </a:pPr>
            <a:r>
              <a:rPr b="1" i="0" lang="en" sz="48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Visualizing the Operations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320090" y="901350"/>
            <a:ext cx="8503800" cy="4041600"/>
          </a:xfrm>
          <a:prstGeom prst="roundRect">
            <a:avLst>
              <a:gd fmla="val 2262" name="adj"/>
            </a:avLst>
          </a:prstGeom>
          <a:solidFill>
            <a:srgbClr val="FFFFFF"/>
          </a:solidFill>
          <a:ln cap="flat" cmpd="sng" w="9525">
            <a:solidFill>
              <a:srgbClr val="D0CB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594360" y="1078992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ourier New"/>
              <a:buNone/>
            </a:pPr>
            <a:r>
              <a:rPr b="1" i="0" lang="en" sz="16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Example:  s = "hello"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594360" y="150876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Step 1: Characters in the string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822960" y="1828800"/>
            <a:ext cx="713232" cy="658368"/>
          </a:xfrm>
          <a:prstGeom prst="roundRect">
            <a:avLst>
              <a:gd fmla="val 8333" name="adj"/>
            </a:avLst>
          </a:prstGeom>
          <a:solidFill>
            <a:srgbClr val="B8CDE0"/>
          </a:solidFill>
          <a:ln cap="flat" cmpd="sng" w="9525">
            <a:solidFill>
              <a:srgbClr val="9AB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822960" y="1828800"/>
            <a:ext cx="7132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Courier New"/>
              <a:buNone/>
            </a:pPr>
            <a:r>
              <a:rPr b="1" i="0" lang="en" sz="2800" u="none" cap="none" strike="noStrike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h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822960" y="2523744"/>
            <a:ext cx="71323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1645920" y="1828800"/>
            <a:ext cx="713232" cy="658368"/>
          </a:xfrm>
          <a:prstGeom prst="roundRect">
            <a:avLst>
              <a:gd fmla="val 8333" name="adj"/>
            </a:avLst>
          </a:prstGeom>
          <a:solidFill>
            <a:srgbClr val="7EB0D9"/>
          </a:solidFill>
          <a:ln cap="flat" cmpd="sng" w="9525">
            <a:solidFill>
              <a:srgbClr val="4A80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1645920" y="1828800"/>
            <a:ext cx="7132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ourier New"/>
              <a:buNone/>
            </a:pPr>
            <a:r>
              <a:rPr b="1" i="0" lang="en" sz="2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1645920" y="2523744"/>
            <a:ext cx="71323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2468880" y="1828800"/>
            <a:ext cx="713232" cy="658368"/>
          </a:xfrm>
          <a:prstGeom prst="roundRect">
            <a:avLst>
              <a:gd fmla="val 8333" name="adj"/>
            </a:avLst>
          </a:prstGeom>
          <a:solidFill>
            <a:srgbClr val="B8CDE0"/>
          </a:solidFill>
          <a:ln cap="flat" cmpd="sng" w="9525">
            <a:solidFill>
              <a:srgbClr val="9AB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2468880" y="1828800"/>
            <a:ext cx="7132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Courier New"/>
              <a:buNone/>
            </a:pPr>
            <a:r>
              <a:rPr b="1" i="0" lang="en" sz="2800" u="none" cap="none" strike="noStrike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2468880" y="2523744"/>
            <a:ext cx="71323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3291840" y="1828800"/>
            <a:ext cx="713232" cy="658368"/>
          </a:xfrm>
          <a:prstGeom prst="roundRect">
            <a:avLst>
              <a:gd fmla="val 8333" name="adj"/>
            </a:avLst>
          </a:prstGeom>
          <a:solidFill>
            <a:srgbClr val="B8CDE0"/>
          </a:solidFill>
          <a:ln cap="flat" cmpd="sng" w="9525">
            <a:solidFill>
              <a:srgbClr val="9AB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3291840" y="1828800"/>
            <a:ext cx="7132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Courier New"/>
              <a:buNone/>
            </a:pPr>
            <a:r>
              <a:rPr b="1" i="0" lang="en" sz="2800" u="none" cap="none" strike="noStrike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3291840" y="2523744"/>
            <a:ext cx="71323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4114800" y="1828800"/>
            <a:ext cx="713232" cy="658368"/>
          </a:xfrm>
          <a:prstGeom prst="roundRect">
            <a:avLst>
              <a:gd fmla="val 8333" name="adj"/>
            </a:avLst>
          </a:prstGeom>
          <a:solidFill>
            <a:srgbClr val="7EB0D9"/>
          </a:solidFill>
          <a:ln cap="flat" cmpd="sng" w="9525">
            <a:solidFill>
              <a:srgbClr val="4A80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4114800" y="1828800"/>
            <a:ext cx="7132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ourier New"/>
              <a:buNone/>
            </a:pPr>
            <a:r>
              <a:rPr b="1" i="0" lang="en" sz="2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4114800" y="2523744"/>
            <a:ext cx="71323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5577840" y="1901952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= vowel (gets replaced)    = stays the same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5532120" y="1920240"/>
            <a:ext cx="164592" cy="164592"/>
          </a:xfrm>
          <a:prstGeom prst="rect">
            <a:avLst/>
          </a:prstGeom>
          <a:solidFill>
            <a:srgbClr val="7EB0D9"/>
          </a:solidFill>
          <a:ln cap="flat" cmpd="sng" w="9525">
            <a:solidFill>
              <a:srgbClr val="4A80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5532120" y="2176272"/>
            <a:ext cx="164592" cy="164592"/>
          </a:xfrm>
          <a:prstGeom prst="rect">
            <a:avLst/>
          </a:prstGeom>
          <a:solidFill>
            <a:srgbClr val="B8CDE0"/>
          </a:solidFill>
          <a:ln cap="flat" cmpd="sng" w="9525">
            <a:solidFill>
              <a:srgbClr val="9AB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594360" y="2834638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Step 2: Apply the vowel rule  →  chr(ord(c) + 1)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822948" y="3170047"/>
            <a:ext cx="713100" cy="658500"/>
          </a:xfrm>
          <a:prstGeom prst="roundRect">
            <a:avLst>
              <a:gd fmla="val 8333" name="adj"/>
            </a:avLst>
          </a:prstGeom>
          <a:solidFill>
            <a:srgbClr val="D4C9B8"/>
          </a:solidFill>
          <a:ln cap="flat" cmpd="sng" w="9525">
            <a:solidFill>
              <a:srgbClr val="B8AD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823010" y="3169060"/>
            <a:ext cx="7131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2800"/>
              <a:buFont typeface="Courier New"/>
              <a:buNone/>
            </a:pPr>
            <a:r>
              <a:rPr b="1" i="0" lang="en" sz="2800" u="none" cap="none" strike="noStrike">
                <a:solidFill>
                  <a:srgbClr val="555555"/>
                </a:solidFill>
                <a:latin typeface="Courier New"/>
                <a:ea typeface="Courier New"/>
                <a:cs typeface="Courier New"/>
                <a:sym typeface="Courier New"/>
              </a:rPr>
              <a:t>h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1645908" y="3170047"/>
            <a:ext cx="713100" cy="658500"/>
          </a:xfrm>
          <a:prstGeom prst="roundRect">
            <a:avLst>
              <a:gd fmla="val 8333" name="adj"/>
            </a:avLst>
          </a:prstGeom>
          <a:solidFill>
            <a:srgbClr val="E8943A"/>
          </a:solidFill>
          <a:ln cap="flat" cmpd="sng" w="9525">
            <a:solidFill>
              <a:srgbClr val="C07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1645970" y="3169060"/>
            <a:ext cx="7131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ourier New"/>
              <a:buNone/>
            </a:pPr>
            <a:r>
              <a:rPr b="1" i="0" lang="en" sz="2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2468868" y="3170047"/>
            <a:ext cx="713100" cy="658500"/>
          </a:xfrm>
          <a:prstGeom prst="roundRect">
            <a:avLst>
              <a:gd fmla="val 8333" name="adj"/>
            </a:avLst>
          </a:prstGeom>
          <a:solidFill>
            <a:srgbClr val="D4C9B8"/>
          </a:solidFill>
          <a:ln cap="flat" cmpd="sng" w="9525">
            <a:solidFill>
              <a:srgbClr val="B8AD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2468930" y="3169060"/>
            <a:ext cx="7131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2800"/>
              <a:buFont typeface="Courier New"/>
              <a:buNone/>
            </a:pPr>
            <a:r>
              <a:rPr b="1" i="0" lang="en" sz="2800" u="none" cap="none" strike="noStrike">
                <a:solidFill>
                  <a:srgbClr val="555555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3291828" y="3170047"/>
            <a:ext cx="713100" cy="658500"/>
          </a:xfrm>
          <a:prstGeom prst="roundRect">
            <a:avLst>
              <a:gd fmla="val 8333" name="adj"/>
            </a:avLst>
          </a:prstGeom>
          <a:solidFill>
            <a:srgbClr val="D4C9B8"/>
          </a:solidFill>
          <a:ln cap="flat" cmpd="sng" w="9525">
            <a:solidFill>
              <a:srgbClr val="B8AD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3291890" y="3169060"/>
            <a:ext cx="7131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2800"/>
              <a:buFont typeface="Courier New"/>
              <a:buNone/>
            </a:pPr>
            <a:r>
              <a:rPr b="1" i="0" lang="en" sz="2800" u="none" cap="none" strike="noStrike">
                <a:solidFill>
                  <a:srgbClr val="555555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4114788" y="3170047"/>
            <a:ext cx="713100" cy="658500"/>
          </a:xfrm>
          <a:prstGeom prst="roundRect">
            <a:avLst>
              <a:gd fmla="val 8333" name="adj"/>
            </a:avLst>
          </a:prstGeom>
          <a:solidFill>
            <a:srgbClr val="E8943A"/>
          </a:solidFill>
          <a:ln cap="flat" cmpd="sng" w="9525">
            <a:solidFill>
              <a:srgbClr val="C07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4114850" y="3169060"/>
            <a:ext cx="7131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ourier New"/>
              <a:buNone/>
            </a:pPr>
            <a:r>
              <a:rPr b="1" i="0" lang="en" sz="2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" name="Google Shape;140;p4"/>
          <p:cNvCxnSpPr/>
          <p:nvPr/>
        </p:nvCxnSpPr>
        <p:spPr>
          <a:xfrm>
            <a:off x="4571250" y="2571750"/>
            <a:ext cx="4800" cy="404100"/>
          </a:xfrm>
          <a:prstGeom prst="straightConnector1">
            <a:avLst/>
          </a:prstGeom>
          <a:noFill/>
          <a:ln cap="flat" cmpd="sng" w="19050">
            <a:solidFill>
              <a:srgbClr val="C0522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1" name="Google Shape;141;p4"/>
          <p:cNvSpPr/>
          <p:nvPr/>
        </p:nvSpPr>
        <p:spPr>
          <a:xfrm>
            <a:off x="5577840" y="3218688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400"/>
              <a:buFont typeface="Courier New"/>
              <a:buNone/>
            </a:pPr>
            <a:r>
              <a:rPr b="1" i="0" lang="en" sz="1400" u="none" cap="none" strike="noStrike">
                <a:solidFill>
                  <a:srgbClr val="2E7D32"/>
                </a:solidFill>
                <a:latin typeface="Courier New"/>
                <a:ea typeface="Courier New"/>
                <a:cs typeface="Courier New"/>
                <a:sym typeface="Courier New"/>
              </a:rPr>
              <a:t>Result: "hfllp"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5577840" y="361188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✓ Vowels replaced,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  others unchanged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320040" y="489204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Python Buddy  ·  Section 2 - Problem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" name="Google Shape;144;p4"/>
          <p:cNvCxnSpPr/>
          <p:nvPr/>
        </p:nvCxnSpPr>
        <p:spPr>
          <a:xfrm>
            <a:off x="2092725" y="2532900"/>
            <a:ext cx="1500" cy="351000"/>
          </a:xfrm>
          <a:prstGeom prst="straightConnector1">
            <a:avLst/>
          </a:prstGeom>
          <a:noFill/>
          <a:ln cap="flat" cmpd="sng" w="19050">
            <a:solidFill>
              <a:srgbClr val="C0522A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4DC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"/>
          <p:cNvSpPr/>
          <p:nvPr/>
        </p:nvSpPr>
        <p:spPr>
          <a:xfrm>
            <a:off x="320040" y="109728"/>
            <a:ext cx="8503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600"/>
              <a:buFont typeface="Arial"/>
              <a:buNone/>
            </a:pPr>
            <a:r>
              <a:rPr b="1" i="0" lang="en" sz="4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The Explanatory Approach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320040" y="749808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Step-by-step: loop through string, check each character, rebuild.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320040" y="1115568"/>
            <a:ext cx="5989320" cy="3611880"/>
          </a:xfrm>
          <a:prstGeom prst="roundRect">
            <a:avLst>
              <a:gd fmla="val 2532" name="adj"/>
            </a:avLst>
          </a:prstGeom>
          <a:solidFill>
            <a:srgbClr val="FFFFFF"/>
          </a:solidFill>
          <a:ln cap="flat" cmpd="sng" w="9525">
            <a:solidFill>
              <a:srgbClr val="D0CB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502920" y="1234440"/>
            <a:ext cx="5623560" cy="3401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urier New"/>
              <a:buNone/>
            </a:pPr>
            <a:r>
              <a:rPr b="0" i="0" lang="en" sz="13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def replace_vowels_with_next_alphabet(s: str) -&gt; str: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urier New"/>
              <a:buNone/>
            </a:pPr>
            <a:r>
              <a:rPr b="0" i="0" lang="en" sz="13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vowels = "aeiouAEIOU"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urier New"/>
              <a:buNone/>
            </a:pPr>
            <a:r>
              <a:rPr b="0" i="0" lang="en" sz="13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result = []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urier New"/>
              <a:buNone/>
            </a:pPr>
            <a:r>
              <a:rPr b="0" i="0" lang="en" sz="13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urier New"/>
              <a:buNone/>
            </a:pPr>
            <a:r>
              <a:rPr b="0" i="0" lang="en" sz="13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for c in 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urier New"/>
              <a:buNone/>
            </a:pPr>
            <a:r>
              <a:rPr b="0" i="0" lang="en" sz="13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if c in vowels: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urier New"/>
              <a:buNone/>
            </a:pPr>
            <a:r>
              <a:rPr b="0" i="0" lang="en" sz="13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# Get next letter via ASCII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urier New"/>
              <a:buNone/>
            </a:pPr>
            <a:r>
              <a:rPr b="0" i="0" lang="en" sz="13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result.append(chr(ord(c) + 1))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urier New"/>
              <a:buNone/>
            </a:pPr>
            <a:r>
              <a:rPr b="0" i="0" lang="en" sz="13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else: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urier New"/>
              <a:buNone/>
            </a:pPr>
            <a:r>
              <a:rPr b="0" i="0" lang="en" sz="13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result.append(c)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urier New"/>
              <a:buNone/>
            </a:pPr>
            <a:r>
              <a:rPr b="0" i="0" lang="en" sz="13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urier New"/>
              <a:buNone/>
            </a:pPr>
            <a:r>
              <a:rPr b="0" i="0" lang="en" sz="13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"".join(result)</a:t>
            </a:r>
            <a:endParaRPr b="0" i="0" sz="1300" u="none" cap="none" strike="noStrike">
              <a:solidFill>
                <a:srgbClr val="1A1A1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urier New"/>
              <a:buNone/>
            </a:pPr>
            <a:r>
              <a:t/>
            </a:r>
            <a:endParaRPr sz="1300">
              <a:solidFill>
                <a:srgbClr val="1A1A1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urier New"/>
              <a:buNone/>
            </a:pPr>
            <a:r>
              <a:t/>
            </a:r>
            <a:endParaRPr sz="1300">
              <a:solidFill>
                <a:srgbClr val="1A1A1A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54" name="Google Shape;154;p5"/>
          <p:cNvCxnSpPr/>
          <p:nvPr/>
        </p:nvCxnSpPr>
        <p:spPr>
          <a:xfrm>
            <a:off x="6373368" y="1682496"/>
            <a:ext cx="320040" cy="0"/>
          </a:xfrm>
          <a:prstGeom prst="straightConnector1">
            <a:avLst/>
          </a:prstGeom>
          <a:noFill/>
          <a:ln cap="flat" cmpd="sng" w="25400">
            <a:solidFill>
              <a:srgbClr val="C052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" name="Google Shape;155;p5"/>
          <p:cNvSpPr/>
          <p:nvPr/>
        </p:nvSpPr>
        <p:spPr>
          <a:xfrm>
            <a:off x="6748272" y="1572768"/>
            <a:ext cx="20299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22A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C0522A"/>
                </a:solidFill>
                <a:latin typeface="Arial"/>
                <a:ea typeface="Arial"/>
                <a:cs typeface="Arial"/>
                <a:sym typeface="Arial"/>
              </a:rPr>
              <a:t>Define vowels as 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22A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C0522A"/>
                </a:solidFill>
                <a:latin typeface="Arial"/>
                <a:ea typeface="Arial"/>
                <a:cs typeface="Arial"/>
                <a:sym typeface="Arial"/>
              </a:rPr>
              <a:t>lookup string.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" name="Google Shape;156;p5"/>
          <p:cNvCxnSpPr/>
          <p:nvPr/>
        </p:nvCxnSpPr>
        <p:spPr>
          <a:xfrm>
            <a:off x="6373368" y="2011680"/>
            <a:ext cx="320040" cy="0"/>
          </a:xfrm>
          <a:prstGeom prst="straightConnector1">
            <a:avLst/>
          </a:prstGeom>
          <a:noFill/>
          <a:ln cap="flat" cmpd="sng" w="25400">
            <a:solidFill>
              <a:srgbClr val="C052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" name="Google Shape;157;p5"/>
          <p:cNvSpPr/>
          <p:nvPr/>
        </p:nvSpPr>
        <p:spPr>
          <a:xfrm>
            <a:off x="6748272" y="1901952"/>
            <a:ext cx="20299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22A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C0522A"/>
                </a:solidFill>
                <a:latin typeface="Arial"/>
                <a:ea typeface="Arial"/>
                <a:cs typeface="Arial"/>
                <a:sym typeface="Arial"/>
              </a:rPr>
              <a:t>List to build result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22A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C0522A"/>
                </a:solidFill>
                <a:latin typeface="Arial"/>
                <a:ea typeface="Arial"/>
                <a:cs typeface="Arial"/>
                <a:sym typeface="Arial"/>
              </a:rPr>
              <a:t>one char at a time.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8" name="Google Shape;158;p5"/>
          <p:cNvCxnSpPr/>
          <p:nvPr/>
        </p:nvCxnSpPr>
        <p:spPr>
          <a:xfrm>
            <a:off x="6373368" y="2715768"/>
            <a:ext cx="320040" cy="0"/>
          </a:xfrm>
          <a:prstGeom prst="straightConnector1">
            <a:avLst/>
          </a:prstGeom>
          <a:noFill/>
          <a:ln cap="flat" cmpd="sng" w="25400">
            <a:solidFill>
              <a:srgbClr val="C052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9" name="Google Shape;159;p5"/>
          <p:cNvSpPr/>
          <p:nvPr/>
        </p:nvSpPr>
        <p:spPr>
          <a:xfrm>
            <a:off x="6748272" y="2606040"/>
            <a:ext cx="20299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22A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C0522A"/>
                </a:solidFill>
                <a:latin typeface="Arial"/>
                <a:ea typeface="Arial"/>
                <a:cs typeface="Arial"/>
                <a:sym typeface="Arial"/>
              </a:rPr>
              <a:t>ord() → ASCII int,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22A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C0522A"/>
                </a:solidFill>
                <a:latin typeface="Arial"/>
                <a:ea typeface="Arial"/>
                <a:cs typeface="Arial"/>
                <a:sym typeface="Arial"/>
              </a:rPr>
              <a:t>+1 shifts one letter,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22A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C0522A"/>
                </a:solidFill>
                <a:latin typeface="Arial"/>
                <a:ea typeface="Arial"/>
                <a:cs typeface="Arial"/>
                <a:sym typeface="Arial"/>
              </a:rPr>
              <a:t>chr() → back to char.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" name="Google Shape;160;p5"/>
          <p:cNvCxnSpPr/>
          <p:nvPr/>
        </p:nvCxnSpPr>
        <p:spPr>
          <a:xfrm>
            <a:off x="6373368" y="3538728"/>
            <a:ext cx="320040" cy="0"/>
          </a:xfrm>
          <a:prstGeom prst="straightConnector1">
            <a:avLst/>
          </a:prstGeom>
          <a:noFill/>
          <a:ln cap="flat" cmpd="sng" w="25400">
            <a:solidFill>
              <a:srgbClr val="C052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" name="Google Shape;161;p5"/>
          <p:cNvSpPr/>
          <p:nvPr/>
        </p:nvSpPr>
        <p:spPr>
          <a:xfrm>
            <a:off x="6748272" y="3429000"/>
            <a:ext cx="20299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22A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C0522A"/>
                </a:solidFill>
                <a:latin typeface="Arial"/>
                <a:ea typeface="Arial"/>
                <a:cs typeface="Arial"/>
                <a:sym typeface="Arial"/>
              </a:rPr>
              <a:t>Join list into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22A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C0522A"/>
                </a:solidFill>
                <a:latin typeface="Arial"/>
                <a:ea typeface="Arial"/>
                <a:cs typeface="Arial"/>
                <a:sym typeface="Arial"/>
              </a:rPr>
              <a:t>a final string.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320040" y="489204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Python Buddy  ·  Section 2 - Problem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4DC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"/>
          <p:cNvSpPr/>
          <p:nvPr/>
        </p:nvSpPr>
        <p:spPr>
          <a:xfrm>
            <a:off x="320040" y="109728"/>
            <a:ext cx="8503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600"/>
              <a:buFont typeface="Arial"/>
              <a:buNone/>
            </a:pPr>
            <a:r>
              <a:rPr b="1" i="0" lang="en" sz="4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The Pythonic Optimization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320040" y="749808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One-liner using a generator expression and join().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320040" y="1115568"/>
            <a:ext cx="8503920" cy="1481328"/>
          </a:xfrm>
          <a:prstGeom prst="roundRect">
            <a:avLst>
              <a:gd fmla="val 6173" name="adj"/>
            </a:avLst>
          </a:prstGeom>
          <a:solidFill>
            <a:srgbClr val="FFFFFF"/>
          </a:solidFill>
          <a:ln cap="flat" cmpd="sng" w="9525">
            <a:solidFill>
              <a:srgbClr val="D0CB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548640" y="1207008"/>
            <a:ext cx="82296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50"/>
              <a:buFont typeface="Courier New"/>
              <a:buNone/>
            </a:pPr>
            <a:r>
              <a:rPr b="0" i="0" lang="en" sz="14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def replace_vowels_with_next_alphabet(s: str) -&gt; str: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50"/>
              <a:buFont typeface="Courier New"/>
              <a:buNone/>
            </a:pPr>
            <a:r>
              <a:rPr b="0" i="0" lang="en" sz="14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"".join(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50"/>
              <a:buFont typeface="Courier New"/>
              <a:buNone/>
            </a:pPr>
            <a:r>
              <a:rPr b="0" i="0" lang="en" sz="14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chr(ord(c) + 1) if c in "aeiouAEIOU" else c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50"/>
              <a:buFont typeface="Courier New"/>
              <a:buNone/>
            </a:pPr>
            <a:r>
              <a:rPr b="0" i="0" lang="en" sz="14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for c in 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50"/>
              <a:buFont typeface="Courier New"/>
              <a:buNone/>
            </a:pPr>
            <a:r>
              <a:rPr b="0" i="0" lang="en" sz="14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320040" y="2788920"/>
            <a:ext cx="8503920" cy="2084832"/>
          </a:xfrm>
          <a:prstGeom prst="roundRect">
            <a:avLst>
              <a:gd fmla="val 4386" name="adj"/>
            </a:avLst>
          </a:prstGeom>
          <a:solidFill>
            <a:srgbClr val="E8EFF8"/>
          </a:solidFill>
          <a:ln cap="flat" cmpd="sng" w="9525">
            <a:solidFill>
              <a:srgbClr val="D0CB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566928" y="2907792"/>
            <a:ext cx="8046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How the generator expression works: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566928" y="324612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The  </a:t>
            </a:r>
            <a:r>
              <a:rPr b="1" i="0" lang="en" sz="1300" u="none" cap="none" strike="noStrike">
                <a:solidFill>
                  <a:srgbClr val="2E7D32"/>
                </a:solidFill>
                <a:latin typeface="Courier New"/>
                <a:ea typeface="Courier New"/>
                <a:cs typeface="Courier New"/>
                <a:sym typeface="Courier New"/>
              </a:rPr>
              <a:t>|  ... for c in s</a:t>
            </a:r>
            <a:r>
              <a:rPr b="0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 part iterates every character.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566928" y="356616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300"/>
              <a:buFont typeface="Courier New"/>
              <a:buNone/>
            </a:pPr>
            <a:r>
              <a:rPr b="0" i="0" lang="en" sz="1300" u="none" cap="none" strike="noStrike">
                <a:solidFill>
                  <a:srgbClr val="2E7D32"/>
                </a:solidFill>
                <a:latin typeface="Courier New"/>
                <a:ea typeface="Courier New"/>
                <a:cs typeface="Courier New"/>
                <a:sym typeface="Courier New"/>
              </a:rPr>
              <a:t>chr(ord(c) + 1) if c in "aeiouAEIOU" else c</a:t>
            </a:r>
            <a:r>
              <a:rPr b="0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 → inline ternary: replace vowel OR keep character.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566928" y="3904488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300"/>
              <a:buFont typeface="Courier New"/>
              <a:buNone/>
            </a:pPr>
            <a:r>
              <a:rPr b="0" i="0" lang="en" sz="1300" u="none" cap="none" strike="noStrike">
                <a:solidFill>
                  <a:srgbClr val="2E7D32"/>
                </a:solidFill>
                <a:latin typeface="Courier New"/>
                <a:ea typeface="Courier New"/>
                <a:cs typeface="Courier New"/>
                <a:sym typeface="Courier New"/>
              </a:rPr>
              <a:t>"".join(...)</a:t>
            </a:r>
            <a:r>
              <a:rPr b="0" i="0" lang="en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 collects all results into the final string — no temporary list needed.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320040" y="489204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Python Buddy  ·  Section 2 - Problem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4DC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"/>
          <p:cNvSpPr/>
          <p:nvPr/>
        </p:nvSpPr>
        <p:spPr>
          <a:xfrm>
            <a:off x="320040" y="109728"/>
            <a:ext cx="85039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800"/>
              <a:buFont typeface="Arial"/>
              <a:buNone/>
            </a:pPr>
            <a:r>
              <a:rPr b="1" i="0" lang="en" sz="48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Solution Comparison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" name="Google Shape;184;p7"/>
          <p:cNvCxnSpPr/>
          <p:nvPr/>
        </p:nvCxnSpPr>
        <p:spPr>
          <a:xfrm>
            <a:off x="4572000" y="960120"/>
            <a:ext cx="0" cy="3977640"/>
          </a:xfrm>
          <a:prstGeom prst="straightConnector1">
            <a:avLst/>
          </a:prstGeom>
          <a:noFill/>
          <a:ln cap="flat" cmpd="sng" w="152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5" name="Google Shape;185;p7"/>
          <p:cNvSpPr/>
          <p:nvPr/>
        </p:nvSpPr>
        <p:spPr>
          <a:xfrm>
            <a:off x="1005840" y="1024128"/>
            <a:ext cx="2560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4400"/>
              <a:buFont typeface="Arial"/>
              <a:buNone/>
            </a:pPr>
            <a:r>
              <a:rPr b="0" i="0" lang="en" sz="440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↻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457200" y="173736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List + Loop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594360" y="2176272"/>
            <a:ext cx="374904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 Easy to follow step-by-step.</a:t>
            </a:r>
            <a:br>
              <a:rPr b="0" i="0" lang="en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 Clear variable names.</a:t>
            </a:r>
            <a:br>
              <a:rPr b="0" i="0" lang="en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 Works with any iterable.</a:t>
            </a:r>
            <a:br>
              <a:rPr b="0" i="0" lang="en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 Best for: Beginners &amp; clarity.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457200" y="379476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Courier New"/>
              <a:buNone/>
            </a:pPr>
            <a:r>
              <a:rPr b="0" i="0" lang="en" sz="130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return "".join(result)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4754880" y="1024128"/>
            <a:ext cx="3931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4200"/>
              <a:buFont typeface="Arial"/>
              <a:buNone/>
            </a:pPr>
            <a:r>
              <a:rPr b="0" i="0" lang="en" sz="420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⚡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4754880" y="1737360"/>
            <a:ext cx="3931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Generator + join()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4892040" y="2176272"/>
            <a:ext cx="374904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 Concise one-liner.</a:t>
            </a:r>
            <a:br>
              <a:rPr b="0" i="0" lang="en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 No temp list in memory.</a:t>
            </a:r>
            <a:br>
              <a:rPr b="0" i="0" lang="en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 Idiomatic Python style.</a:t>
            </a:r>
            <a:br>
              <a:rPr b="0" i="0" lang="en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 Best for: Clean code &amp; interviews.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4754880" y="3749040"/>
            <a:ext cx="3931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"".join(chr(ord(c)+1) if c in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"aeiouAEIOU" else c for c in s)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320040" y="489204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Python Buddy  ·  Section 2 - Problem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4DC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800"/>
              <a:buFont typeface="Arial"/>
              <a:buNone/>
            </a:pPr>
            <a:r>
              <a:rPr b="1" i="0" lang="en" sz="48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Key Takeaways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320040" y="868680"/>
            <a:ext cx="2761488" cy="2212848"/>
          </a:xfrm>
          <a:prstGeom prst="roundRect">
            <a:avLst>
              <a:gd fmla="val 4132" name="adj"/>
            </a:avLst>
          </a:prstGeom>
          <a:solidFill>
            <a:srgbClr val="FFFFFF"/>
          </a:solidFill>
          <a:ln cap="flat" cmpd="sng" w="9525">
            <a:solidFill>
              <a:srgbClr val="D0CB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502920" y="987552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350"/>
              <a:buFont typeface="Arial"/>
              <a:buNone/>
            </a:pPr>
            <a:r>
              <a:rPr b="1" i="0" lang="en" sz="135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01 ord() and chr()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502920" y="1389888"/>
            <a:ext cx="24231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Every character has an ASCII number.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ord(c) gets it, +1 shifts it one letter,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chr() converts it back.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3227832" y="868680"/>
            <a:ext cx="2761488" cy="2212848"/>
          </a:xfrm>
          <a:prstGeom prst="roundRect">
            <a:avLst>
              <a:gd fmla="val 4132" name="adj"/>
            </a:avLst>
          </a:prstGeom>
          <a:solidFill>
            <a:srgbClr val="FFFFFF"/>
          </a:solidFill>
          <a:ln cap="flat" cmpd="sng" w="9525">
            <a:solidFill>
              <a:srgbClr val="D0CB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3410712" y="987552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350"/>
              <a:buFont typeface="Arial"/>
              <a:buNone/>
            </a:pPr>
            <a:r>
              <a:rPr b="1" i="0" lang="en" sz="135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02 String as Vowel Lookup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3410712" y="1389888"/>
            <a:ext cx="24231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Using  "aeiouAEIOU"  with the  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operator is clean and fast for small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membership checks.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6135624" y="868680"/>
            <a:ext cx="2761488" cy="2212848"/>
          </a:xfrm>
          <a:prstGeom prst="roundRect">
            <a:avLst>
              <a:gd fmla="val 4132" name="adj"/>
            </a:avLst>
          </a:prstGeom>
          <a:solidFill>
            <a:srgbClr val="FFFFFF"/>
          </a:solidFill>
          <a:ln cap="flat" cmpd="sng" w="9525">
            <a:solidFill>
              <a:srgbClr val="D0CB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6318504" y="987552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350"/>
              <a:buFont typeface="Arial"/>
              <a:buNone/>
            </a:pPr>
            <a:r>
              <a:rPr b="1" i="0" lang="en" sz="135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03 Generator + join()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6318504" y="1389888"/>
            <a:ext cx="24231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"".join(expr for c in s)  is the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standard Pythonic pattern for building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transformed strings.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320040" y="3246120"/>
            <a:ext cx="8503920" cy="1627632"/>
          </a:xfrm>
          <a:prstGeom prst="roundRect">
            <a:avLst>
              <a:gd fmla="val 5618" name="adj"/>
            </a:avLst>
          </a:prstGeom>
          <a:solidFill>
            <a:srgbClr val="E8EFF8"/>
          </a:solidFill>
          <a:ln cap="flat" cmpd="sng" w="9525">
            <a:solidFill>
              <a:srgbClr val="D0CB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566928" y="3364992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350"/>
              <a:buFont typeface="Arial"/>
              <a:buNone/>
            </a:pPr>
            <a:r>
              <a:rPr b="1" i="0" lang="en" sz="135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Final Syntax Cheat Sheet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566928" y="3675888"/>
            <a:ext cx="80467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ourier New"/>
              <a:buNone/>
            </a:pPr>
            <a:r>
              <a:rPr b="0" i="0" lang="en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# Explanatory:  for c in s: result.append(chr(ord(c)+1) if c in vowels else c)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ourier New"/>
              <a:buNone/>
            </a:pPr>
            <a:r>
              <a:rPr b="0" i="0" lang="en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# Pythonic:      return "".join(chr(ord(c)+1) if c in "aeiouAEIOU" else c for c in 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ourier New"/>
              <a:buNone/>
            </a:pPr>
            <a:r>
              <a:rPr b="0" i="0" lang="en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# Key built-ins: ord(c) → int   chr(n) → char   "".join(iterable) → str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320040" y="489204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Python Buddy  ·  Section 2 - Problem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