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i6HDWJehcPJAorRpQKJAhVnCw9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2025 Jan OPPE 2 - Set 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100"/>
              <a:buFont typeface="Calibri"/>
              <a:buNone/>
            </a:pPr>
            <a:r>
              <a:rPr b="1" i="0" lang="en-US" sz="2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Count Strings with Length Divisible by Either 3 or 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281635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Section 2 - Problem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320040" y="1828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Problem Definition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228600" y="914400"/>
            <a:ext cx="4160400" cy="3853200"/>
          </a:xfrm>
          <a:prstGeom prst="roundRect">
            <a:avLst>
              <a:gd fmla="val 229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"/>
          <p:cNvSpPr/>
          <p:nvPr/>
        </p:nvSpPr>
        <p:spPr>
          <a:xfrm>
            <a:off x="411480" y="1051560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PROBLEM STATEMENT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411480" y="1371600"/>
            <a:ext cx="37490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Write a function </a:t>
            </a:r>
            <a:r>
              <a:rPr b="1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'count_strings_length_divisible_by_3_or_5'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that takes a list of strings and returns how many have lengths divisible by </a:t>
            </a:r>
            <a:r>
              <a:rPr b="1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US" sz="13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411480" y="2542032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594360" y="254203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Divisible by 3:</a:t>
            </a:r>
            <a:r>
              <a:rPr b="0" i="0" lang="en-US" sz="13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  len(s) % 3 ==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11480" y="2880360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594360" y="288036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Divisible by 5:</a:t>
            </a:r>
            <a:r>
              <a:rPr b="0" i="0" lang="en-US" sz="13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  len(s) % 5 ==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11480" y="3218688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94360" y="321868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Count strings where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either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is true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3557016"/>
            <a:ext cx="182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594360" y="355701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Returns an </a:t>
            </a:r>
            <a:r>
              <a:rPr b="1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(the count)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2"/>
          <p:cNvCxnSpPr/>
          <p:nvPr/>
        </p:nvCxnSpPr>
        <p:spPr>
          <a:xfrm>
            <a:off x="4462272" y="27432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" name="Google Shape;37;p2"/>
          <p:cNvSpPr/>
          <p:nvPr/>
        </p:nvSpPr>
        <p:spPr>
          <a:xfrm>
            <a:off x="5029200" y="914400"/>
            <a:ext cx="3840600" cy="3853200"/>
          </a:xfrm>
          <a:prstGeom prst="roundRect">
            <a:avLst>
              <a:gd fmla="val 2381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212080" y="105156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EXAMPLE &amp; EXPLANATION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212080" y="135331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"misunderstanding"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212080" y="154533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len = 16  →  ÷3 ✗  ÷5 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212080" y="173736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 Not counted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212080" y="1993392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2"/>
          <p:cNvSpPr/>
          <p:nvPr/>
        </p:nvSpPr>
        <p:spPr>
          <a:xfrm>
            <a:off x="5212080" y="208483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"inconsiderately"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5212080" y="227685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len = 15  →  ÷3 ✓  ÷5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212080" y="246888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 Counted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5212080" y="2724912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/>
          <p:nvPr/>
        </p:nvSpPr>
        <p:spPr>
          <a:xfrm>
            <a:off x="5212080" y="281635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"characters"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212080" y="300837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len = 10  →  ÷3 ✗  ÷5 ✓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212080" y="320040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 Counted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" name="Google Shape;50;p2"/>
          <p:cNvCxnSpPr/>
          <p:nvPr/>
        </p:nvCxnSpPr>
        <p:spPr>
          <a:xfrm>
            <a:off x="5212080" y="3456432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2"/>
          <p:cNvSpPr/>
          <p:nvPr/>
        </p:nvSpPr>
        <p:spPr>
          <a:xfrm>
            <a:off x="5212080" y="3547872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Courier New"/>
              <a:buNone/>
            </a:pPr>
            <a:r>
              <a:rPr b="1" i="0" lang="en-US" sz="10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"computers"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212080" y="3739896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len = 9  →  ÷3 ✓  ÷5 ✗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212080" y="3931920"/>
            <a:ext cx="34747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 Counted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2"/>
          <p:cNvCxnSpPr/>
          <p:nvPr/>
        </p:nvCxnSpPr>
        <p:spPr>
          <a:xfrm>
            <a:off x="5212080" y="4187952"/>
            <a:ext cx="3383280" cy="0"/>
          </a:xfrm>
          <a:prstGeom prst="straightConnector1">
            <a:avLst/>
          </a:prstGeom>
          <a:noFill/>
          <a:ln cap="flat" cmpd="sng" w="9525">
            <a:solidFill>
              <a:srgbClr val="E0E0E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2"/>
          <p:cNvSpPr/>
          <p:nvPr/>
        </p:nvSpPr>
        <p:spPr>
          <a:xfrm>
            <a:off x="5212080" y="43251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Output: </a:t>
            </a:r>
            <a:r>
              <a:rPr b="1" i="0" lang="en-US" sz="16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Problem Specification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28600" y="914400"/>
            <a:ext cx="2834700" cy="3598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9319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246125" y="914400"/>
            <a:ext cx="2834700" cy="3598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41071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THE BLACK BOX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6263650" y="914400"/>
            <a:ext cx="2834700" cy="3598800"/>
          </a:xfrm>
          <a:prstGeom prst="roundRect">
            <a:avLst>
              <a:gd fmla="val 322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6428232" y="1078992"/>
            <a:ext cx="24688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93192" y="1508760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strings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(list[str])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93192" y="2103120"/>
            <a:ext cx="2468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A list of strings of any length.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01568" y="1417320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1. Loop over each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string in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401568" y="2075688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2. Get len(s) for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each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401568" y="2734056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3. Check: len %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== 0 or len 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5 ==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401568" y="3392424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4. Count 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  and 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419088" y="1508760"/>
            <a:ext cx="22860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000"/>
              <a:buFont typeface="Courier New"/>
              <a:buNone/>
            </a:pPr>
            <a:r>
              <a:rPr b="1" i="0" lang="en-US" sz="3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419088" y="2057400"/>
            <a:ext cx="2468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Count of strings whose length is divisible by 3 or 5.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309067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8" name="Google Shape;78;p3"/>
          <p:cNvCxnSpPr/>
          <p:nvPr/>
        </p:nvCxnSpPr>
        <p:spPr>
          <a:xfrm>
            <a:off x="6108192" y="2880360"/>
            <a:ext cx="137160" cy="0"/>
          </a:xfrm>
          <a:prstGeom prst="straightConnector1">
            <a:avLst/>
          </a:prstGeom>
          <a:noFill/>
          <a:ln cap="flat" cmpd="sng" w="31750">
            <a:solidFill>
              <a:srgbClr val="1F4E9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9" name="Google Shape;79;p3"/>
          <p:cNvSpPr/>
          <p:nvPr/>
        </p:nvSpPr>
        <p:spPr>
          <a:xfrm>
            <a:off x="228600" y="4544570"/>
            <a:ext cx="8686800" cy="347400"/>
          </a:xfrm>
          <a:prstGeom prst="rect">
            <a:avLst/>
          </a:prstGeom>
          <a:solidFill>
            <a:srgbClr val="F5F3EF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411480" y="4572002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ourier New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Key: 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</a:t>
            </a:r>
            <a:r>
              <a:rPr b="1" i="0" lang="en-US" sz="110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len(s) % 3 == 0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or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ourier New"/>
                <a:ea typeface="Courier New"/>
                <a:cs typeface="Courier New"/>
                <a:sym typeface="Courier New"/>
              </a:rPr>
              <a:t>len(s) % 5 == 0</a:t>
            </a:r>
            <a:r>
              <a:rPr b="0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 ·  Divisible by both → still counts once  ·  Returns </a:t>
            </a:r>
            <a:r>
              <a:rPr b="1" i="0" lang="en-US" sz="11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320040" y="182880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Visualizing the Operations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228600" y="886975"/>
            <a:ext cx="8686800" cy="3894600"/>
          </a:xfrm>
          <a:prstGeom prst="roundRect">
            <a:avLst>
              <a:gd fmla="val 2257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502920" y="100584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strings = ["misunderstanding", "inconsiderately", "characters", "computers"]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02920" y="13533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For each string: get its length, check if divisible by 3 OR 5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457200" y="1682496"/>
            <a:ext cx="2212848" cy="274320"/>
          </a:xfrm>
          <a:prstGeom prst="rect">
            <a:avLst/>
          </a:prstGeom>
          <a:solidFill>
            <a:srgbClr val="E8E4DC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457200" y="1682496"/>
            <a:ext cx="22128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String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2743200" y="1682496"/>
            <a:ext cx="1024128" cy="274320"/>
          </a:xfrm>
          <a:prstGeom prst="rect">
            <a:avLst/>
          </a:prstGeom>
          <a:solidFill>
            <a:srgbClr val="E8E4DC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2743200" y="168249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160520" y="1682496"/>
            <a:ext cx="1024128" cy="274320"/>
          </a:xfrm>
          <a:prstGeom prst="rect">
            <a:avLst/>
          </a:prstGeom>
          <a:solidFill>
            <a:srgbClr val="E8E4DC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4160520" y="168249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÷3?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257800" y="1682496"/>
            <a:ext cx="1024128" cy="274320"/>
          </a:xfrm>
          <a:prstGeom prst="rect">
            <a:avLst/>
          </a:prstGeom>
          <a:solidFill>
            <a:srgbClr val="E8E4DC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257800" y="168249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÷5?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355080" y="1682496"/>
            <a:ext cx="1024128" cy="274320"/>
          </a:xfrm>
          <a:prstGeom prst="rect">
            <a:avLst/>
          </a:prstGeom>
          <a:solidFill>
            <a:srgbClr val="E8E4DC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6355080" y="1682496"/>
            <a:ext cx="1024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7269480" y="1682496"/>
            <a:ext cx="1572768" cy="274320"/>
          </a:xfrm>
          <a:prstGeom prst="rect">
            <a:avLst/>
          </a:prstGeom>
          <a:solidFill>
            <a:srgbClr val="E8E4DC"/>
          </a:solidFill>
          <a:ln cap="flat" cmpd="sng" w="9525">
            <a:solidFill>
              <a:srgbClr val="D0C8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269480" y="1682496"/>
            <a:ext cx="15727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457200" y="2011680"/>
            <a:ext cx="8385048" cy="420624"/>
          </a:xfrm>
          <a:prstGeom prst="rect">
            <a:avLst/>
          </a:prstGeom>
          <a:solidFill>
            <a:srgbClr val="FFF5F5"/>
          </a:solidFill>
          <a:ln cap="flat" cmpd="sng" w="9525">
            <a:solidFill>
              <a:srgbClr val="F0B4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02920" y="2011680"/>
            <a:ext cx="21762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"misunderstanding"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2743200" y="2011680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4160520" y="2011680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257800" y="2011680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6355080" y="2011680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7269480" y="2011680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457200" y="2487168"/>
            <a:ext cx="8385048" cy="420624"/>
          </a:xfrm>
          <a:prstGeom prst="rect">
            <a:avLst/>
          </a:prstGeom>
          <a:solidFill>
            <a:srgbClr val="F0FAF0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502920" y="2487168"/>
            <a:ext cx="21762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"inconsiderately"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2743200" y="2487168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4160520" y="2487168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5257800" y="2487168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355080" y="2487168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7269480" y="2487168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57200" y="2962656"/>
            <a:ext cx="8385048" cy="420624"/>
          </a:xfrm>
          <a:prstGeom prst="rect">
            <a:avLst/>
          </a:prstGeom>
          <a:solidFill>
            <a:srgbClr val="F0FAF0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02920" y="2962656"/>
            <a:ext cx="21762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"characters"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2743200" y="2962656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4160520" y="2962656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5257800" y="2962656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6355080" y="2962656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7269480" y="2962656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57200" y="3438144"/>
            <a:ext cx="8385048" cy="420624"/>
          </a:xfrm>
          <a:prstGeom prst="rect">
            <a:avLst/>
          </a:prstGeom>
          <a:solidFill>
            <a:srgbClr val="F0FAF0"/>
          </a:solidFill>
          <a:ln cap="flat" cmpd="sng" w="9525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502920" y="3438144"/>
            <a:ext cx="21762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"computers"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2743200" y="3438144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160520" y="3438144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257800" y="3438144"/>
            <a:ext cx="102412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355080" y="3438144"/>
            <a:ext cx="91440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7D34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269480" y="3438144"/>
            <a:ext cx="1572768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7D34"/>
              </a:buClr>
              <a:buSzPts val="1300"/>
              <a:buFont typeface="Courier New"/>
              <a:buNone/>
            </a:pPr>
            <a:r>
              <a:rPr b="1" i="0" lang="en-US" sz="13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57200" y="3931920"/>
            <a:ext cx="8385048" cy="438912"/>
          </a:xfrm>
          <a:prstGeom prst="roundRect">
            <a:avLst>
              <a:gd fmla="val 14583" name="adj"/>
            </a:avLst>
          </a:prstGeom>
          <a:solidFill>
            <a:srgbClr val="D4EDDA"/>
          </a:solidFill>
          <a:ln cap="flat" cmpd="sng" w="12700">
            <a:solidFill>
              <a:srgbClr val="A8D5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40080" y="3931920"/>
            <a:ext cx="8046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Final count = </a:t>
            </a:r>
            <a:r>
              <a:rPr b="1" i="0" lang="en-US" sz="1800" u="none" cap="none" strike="noStrike">
                <a:solidFill>
                  <a:srgbClr val="1E7D34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b="0" i="0" lang="en-US" sz="11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  (inconsiderately ÷15, characters ÷10, computers ÷9)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Explanatory Approach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Step-by-step: loop through strings, check each length, maintain a counter.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228600" y="969264"/>
            <a:ext cx="6949440" cy="3886200"/>
          </a:xfrm>
          <a:prstGeom prst="roundRect">
            <a:avLst>
              <a:gd fmla="val 2353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84048" y="1078992"/>
            <a:ext cx="66751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count_strings_length_divisible_by_3_or_5(strings):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1: Initialise counter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count = 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2: Loop through each string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for s in strings: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length = len(s)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# Step 3: Check divisibility by 3 or 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length % 3 == 0 or length % 5 == 0: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count += 1   # increment if condition met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# Step 4: Return total 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ourier New"/>
              <a:buNone/>
            </a:pPr>
            <a:r>
              <a:rPr b="0" i="0" lang="en-US" sz="13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3" name="Google Shape;143;p5"/>
          <p:cNvCxnSpPr/>
          <p:nvPr/>
        </p:nvCxnSpPr>
        <p:spPr>
          <a:xfrm>
            <a:off x="7242048" y="182880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7562088" y="178308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Start counter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at zero.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7242048" y="2450592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6" name="Google Shape;146;p5"/>
          <p:cNvSpPr/>
          <p:nvPr/>
        </p:nvSpPr>
        <p:spPr>
          <a:xfrm>
            <a:off x="7562088" y="2404872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len() gives the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character count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of each string.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7" name="Google Shape;147;p5"/>
          <p:cNvCxnSpPr/>
          <p:nvPr/>
        </p:nvCxnSpPr>
        <p:spPr>
          <a:xfrm>
            <a:off x="7242048" y="3154680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8" name="Google Shape;148;p5"/>
          <p:cNvSpPr/>
          <p:nvPr/>
        </p:nvSpPr>
        <p:spPr>
          <a:xfrm>
            <a:off x="7562088" y="3108960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or: True if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either condition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holds.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5"/>
          <p:cNvCxnSpPr/>
          <p:nvPr/>
        </p:nvCxnSpPr>
        <p:spPr>
          <a:xfrm>
            <a:off x="7242048" y="3858768"/>
            <a:ext cx="292608" cy="0"/>
          </a:xfrm>
          <a:prstGeom prst="straightConnector1">
            <a:avLst/>
          </a:prstGeom>
          <a:noFill/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5"/>
          <p:cNvSpPr/>
          <p:nvPr/>
        </p:nvSpPr>
        <p:spPr>
          <a:xfrm>
            <a:off x="7562088" y="3813048"/>
            <a:ext cx="1417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+= 1 increments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counter when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condition passes.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320040" y="164592"/>
            <a:ext cx="8503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The Pythonic Optimization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One-liner using sum() with a generator expression.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28600" y="969264"/>
            <a:ext cx="8686800" cy="1051560"/>
          </a:xfrm>
          <a:prstGeom prst="roundRect">
            <a:avLst>
              <a:gd fmla="val 8696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384048" y="1024128"/>
            <a:ext cx="8321040" cy="9326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def count_strings_length_divisible_by_3_or_5(strings):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sum(1 for s in strings if len(s) % 3 == 0 or len(s) % 5 == 0)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28600" y="2176272"/>
            <a:ext cx="8686800" cy="2633472"/>
          </a:xfrm>
          <a:prstGeom prst="roundRect">
            <a:avLst>
              <a:gd fmla="val 3472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11480" y="23134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How the generator expression works: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502920" y="268833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for s in strings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407408" y="2688336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iterate over every string in the list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502920" y="303580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if len(s) % 3 == 0 or len(s) % 5 == 0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4407408" y="3035808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filter: keep only strings passing the length check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502920" y="338328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407408" y="3383280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yield 1 for each matching string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502920" y="37307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ourier New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ourier New"/>
                <a:ea typeface="Courier New"/>
                <a:cs typeface="Courier New"/>
                <a:sym typeface="Courier New"/>
              </a:rPr>
              <a:t>sum(...)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4407408" y="3730752"/>
            <a:ext cx="4480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 add up all the 1s → total count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11480" y="4187952"/>
            <a:ext cx="8321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Alternative: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sum(len(s) % 3 == 0 or len(s) % 5 == 0 for s in strings)</a:t>
            </a:r>
            <a:r>
              <a:rPr b="0" i="0" lang="en-US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— bool is a subclass of int in Python, so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True == 1</a:t>
            </a:r>
            <a:r>
              <a:rPr b="0" i="0" lang="en-US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b="0" i="0" lang="en-US" sz="115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False == 0</a:t>
            </a:r>
            <a:r>
              <a:rPr b="0" i="0" lang="en-US" sz="115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"/>
          <p:cNvSpPr/>
          <p:nvPr/>
        </p:nvSpPr>
        <p:spPr>
          <a:xfrm>
            <a:off x="0" y="164592"/>
            <a:ext cx="91440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Solution Comparison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9" name="Google Shape;179;p7"/>
          <p:cNvCxnSpPr/>
          <p:nvPr/>
        </p:nvCxnSpPr>
        <p:spPr>
          <a:xfrm>
            <a:off x="4572000" y="914400"/>
            <a:ext cx="0" cy="4023360"/>
          </a:xfrm>
          <a:prstGeom prst="straightConnector1">
            <a:avLst/>
          </a:prstGeom>
          <a:noFill/>
          <a:ln cap="flat" cmpd="sng" w="12700">
            <a:solidFill>
              <a:srgbClr val="C8C0B8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180" name="Google Shape;18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7390" y="875525"/>
            <a:ext cx="502920" cy="5029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81" name="Google Shape;18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0265" y="914388"/>
            <a:ext cx="502920" cy="502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7"/>
          <p:cNvSpPr/>
          <p:nvPr/>
        </p:nvSpPr>
        <p:spPr>
          <a:xfrm>
            <a:off x="320050" y="1501897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Loop + Counter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0" y="1540760"/>
            <a:ext cx="3657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sum() + Generator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457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Explicit counter — easy to follow.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Clear loop structure.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Easy to add more conditions.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Beginners &amp; clarity.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7"/>
          <p:cNvSpPr/>
          <p:nvPr/>
        </p:nvSpPr>
        <p:spPr>
          <a:xfrm>
            <a:off x="5029200" y="1965960"/>
            <a:ext cx="37490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Compact one-liner.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Idiomatic Python — no state variable.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sum(bool) trick is very Pythonic.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Best for: Clean code &amp; interviews.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457200" y="3730752"/>
            <a:ext cx="3749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count = 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for s in strings: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if len(s)%3==0 or len(s)%5==0: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  count += 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count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5029200" y="3858768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return sum(1 for s in strings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50"/>
              <a:buFont typeface="Courier New"/>
              <a:buNone/>
            </a:pPr>
            <a:r>
              <a:rPr b="0" i="0" lang="en-US" sz="950" u="none" cap="none" strike="noStrike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  if len(s)%3==0 or len(s)%5==0)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AE6D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/>
          <p:nvPr/>
        </p:nvSpPr>
        <p:spPr>
          <a:xfrm>
            <a:off x="320040" y="164592"/>
            <a:ext cx="8503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Key Takeaways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22860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8"/>
          <p:cNvSpPr/>
          <p:nvPr/>
        </p:nvSpPr>
        <p:spPr>
          <a:xfrm>
            <a:off x="38404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01 len() for String Length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8404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len(s) gives the number of characters in a string. Use len(s) % 3 == 0 for divisibility by 3, len(s) % 5 == 0 for 5.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3127248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3282696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02 or for Either Condition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3282696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Use or when only ONE divisibility check needs to hold. Strings divisible by both (like 15 chars) are still counted only once.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6035040" y="914400"/>
            <a:ext cx="2788920" cy="3383280"/>
          </a:xfrm>
          <a:prstGeom prst="roundRect">
            <a:avLst>
              <a:gd fmla="val 3279" name="adj"/>
            </a:avLst>
          </a:prstGeom>
          <a:solidFill>
            <a:srgbClr val="FFFFFF"/>
          </a:solidFill>
          <a:ln>
            <a:noFill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"/>
          <p:cNvSpPr/>
          <p:nvPr/>
        </p:nvSpPr>
        <p:spPr>
          <a:xfrm>
            <a:off x="6190488" y="1051560"/>
            <a:ext cx="24688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03 sum() with Generator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190488" y="1481328"/>
            <a:ext cx="246888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sum(1 for x in iterable if condition) counts matches elegantly. Alternatively, sum(bool_expr for ...) works because True == 1 in Python.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228600" y="4224528"/>
            <a:ext cx="8686800" cy="594360"/>
          </a:xfrm>
          <a:prstGeom prst="rect">
            <a:avLst/>
          </a:prstGeom>
          <a:solidFill>
            <a:srgbClr val="D6E4F7"/>
          </a:solidFill>
          <a:ln cap="flat" cmpd="sng" w="9525">
            <a:solidFill>
              <a:srgbClr val="A8C4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"/>
          <p:cNvSpPr/>
          <p:nvPr/>
        </p:nvSpPr>
        <p:spPr>
          <a:xfrm>
            <a:off x="411480" y="4242816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91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1F4E91"/>
                </a:solidFill>
                <a:latin typeface="Calibri"/>
                <a:ea typeface="Calibri"/>
                <a:cs typeface="Calibri"/>
                <a:sym typeface="Calibri"/>
              </a:rPr>
              <a:t>Final Syntax Cheat Sheet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411480" y="4425696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Loop:      count = sum(1 for s in strings if len(s) % 3 == 0 or len(s) % 5 == 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411480" y="4590288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900"/>
              <a:buFont typeface="Courier New"/>
              <a:buNone/>
            </a:pPr>
            <a:r>
              <a:rPr b="0" i="0" lang="en-US" sz="900" u="none" cap="none" strike="noStrike">
                <a:solidFill>
                  <a:srgbClr val="1A1A1A"/>
                </a:solidFill>
                <a:latin typeface="Courier New"/>
                <a:ea typeface="Courier New"/>
                <a:cs typeface="Courier New"/>
                <a:sym typeface="Courier New"/>
              </a:rPr>
              <a:t># Alt:       count = sum(len(s)%3==0 or len(s)%5==0 for s in strings)  # bool as int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320040" y="4892040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Python Buddy  ·  Section 2 - Problem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2026-04-20T19:33:37Z</dcterms:created>
  <dc:creator>PptxGenJS</dc:creator>
</cp:coreProperties>
</file>