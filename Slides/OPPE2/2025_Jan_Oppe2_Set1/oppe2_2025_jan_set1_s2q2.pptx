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e2PX5oTuykO5Opt0TYlZ/konH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2025 Jan OPPE 2 - Set 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Thresholding a 2D Array and Printing with * and @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8163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Section 2 - Problem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32004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Problem Definition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228600" y="914400"/>
            <a:ext cx="4160400" cy="3846300"/>
          </a:xfrm>
          <a:prstGeom prst="roundRect">
            <a:avLst>
              <a:gd fmla="val 229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411480" y="105156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11480" y="1371600"/>
            <a:ext cx="3749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Given an n×n 2D array of integers (0-255) and a threshold </a:t>
            </a:r>
            <a:r>
              <a:rPr b="1" i="0" lang="en-US" sz="13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replace each value with:</a:t>
            </a:r>
            <a:b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"@"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if  value ≥ t</a:t>
            </a:r>
            <a:b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"*"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if  value &lt; 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11480" y="2788920"/>
            <a:ext cx="182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94360" y="278892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Read n and t from first 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11480" y="3090672"/>
            <a:ext cx="182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94360" y="309067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Read n×n integers</a:t>
            </a: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 (0–255 each)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11480" y="3392424"/>
            <a:ext cx="182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94360" y="339242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Print each row on a new 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11480" y="3694176"/>
            <a:ext cx="182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94360" y="369417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Elements separated by spaces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11480" y="3995928"/>
            <a:ext cx="182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94360" y="399592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leading/trailing spaces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2"/>
          <p:cNvCxnSpPr/>
          <p:nvPr/>
        </p:nvCxnSpPr>
        <p:spPr>
          <a:xfrm>
            <a:off x="4462272" y="274320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" name="Google Shape;39;p2"/>
          <p:cNvSpPr/>
          <p:nvPr/>
        </p:nvSpPr>
        <p:spPr>
          <a:xfrm>
            <a:off x="5029200" y="914400"/>
            <a:ext cx="3840600" cy="3846300"/>
          </a:xfrm>
          <a:prstGeom prst="roundRect">
            <a:avLst>
              <a:gd fmla="val 238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EXAMPLE &amp; EXPLANATION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212080" y="1371600"/>
            <a:ext cx="1554480" cy="1325880"/>
          </a:xfrm>
          <a:prstGeom prst="rect">
            <a:avLst/>
          </a:prstGeom>
          <a:solidFill>
            <a:srgbClr val="F5F3EF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5212080" y="1371600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212080" y="1591056"/>
            <a:ext cx="155448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3 5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7 2 8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4 5 3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6 0 7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2"/>
          <p:cNvCxnSpPr/>
          <p:nvPr/>
        </p:nvCxnSpPr>
        <p:spPr>
          <a:xfrm>
            <a:off x="6812280" y="2029968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" name="Google Shape;45;p2"/>
          <p:cNvSpPr/>
          <p:nvPr/>
        </p:nvSpPr>
        <p:spPr>
          <a:xfrm>
            <a:off x="7178040" y="1371600"/>
            <a:ext cx="1554480" cy="1325880"/>
          </a:xfrm>
          <a:prstGeom prst="rect">
            <a:avLst/>
          </a:prstGeom>
          <a:solidFill>
            <a:srgbClr val="F0FAF0"/>
          </a:solidFill>
          <a:ln cap="flat" cmpd="sng" w="9525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178040" y="1371600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178040" y="1591056"/>
            <a:ext cx="155448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@ * @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* @ 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@ * @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212080" y="2779776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 = 5  →  values </a:t>
            </a:r>
            <a:r>
              <a:rPr b="1" i="0" lang="en-US" sz="11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≥ 5</a:t>
            </a: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become </a:t>
            </a:r>
            <a:r>
              <a:rPr b="1" i="0" lang="en-US" sz="11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, values </a:t>
            </a: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&lt; 5</a:t>
            </a: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become </a:t>
            </a:r>
            <a:r>
              <a:rPr b="1" i="0" lang="en-US" sz="11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212080" y="3182112"/>
            <a:ext cx="1133856" cy="219456"/>
          </a:xfrm>
          <a:prstGeom prst="roundRect">
            <a:avLst>
              <a:gd fmla="val 12500" name="adj"/>
            </a:avLst>
          </a:prstGeom>
          <a:solidFill>
            <a:srgbClr val="D4EDDA"/>
          </a:solidFill>
          <a:ln cap="flat" cmpd="sng" w="12700">
            <a:solidFill>
              <a:srgbClr val="D4E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5212080" y="3182112"/>
            <a:ext cx="11338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7 → @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419088" y="3182112"/>
            <a:ext cx="1133856" cy="219456"/>
          </a:xfrm>
          <a:prstGeom prst="roundRect">
            <a:avLst>
              <a:gd fmla="val 12500" name="adj"/>
            </a:avLst>
          </a:prstGeom>
          <a:solidFill>
            <a:srgbClr val="FADBD8"/>
          </a:solidFill>
          <a:ln cap="flat" cmpd="sng" w="12700">
            <a:solidFill>
              <a:srgbClr val="FADB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419088" y="3182112"/>
            <a:ext cx="11338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2 → *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626096" y="3182112"/>
            <a:ext cx="1133856" cy="219456"/>
          </a:xfrm>
          <a:prstGeom prst="roundRect">
            <a:avLst>
              <a:gd fmla="val 12500" name="adj"/>
            </a:avLst>
          </a:prstGeom>
          <a:solidFill>
            <a:srgbClr val="D4EDDA"/>
          </a:solidFill>
          <a:ln cap="flat" cmpd="sng" w="12700">
            <a:solidFill>
              <a:srgbClr val="D4E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626096" y="3182112"/>
            <a:ext cx="11338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8 → @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212080" y="3438144"/>
            <a:ext cx="1133856" cy="219456"/>
          </a:xfrm>
          <a:prstGeom prst="roundRect">
            <a:avLst>
              <a:gd fmla="val 12500" name="adj"/>
            </a:avLst>
          </a:prstGeom>
          <a:solidFill>
            <a:srgbClr val="FADBD8"/>
          </a:solidFill>
          <a:ln cap="flat" cmpd="sng" w="12700">
            <a:solidFill>
              <a:srgbClr val="FADB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5212080" y="3438144"/>
            <a:ext cx="11338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4 → *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419088" y="3438144"/>
            <a:ext cx="1133856" cy="219456"/>
          </a:xfrm>
          <a:prstGeom prst="roundRect">
            <a:avLst>
              <a:gd fmla="val 12500" name="adj"/>
            </a:avLst>
          </a:prstGeom>
          <a:solidFill>
            <a:srgbClr val="D4EDDA"/>
          </a:solidFill>
          <a:ln cap="flat" cmpd="sng" w="12700">
            <a:solidFill>
              <a:srgbClr val="D4E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419088" y="3438144"/>
            <a:ext cx="11338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5 → @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626096" y="3438144"/>
            <a:ext cx="1133856" cy="219456"/>
          </a:xfrm>
          <a:prstGeom prst="roundRect">
            <a:avLst>
              <a:gd fmla="val 12500" name="adj"/>
            </a:avLst>
          </a:prstGeom>
          <a:solidFill>
            <a:srgbClr val="FADBD8"/>
          </a:solidFill>
          <a:ln cap="flat" cmpd="sng" w="12700">
            <a:solidFill>
              <a:srgbClr val="FADB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7626096" y="3438144"/>
            <a:ext cx="11338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3 → *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212080" y="3694176"/>
            <a:ext cx="1133856" cy="219456"/>
          </a:xfrm>
          <a:prstGeom prst="roundRect">
            <a:avLst>
              <a:gd fmla="val 12500" name="adj"/>
            </a:avLst>
          </a:prstGeom>
          <a:solidFill>
            <a:srgbClr val="D4EDDA"/>
          </a:solidFill>
          <a:ln cap="flat" cmpd="sng" w="12700">
            <a:solidFill>
              <a:srgbClr val="D4E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5212080" y="3694176"/>
            <a:ext cx="11338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6 → @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419088" y="3694176"/>
            <a:ext cx="1133856" cy="219456"/>
          </a:xfrm>
          <a:prstGeom prst="roundRect">
            <a:avLst>
              <a:gd fmla="val 12500" name="adj"/>
            </a:avLst>
          </a:prstGeom>
          <a:solidFill>
            <a:srgbClr val="FADBD8"/>
          </a:solidFill>
          <a:ln cap="flat" cmpd="sng" w="12700">
            <a:solidFill>
              <a:srgbClr val="FADB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419088" y="3694176"/>
            <a:ext cx="11338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0 → *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7626096" y="3694176"/>
            <a:ext cx="1133856" cy="219456"/>
          </a:xfrm>
          <a:prstGeom prst="roundRect">
            <a:avLst>
              <a:gd fmla="val 12500" name="adj"/>
            </a:avLst>
          </a:prstGeom>
          <a:solidFill>
            <a:srgbClr val="D4EDDA"/>
          </a:solidFill>
          <a:ln cap="flat" cmpd="sng" w="12700">
            <a:solidFill>
              <a:srgbClr val="D4E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7626096" y="3694176"/>
            <a:ext cx="11338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7 → @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029200" y="4169664"/>
            <a:ext cx="3840480" cy="502920"/>
          </a:xfrm>
          <a:prstGeom prst="rect">
            <a:avLst/>
          </a:prstGeom>
          <a:solidFill>
            <a:srgbClr val="D6E4F7"/>
          </a:solidFill>
          <a:ln cap="flat" cmpd="sng" w="9525">
            <a:solidFill>
              <a:srgbClr val="A8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5166360" y="4206240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💡 </a:t>
            </a: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This is image thresholding — a classic technique to convert grayscale images to binary (black &amp; white).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2 -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Problem Specification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28600" y="914400"/>
            <a:ext cx="2834700" cy="36093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93192" y="10789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246125" y="914400"/>
            <a:ext cx="2834700" cy="36093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3410712" y="10789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THE BLACK BOX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263650" y="914400"/>
            <a:ext cx="2834700" cy="35793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428232" y="10789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93192" y="15087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Line 1:  n 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Lines 2…n+1: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n integers each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93192" y="228600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n: grid size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t: threshold (0-255)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Pixel values: 0-255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401568" y="1417320"/>
            <a:ext cx="2514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Read n and 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401568" y="2075688"/>
            <a:ext cx="2514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Read n rows of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n integers each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401568" y="2734056"/>
            <a:ext cx="2514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For each value: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≥ t → '@'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&lt; t → '*'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401568" y="3392424"/>
            <a:ext cx="2514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4. Print each row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with spaces,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no trailing space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419088" y="15087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n lines of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n symbols each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419088" y="210312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@ or * per cell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Space-separated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leading/trailing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3"/>
          <p:cNvCxnSpPr/>
          <p:nvPr/>
        </p:nvCxnSpPr>
        <p:spPr>
          <a:xfrm>
            <a:off x="3090672" y="2880360"/>
            <a:ext cx="137160" cy="0"/>
          </a:xfrm>
          <a:prstGeom prst="straightConnector1">
            <a:avLst/>
          </a:prstGeom>
          <a:noFill/>
          <a:ln cap="flat" cmpd="sng" w="317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1" name="Google Shape;91;p3"/>
          <p:cNvCxnSpPr/>
          <p:nvPr/>
        </p:nvCxnSpPr>
        <p:spPr>
          <a:xfrm>
            <a:off x="6108192" y="2880360"/>
            <a:ext cx="137160" cy="0"/>
          </a:xfrm>
          <a:prstGeom prst="straightConnector1">
            <a:avLst/>
          </a:prstGeom>
          <a:noFill/>
          <a:ln cap="flat" cmpd="sng" w="317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" name="Google Shape;92;p3"/>
          <p:cNvSpPr/>
          <p:nvPr/>
        </p:nvSpPr>
        <p:spPr>
          <a:xfrm>
            <a:off x="228600" y="4534133"/>
            <a:ext cx="8686800" cy="347400"/>
          </a:xfrm>
          <a:prstGeom prst="rect">
            <a:avLst/>
          </a:prstGeom>
          <a:solidFill>
            <a:srgbClr val="F5F3EF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411480" y="4561565"/>
            <a:ext cx="832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Key: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1" i="0" lang="en-US" sz="11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' '.join(...)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to print each row with spaces but no trailing space  ·  </a:t>
            </a:r>
            <a:r>
              <a:rPr b="1" i="0" lang="en-US" sz="11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'@' if v &gt;= t else '*'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as the map expression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2 -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Visualizing the Operations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28600" y="886975"/>
            <a:ext cx="8686800" cy="3898200"/>
          </a:xfrm>
          <a:prstGeom prst="roundRect">
            <a:avLst>
              <a:gd fmla="val 225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502920" y="10058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n = 3,  t = 5   →   Apply: value ≥ t gives  @,  value &lt; t gives  *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40080" y="1371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Input grid: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40080" y="1664208"/>
            <a:ext cx="640080" cy="566928"/>
          </a:xfrm>
          <a:prstGeom prst="roundRect">
            <a:avLst>
              <a:gd fmla="val 9677" name="adj"/>
            </a:avLst>
          </a:prstGeom>
          <a:solidFill>
            <a:srgbClr val="DCEAF7"/>
          </a:solidFill>
          <a:ln cap="flat" cmpd="sng" w="12700">
            <a:solidFill>
              <a:srgbClr val="7AAA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40080" y="1664208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335024" y="1664208"/>
            <a:ext cx="640080" cy="566928"/>
          </a:xfrm>
          <a:prstGeom prst="roundRect">
            <a:avLst>
              <a:gd fmla="val 9677" name="adj"/>
            </a:avLst>
          </a:prstGeom>
          <a:solidFill>
            <a:srgbClr val="FCE8E3"/>
          </a:solidFill>
          <a:ln cap="flat" cmpd="sng" w="12700">
            <a:solidFill>
              <a:srgbClr val="E899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1335024" y="1664208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2029968" y="1664208"/>
            <a:ext cx="640080" cy="566928"/>
          </a:xfrm>
          <a:prstGeom prst="roundRect">
            <a:avLst>
              <a:gd fmla="val 9677" name="adj"/>
            </a:avLst>
          </a:prstGeom>
          <a:solidFill>
            <a:srgbClr val="DCEAF7"/>
          </a:solidFill>
          <a:ln cap="flat" cmpd="sng" w="12700">
            <a:solidFill>
              <a:srgbClr val="7AAA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2029968" y="1664208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40080" y="2286000"/>
            <a:ext cx="640080" cy="566928"/>
          </a:xfrm>
          <a:prstGeom prst="roundRect">
            <a:avLst>
              <a:gd fmla="val 9677" name="adj"/>
            </a:avLst>
          </a:prstGeom>
          <a:solidFill>
            <a:srgbClr val="FCE8E3"/>
          </a:solidFill>
          <a:ln cap="flat" cmpd="sng" w="12700">
            <a:solidFill>
              <a:srgbClr val="E899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640080" y="2286000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335024" y="2286000"/>
            <a:ext cx="640080" cy="566928"/>
          </a:xfrm>
          <a:prstGeom prst="roundRect">
            <a:avLst>
              <a:gd fmla="val 9677" name="adj"/>
            </a:avLst>
          </a:prstGeom>
          <a:solidFill>
            <a:srgbClr val="DCEAF7"/>
          </a:solidFill>
          <a:ln cap="flat" cmpd="sng" w="12700">
            <a:solidFill>
              <a:srgbClr val="7AAA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1335024" y="2286000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029968" y="2286000"/>
            <a:ext cx="640080" cy="566928"/>
          </a:xfrm>
          <a:prstGeom prst="roundRect">
            <a:avLst>
              <a:gd fmla="val 9677" name="adj"/>
            </a:avLst>
          </a:prstGeom>
          <a:solidFill>
            <a:srgbClr val="FCE8E3"/>
          </a:solidFill>
          <a:ln cap="flat" cmpd="sng" w="12700">
            <a:solidFill>
              <a:srgbClr val="E899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2029968" y="2286000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40080" y="2907792"/>
            <a:ext cx="640080" cy="566928"/>
          </a:xfrm>
          <a:prstGeom prst="roundRect">
            <a:avLst>
              <a:gd fmla="val 9677" name="adj"/>
            </a:avLst>
          </a:prstGeom>
          <a:solidFill>
            <a:srgbClr val="DCEAF7"/>
          </a:solidFill>
          <a:ln cap="flat" cmpd="sng" w="12700">
            <a:solidFill>
              <a:srgbClr val="7AAA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640080" y="2907792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335024" y="2907792"/>
            <a:ext cx="640080" cy="566928"/>
          </a:xfrm>
          <a:prstGeom prst="roundRect">
            <a:avLst>
              <a:gd fmla="val 9677" name="adj"/>
            </a:avLst>
          </a:prstGeom>
          <a:solidFill>
            <a:srgbClr val="FCE8E3"/>
          </a:solidFill>
          <a:ln cap="flat" cmpd="sng" w="12700">
            <a:solidFill>
              <a:srgbClr val="E899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1335024" y="2907792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029968" y="2907792"/>
            <a:ext cx="640080" cy="566928"/>
          </a:xfrm>
          <a:prstGeom prst="roundRect">
            <a:avLst>
              <a:gd fmla="val 9677" name="adj"/>
            </a:avLst>
          </a:prstGeom>
          <a:solidFill>
            <a:srgbClr val="DCEAF7"/>
          </a:solidFill>
          <a:ln cap="flat" cmpd="sng" w="12700">
            <a:solidFill>
              <a:srgbClr val="7AAA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2029968" y="2907792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2880360" y="274320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" name="Google Shape;123;p4"/>
          <p:cNvSpPr/>
          <p:nvPr/>
        </p:nvSpPr>
        <p:spPr>
          <a:xfrm>
            <a:off x="2880360" y="248716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value ≥ 5 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657600" y="1371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Output grid: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657600" y="1664208"/>
            <a:ext cx="640080" cy="566928"/>
          </a:xfrm>
          <a:prstGeom prst="roundRect">
            <a:avLst>
              <a:gd fmla="val 9677" name="adj"/>
            </a:avLst>
          </a:prstGeom>
          <a:solidFill>
            <a:srgbClr val="D4EDDA"/>
          </a:solidFill>
          <a:ln cap="flat" cmpd="sng" w="12700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3657600" y="1664208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352544" y="1664208"/>
            <a:ext cx="640080" cy="566928"/>
          </a:xfrm>
          <a:prstGeom prst="roundRect">
            <a:avLst>
              <a:gd fmla="val 9677" name="adj"/>
            </a:avLst>
          </a:prstGeom>
          <a:solidFill>
            <a:srgbClr val="FADBD8"/>
          </a:solidFill>
          <a:ln cap="flat" cmpd="sng" w="12700">
            <a:solidFill>
              <a:srgbClr val="F0B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352544" y="1664208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047488" y="1664208"/>
            <a:ext cx="640080" cy="566928"/>
          </a:xfrm>
          <a:prstGeom prst="roundRect">
            <a:avLst>
              <a:gd fmla="val 9677" name="adj"/>
            </a:avLst>
          </a:prstGeom>
          <a:solidFill>
            <a:srgbClr val="D4EDDA"/>
          </a:solidFill>
          <a:ln cap="flat" cmpd="sng" w="12700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5047488" y="1664208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657600" y="2286000"/>
            <a:ext cx="640080" cy="566928"/>
          </a:xfrm>
          <a:prstGeom prst="roundRect">
            <a:avLst>
              <a:gd fmla="val 9677" name="adj"/>
            </a:avLst>
          </a:prstGeom>
          <a:solidFill>
            <a:srgbClr val="FADBD8"/>
          </a:solidFill>
          <a:ln cap="flat" cmpd="sng" w="12700">
            <a:solidFill>
              <a:srgbClr val="F0B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3657600" y="2286000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352544" y="2286000"/>
            <a:ext cx="640080" cy="566928"/>
          </a:xfrm>
          <a:prstGeom prst="roundRect">
            <a:avLst>
              <a:gd fmla="val 9677" name="adj"/>
            </a:avLst>
          </a:prstGeom>
          <a:solidFill>
            <a:srgbClr val="D4EDDA"/>
          </a:solidFill>
          <a:ln cap="flat" cmpd="sng" w="12700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4352544" y="2286000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047488" y="2286000"/>
            <a:ext cx="640080" cy="566928"/>
          </a:xfrm>
          <a:prstGeom prst="roundRect">
            <a:avLst>
              <a:gd fmla="val 9677" name="adj"/>
            </a:avLst>
          </a:prstGeom>
          <a:solidFill>
            <a:srgbClr val="FADBD8"/>
          </a:solidFill>
          <a:ln cap="flat" cmpd="sng" w="12700">
            <a:solidFill>
              <a:srgbClr val="F0B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5047488" y="2286000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657600" y="2907792"/>
            <a:ext cx="640080" cy="566928"/>
          </a:xfrm>
          <a:prstGeom prst="roundRect">
            <a:avLst>
              <a:gd fmla="val 9677" name="adj"/>
            </a:avLst>
          </a:prstGeom>
          <a:solidFill>
            <a:srgbClr val="D4EDDA"/>
          </a:solidFill>
          <a:ln cap="flat" cmpd="sng" w="12700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3657600" y="2907792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352544" y="2907792"/>
            <a:ext cx="640080" cy="566928"/>
          </a:xfrm>
          <a:prstGeom prst="roundRect">
            <a:avLst>
              <a:gd fmla="val 9677" name="adj"/>
            </a:avLst>
          </a:prstGeom>
          <a:solidFill>
            <a:srgbClr val="FADBD8"/>
          </a:solidFill>
          <a:ln cap="flat" cmpd="sng" w="12700">
            <a:solidFill>
              <a:srgbClr val="F0B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4352544" y="2907792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047488" y="2907792"/>
            <a:ext cx="640080" cy="566928"/>
          </a:xfrm>
          <a:prstGeom prst="roundRect">
            <a:avLst>
              <a:gd fmla="val 9677" name="adj"/>
            </a:avLst>
          </a:prstGeom>
          <a:solidFill>
            <a:srgbClr val="D4EDDA"/>
          </a:solidFill>
          <a:ln cap="flat" cmpd="sng" w="12700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5047488" y="2907792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400800" y="1371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Printed output: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6400800" y="1664208"/>
            <a:ext cx="2286000" cy="192024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6510528" y="1773936"/>
            <a:ext cx="3474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6912864" y="1773936"/>
            <a:ext cx="3474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7315200" y="1773936"/>
            <a:ext cx="3474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510528" y="2340864"/>
            <a:ext cx="3474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912864" y="2340864"/>
            <a:ext cx="3474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7315200" y="2340864"/>
            <a:ext cx="3474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510528" y="2907792"/>
            <a:ext cx="3474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6912864" y="2907792"/>
            <a:ext cx="3474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7315200" y="2907792"/>
            <a:ext cx="3474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502920" y="3840480"/>
            <a:ext cx="8321040" cy="502920"/>
          </a:xfrm>
          <a:prstGeom prst="roundRect">
            <a:avLst>
              <a:gd fmla="val 10909" name="adj"/>
            </a:avLst>
          </a:prstGeom>
          <a:solidFill>
            <a:srgbClr val="D6E4F7"/>
          </a:solidFill>
          <a:ln cap="flat" cmpd="sng" w="9525">
            <a:solidFill>
              <a:srgbClr val="A8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685800" y="3886200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' '.join(['@','*','@'])</a:t>
            </a: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b="1" i="0" lang="en-US" sz="12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"@ * @"</a:t>
            </a: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   No trailing space! Each row printed with </a:t>
            </a:r>
            <a:r>
              <a:rPr b="1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print()</a:t>
            </a: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adds its own newline.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2 -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Explanatory Approach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Step-by-step: read input, loop over rows and columns, build and print each row.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228600" y="969264"/>
            <a:ext cx="6949440" cy="388620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384048" y="1078992"/>
            <a:ext cx="66751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n, t = map(int, input().split())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for _ in range(n):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row = list(map(int, input().split()))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symbols = []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for value in row: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value &gt;= t: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symbols.append('@')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else: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symbols.append('*')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print(' '.join(symbols))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5"/>
          <p:cNvCxnSpPr/>
          <p:nvPr/>
        </p:nvCxnSpPr>
        <p:spPr>
          <a:xfrm>
            <a:off x="7242048" y="1737360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5"/>
          <p:cNvSpPr/>
          <p:nvPr/>
        </p:nvSpPr>
        <p:spPr>
          <a:xfrm>
            <a:off x="7562088" y="169164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Read n (size)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and t (threshold)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in one line.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5"/>
          <p:cNvCxnSpPr/>
          <p:nvPr/>
        </p:nvCxnSpPr>
        <p:spPr>
          <a:xfrm>
            <a:off x="7242048" y="2377440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5"/>
          <p:cNvSpPr/>
          <p:nvPr/>
        </p:nvSpPr>
        <p:spPr>
          <a:xfrm>
            <a:off x="7562088" y="233172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Each row is 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list of ints via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map(int, ...).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5"/>
          <p:cNvCxnSpPr/>
          <p:nvPr/>
        </p:nvCxnSpPr>
        <p:spPr>
          <a:xfrm>
            <a:off x="7242048" y="3154680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5"/>
          <p:cNvSpPr/>
          <p:nvPr/>
        </p:nvSpPr>
        <p:spPr>
          <a:xfrm>
            <a:off x="7562088" y="310896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Ternary check: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≥t → '@',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&lt;t → '*'.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5"/>
          <p:cNvCxnSpPr/>
          <p:nvPr/>
        </p:nvCxnSpPr>
        <p:spPr>
          <a:xfrm>
            <a:off x="7242048" y="4041648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5"/>
          <p:cNvSpPr/>
          <p:nvPr/>
        </p:nvSpPr>
        <p:spPr>
          <a:xfrm>
            <a:off x="7562088" y="3995928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join() adds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spaces between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— no trailing.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2 -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Pythonic Optimization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Compact form using a list comprehension and ternary expression.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228600" y="969264"/>
            <a:ext cx="8686800" cy="1261872"/>
          </a:xfrm>
          <a:prstGeom prst="roundRect">
            <a:avLst>
              <a:gd fmla="val 724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384048" y="1024128"/>
            <a:ext cx="83210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n, t = map(int, input().split())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for _ in range(n):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row = list(map(int, input().split()))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print(' '.join('@' if v &gt;= t else '*' for v in row))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228600" y="2395728"/>
            <a:ext cx="8686800" cy="2423160"/>
          </a:xfrm>
          <a:prstGeom prst="roundRect">
            <a:avLst>
              <a:gd fmla="val 377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411480" y="25328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Breaking down the one-liner per row: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02920" y="288950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'@' if v &gt;= t else '*'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3493008" y="2889504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ternary: '@' when value meets threshold, '*' otherwise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502920" y="323697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for v in row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3493008" y="3236976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iterate over each integer in the current row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02920" y="358444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' '.join(...)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3493008" y="3584448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join all symbols with a single space between them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502920" y="393192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print(...)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3493008" y="3931920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output the joined string followed by a newline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11480" y="438912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1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' '.join()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places spaces BETWEEN elements only — so the first and last elements have no extra space. This is exactly the required output format.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2 -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/>
          <p:nvPr/>
        </p:nvSpPr>
        <p:spPr>
          <a:xfrm>
            <a:off x="0" y="164592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Solution Comparison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7"/>
          <p:cNvCxnSpPr/>
          <p:nvPr/>
        </p:nvCxnSpPr>
        <p:spPr>
          <a:xfrm>
            <a:off x="4572000" y="914400"/>
            <a:ext cx="0" cy="4023360"/>
          </a:xfrm>
          <a:prstGeom prst="straightConnector1">
            <a:avLst/>
          </a:prstGeom>
          <a:noFill/>
          <a:ln cap="flat" cmpd="sng" w="12700">
            <a:solidFill>
              <a:srgbClr val="C8C0B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03" name="Google Shape;2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7390" y="875525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4" name="Google Shape;20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9340" y="875525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/>
          <p:nvPr/>
        </p:nvSpPr>
        <p:spPr>
          <a:xfrm>
            <a:off x="320050" y="1501897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Explicit Loop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572000" y="1501897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List Comprehension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57200" y="1965960"/>
            <a:ext cx="3749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Separate loop for symbols list.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Easy to trace each step.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Simple to extend with more symbols.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Best for: Beginners &amp; clarity.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029200" y="1965960"/>
            <a:ext cx="3749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Single expression per row.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Ternary inline — no temp list.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Idiomatic Python generator.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Best for: Clean code &amp; interviews.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57200" y="3730752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symbols = []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for v in row: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  symbols.append('@' if v&gt;=t else '*')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print(' '.join(symbols))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029200" y="385876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print(' '.join(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  '@' if v&gt;=t else '*'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  for v in row))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2 -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228600" y="914400"/>
            <a:ext cx="2788920" cy="338328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01 Ternary Expression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'@' if v &gt;= t else '*' maps each value in one expression. No if-else block needed — compact and readable for simple substitutions.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3127248" y="914400"/>
            <a:ext cx="2788920" cy="338328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02 join() for Clean Output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' '.join(symbols) places spaces BETWEEN elements only — no leading or trailing space. This matches the required output format exactly.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035040" y="914400"/>
            <a:ext cx="2788920" cy="338328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03 map(int, input().split())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standard pattern to read a row of integers: input() reads the line, .split() breaks on spaces, map(int,...) converts each to int.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D6E4F7"/>
          </a:solidFill>
          <a:ln cap="flat" cmpd="sng" w="9525">
            <a:solidFill>
              <a:srgbClr val="A8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411480" y="42428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Final Syntax Cheat Sheet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11480" y="4425696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n, t = map(int, input().split())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11480" y="4590288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for _ in range(n): print(' '.join('@' if v&gt;=t else '*' for v in map(int,input().split())))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2 -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2026-04-20T19:50:40Z</dcterms:created>
  <dc:creator>PptxGenJS</dc:creator>
</cp:coreProperties>
</file>