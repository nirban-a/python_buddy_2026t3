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CNZN1UL5abl7PbMvDSY95W9rK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Railway Ticket Booking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7249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3 - Problem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804675"/>
            <a:ext cx="4069200" cy="4052400"/>
          </a:xfrm>
          <a:prstGeom prst="roundRect">
            <a:avLst>
              <a:gd fmla="val 224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9326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DATA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65760" y="1188720"/>
            <a:ext cx="38862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bookings =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"PNR112":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"coach_type": "3AC",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"ticket_rate": 900,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"passengers": [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("Rahul", "UB"),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("Baskar", None)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"PNR123":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"coach_type": "2AC",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20040" y="3675888"/>
            <a:ext cx="3913632" cy="109728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37124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Each PNR entry has: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393192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3931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coach_type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"1AC","2AC","3AC","SL","1C"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416052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41605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ticket_rate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price per person (int)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438912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43891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passengers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list of (name, berth) tuples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07400" y="804675"/>
            <a:ext cx="4508100" cy="4052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90288" y="9326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FOUR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462272" y="1207008"/>
            <a:ext cx="73152" cy="777240"/>
          </a:xfrm>
          <a:prstGeom prst="rect">
            <a:avLst/>
          </a:prstGeom>
          <a:solidFill>
            <a:srgbClr val="1F4E91"/>
          </a:solidFill>
          <a:ln cap="flat" cmpd="sng" w="12700">
            <a:solidFill>
              <a:srgbClr val="1F4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90288" y="1225296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ticket_prices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90288" y="1481328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Dict of PNR → total 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(ticket_rate × num passengers)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462272" y="2103120"/>
            <a:ext cx="73152" cy="777240"/>
          </a:xfrm>
          <a:prstGeom prst="rect">
            <a:avLst/>
          </a:prstGeom>
          <a:solidFill>
            <a:srgbClr val="1E7D34"/>
          </a:solidFill>
          <a:ln cap="flat" cmpd="sng" w="12700">
            <a:solidFill>
              <a:srgbClr val="1E7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90288" y="2121408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total_revenue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90288" y="2377440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Sum of all total prices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across all PNRs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62272" y="2999232"/>
            <a:ext cx="73152" cy="77724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90288" y="3017520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berth_preference_count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90288" y="3273552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 of passengers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 berth type (all berths incl. None)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462272" y="3895344"/>
            <a:ext cx="73152" cy="7772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90288" y="3913632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coach_type_count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90288" y="4169664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 of passengers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 coach type (only present types)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Data Structure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28600" y="777250"/>
            <a:ext cx="8686800" cy="402120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8961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bookings  (dict of dicts)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1480" y="1234440"/>
            <a:ext cx="2084832" cy="310896"/>
          </a:xfrm>
          <a:prstGeom prst="roundRect">
            <a:avLst>
              <a:gd fmla="val 1470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11480" y="1234440"/>
            <a:ext cx="20848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PNR112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1480" y="1572768"/>
            <a:ext cx="2084832" cy="256032"/>
          </a:xfrm>
          <a:prstGeom prst="rect">
            <a:avLst/>
          </a:prstGeom>
          <a:solidFill>
            <a:srgbClr val="EAF4FB"/>
          </a:solidFill>
          <a:ln cap="flat" cmpd="sng" w="9525">
            <a:solidFill>
              <a:srgbClr val="D0DE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84632" y="157276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coach: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3AC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1480" y="1847088"/>
            <a:ext cx="2084832" cy="256032"/>
          </a:xfrm>
          <a:prstGeom prst="rect">
            <a:avLst/>
          </a:prstGeom>
          <a:solidFill>
            <a:srgbClr val="FEF9EE"/>
          </a:solidFill>
          <a:ln cap="flat" cmpd="sng" w="9525">
            <a:solidFill>
              <a:srgbClr val="E8D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84632" y="184708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rate: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₹900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4632" y="2139696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passengers: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84632" y="2359152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21208" y="2359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Rahul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4632" y="2743200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21208" y="2743200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Baskar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11480" y="4407408"/>
            <a:ext cx="2084832" cy="29260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84632" y="440740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₹1800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651760" y="1234440"/>
            <a:ext cx="2084832" cy="310896"/>
          </a:xfrm>
          <a:prstGeom prst="roundRect">
            <a:avLst>
              <a:gd fmla="val 1470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651760" y="1234440"/>
            <a:ext cx="20848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PNR123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651760" y="1572768"/>
            <a:ext cx="2084832" cy="256032"/>
          </a:xfrm>
          <a:prstGeom prst="rect">
            <a:avLst/>
          </a:prstGeom>
          <a:solidFill>
            <a:srgbClr val="EAF4FB"/>
          </a:solidFill>
          <a:ln cap="flat" cmpd="sng" w="9525">
            <a:solidFill>
              <a:srgbClr val="D0DE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724912" y="157276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coach: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2AC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651760" y="1847088"/>
            <a:ext cx="2084832" cy="256032"/>
          </a:xfrm>
          <a:prstGeom prst="rect">
            <a:avLst/>
          </a:prstGeom>
          <a:solidFill>
            <a:srgbClr val="FEF9EE"/>
          </a:solidFill>
          <a:ln cap="flat" cmpd="sng" w="9525">
            <a:solidFill>
              <a:srgbClr val="E8D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2724912" y="184708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rate: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₹1500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24912" y="2139696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passengers: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724912" y="2359152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761488" y="2359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Amit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LB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724912" y="2743200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61488" y="2743200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Ravi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651760" y="4407408"/>
            <a:ext cx="2084832" cy="29260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2724912" y="440740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₹3000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892040" y="1234440"/>
            <a:ext cx="2084832" cy="310896"/>
          </a:xfrm>
          <a:prstGeom prst="roundRect">
            <a:avLst>
              <a:gd fmla="val 1470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92040" y="1234440"/>
            <a:ext cx="20848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PNR456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92040" y="1572768"/>
            <a:ext cx="2084832" cy="256032"/>
          </a:xfrm>
          <a:prstGeom prst="rect">
            <a:avLst/>
          </a:prstGeom>
          <a:solidFill>
            <a:srgbClr val="EAF4FB"/>
          </a:solidFill>
          <a:ln cap="flat" cmpd="sng" w="9525">
            <a:solidFill>
              <a:srgbClr val="D0DE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965192" y="157276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coach: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3AC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92040" y="1847088"/>
            <a:ext cx="2084832" cy="256032"/>
          </a:xfrm>
          <a:prstGeom prst="rect">
            <a:avLst/>
          </a:prstGeom>
          <a:solidFill>
            <a:srgbClr val="FEF9EE"/>
          </a:solidFill>
          <a:ln cap="flat" cmpd="sng" w="9525">
            <a:solidFill>
              <a:srgbClr val="E8D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965192" y="184708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rate: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₹800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965192" y="2139696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passengers: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965192" y="2359152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001768" y="2359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Priya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MB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65192" y="2743200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001768" y="2743200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Neha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92040" y="4407408"/>
            <a:ext cx="2084832" cy="29260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965192" y="440740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₹1600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58000" y="1234440"/>
            <a:ext cx="2084832" cy="310896"/>
          </a:xfrm>
          <a:prstGeom prst="roundRect">
            <a:avLst>
              <a:gd fmla="val 1470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858000" y="1234440"/>
            <a:ext cx="20848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PNR789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58000" y="1572768"/>
            <a:ext cx="2084832" cy="256032"/>
          </a:xfrm>
          <a:prstGeom prst="rect">
            <a:avLst/>
          </a:prstGeom>
          <a:solidFill>
            <a:srgbClr val="EAF4FB"/>
          </a:solidFill>
          <a:ln cap="flat" cmpd="sng" w="9525">
            <a:solidFill>
              <a:srgbClr val="D0DE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31152" y="157276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coach: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58000" y="1847088"/>
            <a:ext cx="2084832" cy="256032"/>
          </a:xfrm>
          <a:prstGeom prst="rect">
            <a:avLst/>
          </a:prstGeom>
          <a:solidFill>
            <a:srgbClr val="FEF9EE"/>
          </a:solidFill>
          <a:ln cap="flat" cmpd="sng" w="9525">
            <a:solidFill>
              <a:srgbClr val="E8D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931152" y="184708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rate: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₹500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931152" y="2139696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passengers: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931152" y="2359152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967728" y="2359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Vikram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31152" y="2743200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967728" y="2743200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Kiran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MB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931152" y="3127248"/>
            <a:ext cx="1938528" cy="329184"/>
          </a:xfrm>
          <a:prstGeom prst="roundRect">
            <a:avLst>
              <a:gd fmla="val 11111" name="adj"/>
            </a:avLst>
          </a:prstGeom>
          <a:solidFill>
            <a:srgbClr val="F8F6F2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967728" y="312724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Surya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10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SU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858000" y="4407408"/>
            <a:ext cx="2084832" cy="292608"/>
          </a:xfrm>
          <a:prstGeom prst="rect">
            <a:avLst/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931152" y="440740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₹1500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Tasks: "ticket_prices"  &amp;  "total_revenue"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28600" y="777240"/>
            <a:ext cx="5303520" cy="2057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11480" y="868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ticket_prices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1480" y="115214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total price = ticket_rate × len(passengers)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4048" y="1417320"/>
            <a:ext cx="1207008" cy="1207008"/>
          </a:xfrm>
          <a:prstGeom prst="roundRect">
            <a:avLst>
              <a:gd fmla="val 5303" name="adj"/>
            </a:avLst>
          </a:prstGeom>
          <a:solidFill>
            <a:srgbClr val="EAF4FB"/>
          </a:solidFill>
          <a:ln cap="flat" cmpd="sng" w="1015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84048" y="146304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PNR112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84048" y="168249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₹900×2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84048" y="190195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= ₹1800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645920" y="1417320"/>
            <a:ext cx="1207008" cy="1207008"/>
          </a:xfrm>
          <a:prstGeom prst="roundRect">
            <a:avLst>
              <a:gd fmla="val 5303" name="adj"/>
            </a:avLst>
          </a:prstGeom>
          <a:solidFill>
            <a:srgbClr val="EAF4FB"/>
          </a:solidFill>
          <a:ln cap="flat" cmpd="sng" w="1015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645920" y="146304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PNR123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645920" y="168249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₹1500×2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645920" y="190195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= ₹3000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907792" y="1417320"/>
            <a:ext cx="1207008" cy="1207008"/>
          </a:xfrm>
          <a:prstGeom prst="roundRect">
            <a:avLst>
              <a:gd fmla="val 5303" name="adj"/>
            </a:avLst>
          </a:prstGeom>
          <a:solidFill>
            <a:srgbClr val="EAF4FB"/>
          </a:solidFill>
          <a:ln cap="flat" cmpd="sng" w="1015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907792" y="146304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PNR456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907792" y="168249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₹800×2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907792" y="190195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= ₹1600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169664" y="1417320"/>
            <a:ext cx="1207008" cy="1207008"/>
          </a:xfrm>
          <a:prstGeom prst="roundRect">
            <a:avLst>
              <a:gd fmla="val 5303" name="adj"/>
            </a:avLst>
          </a:prstGeom>
          <a:solidFill>
            <a:srgbClr val="EAF4FB"/>
          </a:solidFill>
          <a:ln cap="flat" cmpd="sng" w="1015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169664" y="1463040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PNR789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169664" y="1682496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₹500×3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169664" y="190195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= ₹1500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28600" y="2670048"/>
            <a:ext cx="5303520" cy="32004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47472" y="2706624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{'PNR112': 1800, 'PNR123': 3000, 'PNR456': 1600, 'PNR789': 1500}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650992" y="777240"/>
            <a:ext cx="3264408" cy="2057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806440" y="8686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total_revenue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806440" y="115214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Sum of all ticket_prices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870448" y="1408176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₹1800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870448" y="16276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+ ₹3000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870448" y="184708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+ ₹1600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870448" y="206654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+ ₹1500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5870448" y="2331720"/>
            <a:ext cx="1828800" cy="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5870448" y="235000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= ₹7900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650992" y="2670048"/>
            <a:ext cx="3264408" cy="32004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779008" y="270662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Output: 7900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28600" y="3127250"/>
            <a:ext cx="8686800" cy="1755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84048" y="3218688"/>
            <a:ext cx="83210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if task == "ticket_prices":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{pnr: info["ticket_rate"] * len(info["passengers"]) for pnr, info in bookings.items()}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if task == "total_revenue":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sum(info["ticket_rate"] * len(info["passengers"]) for info in bookings.values())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Task: "berth_preference_count"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28600" y="777240"/>
            <a:ext cx="8686800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11480" y="87782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Count each berth preference across ALL passengers (include all types, even if count = 0):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5760" y="11521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PNR112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65760" y="135331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38912" y="135331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Rahul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65760" y="171907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38912" y="171907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Baskar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578608" y="11521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PNR123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578608" y="135331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651760" y="135331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Amit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LB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578608" y="171907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2651760" y="171907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Ravi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791456" y="11521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PNR456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791456" y="135331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864608" y="135331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Priya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791456" y="171907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864608" y="171907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Neha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004304" y="11521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PNR789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004304" y="135331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7077456" y="135331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Vikram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004304" y="171907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077456" y="171907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Kiran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004304" y="2084832"/>
            <a:ext cx="2103120" cy="320040"/>
          </a:xfrm>
          <a:prstGeom prst="roundRect">
            <a:avLst>
              <a:gd fmla="val 11429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7077456" y="2084832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Surya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0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SU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28600" y="3035808"/>
            <a:ext cx="86868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11480" y="312724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Tally all berths (ALL 6 types must appear, even with count 0):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84048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DCEAF7"/>
          </a:solidFill>
          <a:ln cap="flat" cmpd="sng" w="12700">
            <a:solidFill>
              <a:srgbClr val="1F4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384048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84048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819656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FCE8E3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1819656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819656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255264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D4EDDA"/>
          </a:solidFill>
          <a:ln cap="flat" cmpd="sng" w="12700">
            <a:solidFill>
              <a:srgbClr val="1E7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255264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LB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255264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690872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EFE3F7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690872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B3FA0"/>
                </a:solidFill>
                <a:latin typeface="Courier New"/>
                <a:ea typeface="Courier New"/>
                <a:cs typeface="Courier New"/>
                <a:sym typeface="Courier New"/>
              </a:rPr>
              <a:t>SU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690872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126480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F0EDE8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126480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126480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562088" y="3401568"/>
            <a:ext cx="1371600" cy="749808"/>
          </a:xfrm>
          <a:prstGeom prst="roundRect">
            <a:avLst>
              <a:gd fmla="val 7317" name="adj"/>
            </a:avLst>
          </a:prstGeom>
          <a:solidFill>
            <a:srgbClr val="F0EDE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7562088" y="3429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562088" y="3749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Task: "coach_type_count"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28600" y="777240"/>
            <a:ext cx="8686800" cy="2057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11480" y="87782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Count passengers per coach type — only include coach types PRESENT in bookings: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65760" y="1170432"/>
            <a:ext cx="2103120" cy="274320"/>
          </a:xfrm>
          <a:prstGeom prst="roundRect">
            <a:avLst>
              <a:gd fmla="val 16667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65760" y="1170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PNR112  [3AC]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65760" y="148132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57200" y="14813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Rahul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65760" y="180136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57200" y="18013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Baskar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65760" y="25237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+2 to 3AC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578608" y="1170432"/>
            <a:ext cx="2103120" cy="274320"/>
          </a:xfrm>
          <a:prstGeom prst="roundRect">
            <a:avLst>
              <a:gd fmla="val 16667" name="adj"/>
            </a:avLst>
          </a:prstGeom>
          <a:solidFill>
            <a:srgbClr val="1E7D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578608" y="1170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PNR123  [2AC]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578608" y="148132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2670048" y="14813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578608" y="180136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670048" y="18013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Ravi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578608" y="25237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+2 to 2AC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791456" y="1170432"/>
            <a:ext cx="2103120" cy="274320"/>
          </a:xfrm>
          <a:prstGeom prst="roundRect">
            <a:avLst>
              <a:gd fmla="val 16667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791456" y="1170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PNR456  [3AC]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791456" y="148132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882896" y="14813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Priya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791456" y="180136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882896" y="18013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791456" y="25237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+2 to 3AC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004304" y="1170432"/>
            <a:ext cx="2103120" cy="27432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7004304" y="1170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PNR789  [SL]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004304" y="148132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095744" y="14813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Vikram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004304" y="180136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7095744" y="18013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Kiran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004304" y="2121408"/>
            <a:ext cx="2103120" cy="274320"/>
          </a:xfrm>
          <a:prstGeom prst="roundRect">
            <a:avLst>
              <a:gd fmla="val 13333" name="adj"/>
            </a:avLst>
          </a:prstGeom>
          <a:solidFill>
            <a:srgbClr val="F8F6F2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095744" y="21214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Surya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004304" y="252374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+3 to SL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228600" y="2880349"/>
            <a:ext cx="8686800" cy="1707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11480" y="2980944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count (only 2AC, 3AC, SL present — other types not included):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371600" y="3255264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D4EDDA"/>
          </a:solidFill>
          <a:ln cap="flat" cmpd="sng" w="19050">
            <a:solidFill>
              <a:srgbClr val="1E7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1371600" y="329184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2AC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371600" y="36576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 passengers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794760" y="3255264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DCEAF7"/>
          </a:solidFill>
          <a:ln cap="flat" cmpd="sng" w="19050">
            <a:solidFill>
              <a:srgbClr val="1F4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794760" y="329184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3AC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794760" y="36576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passengers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217920" y="3255264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FCE8E3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6217920" y="329184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SL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217920" y="36576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passengers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47472" y="43159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Output: {'2AC': 2, '3AC': 4, 'SL': 3}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320040" y="-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20040" y="457192"/>
            <a:ext cx="850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Full function with explicit if-elif branches for each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28550" y="694800"/>
            <a:ext cx="8686800" cy="4197300"/>
          </a:xfrm>
          <a:prstGeom prst="roundRect">
            <a:avLst>
              <a:gd fmla="val 226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11448" y="694790"/>
            <a:ext cx="83211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berth_types = ["UB", "MB", "LB", "SU", "SL", None]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analyze_bookings(bookings, task):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if task == "ticket_prices":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= {}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pnr, info in bookings.items():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result[pnr] = info["ticket_rate"] * len(info["passengers"])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"total_revenue":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sum(info["ticket_rate"] * len(info["passengers"])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for info in bookings.values())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"berth_preference_count":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counts = {b: 0 for b in berth_types}   # all 6 types →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info in bookings.values():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name, berth in info["passengers"]: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counts[berth] +=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"coach_type_count":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counts = {}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info in bookings.values():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coach = info["coach_type"]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 = len(info["passengers"])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counts[coach] = counts.get(coach, 0) +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320040" y="18267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20040" y="420642"/>
            <a:ext cx="850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Dict comprehensions, sum(), and dispatch pattern.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28550" y="658250"/>
            <a:ext cx="8686800" cy="358560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83998" y="749690"/>
            <a:ext cx="83211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analyze_bookings(bookings, task):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all_passengers = [(b, info) for info in bookings.values()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for b, _ in info["passengers"]]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↑ flat list of (berth, info) for all passengers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if task == "ticket_prices":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{pnr: v["ticket_rate"]*len(v["passengers"]) for pnr,v in bookings.items()}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"total_revenue":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sum(v["ticket_rate"]*len(v["passengers"]) for v in bookings.values())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"berth_preference_count":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berths = [b for info in bookings.values() for _, b in info["passengers"]]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{b: berths.count(b) for b in ["UB","MB","LB","SU","SL",None]}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elif task == "coach_type_count":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coaches = [info["coach_type"] for info in bookings.values()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for _ in info["passengers"]]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{c: coaches.count(c) for c in set(coaches)}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28550" y="4319050"/>
            <a:ext cx="8686800" cy="5730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384005" y="4319051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Key patterns used: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84005" y="453850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{k:v for k,v in ...}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dict comprehension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596853" y="453850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sum(... for ...)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generator sum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09701" y="453850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list.count(x)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count occurrences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022549" y="453850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set(coaches)</a:t>
            </a: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→ unique coach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28600" y="914400"/>
            <a:ext cx="2788920" cy="329184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384048" y="1051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Nested Data Traversal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84048" y="1499616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Access nested dict values with info['ticket_rate'] and iterate passengers with: for name, berth in info['passengers']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127248" y="914400"/>
            <a:ext cx="2788920" cy="329184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3282696" y="1051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Init All Keys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282696" y="1499616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berth_preference_count needs ALL berth types including None — pre-initialise with {b: 0 for b in berth_types} before counting.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035040" y="914400"/>
            <a:ext cx="2788920" cy="329184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190488" y="1051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dict.get() for Dynamic Keys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190488" y="1499616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coach_type_count (only present types), use counts.get(coach, 0) + n to safely increment without KeyError.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28600" y="4251968"/>
            <a:ext cx="8686800" cy="59430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11480" y="4270256"/>
            <a:ext cx="320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11480" y="4453136"/>
            <a:ext cx="832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ticket_prices:   {pnr: v["ticket_rate"]*len(v["passengers"]) for pnr,v in bookings.items()}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11480" y="4617728"/>
            <a:ext cx="832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berth_count:     {b: 0 for b in berth_types}  then  counts[berth] += 1  per passenger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3 -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2026-04-20T20:02:37Z</dcterms:created>
  <dc:creator>PptxGenJS</dc:creator>
</cp:coreProperties>
</file>