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Jan OPPE 2 - Set 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with Consecutive Identical Letters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2 - Problem 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051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</a:t>
            </a:r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'words_with_consecutive_letters'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filters a list of words, keeping only those with at least one pair of </a:t>
            </a:r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identical letters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45059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4505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Consecutive: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two same letters side-by-side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276148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7614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pPr indent="0" marL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</a:t>
            </a:r>
            <a:pPr indent="0" marL="0">
              <a:buNone/>
            </a:pPr>
            <a:r>
              <a:rPr lang="en-US" sz="125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"ll"</a:t>
            </a:r>
            <a:pPr indent="0" marL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2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"cat"</a:t>
            </a:r>
            <a:pPr indent="0" marL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not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307238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0723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Case-insensitive: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"Hello" → lower → "hello"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340156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4015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input order in result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" y="371246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7124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list — may be empty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" y="402336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4023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only — no input/print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62272" y="2743200"/>
            <a:ext cx="50292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0" y="914400"/>
            <a:ext cx="3840480" cy="39776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&amp; EXPLANATION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13716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["hello","apple","ball","test","cat"]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12080" y="1627632"/>
            <a:ext cx="3456432" cy="274320"/>
          </a:xfrm>
          <a:prstGeom prst="roundRect">
            <a:avLst>
              <a:gd name="adj" fmla="val 13333"/>
            </a:avLst>
          </a:prstGeom>
          <a:solidFill>
            <a:srgbClr val="D4EDDA"/>
          </a:solidFill>
          <a:ln w="6350">
            <a:solidFill>
              <a:srgbClr val="1E7D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1808" y="162763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pPr indent="0" marL="0">
              <a:buNone/>
            </a:pPr>
            <a:r>
              <a:rPr lang="en-US" sz="10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"ll" ✓ keep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12080" y="1938528"/>
            <a:ext cx="3456432" cy="274320"/>
          </a:xfrm>
          <a:prstGeom prst="roundRect">
            <a:avLst>
              <a:gd name="adj" fmla="val 13333"/>
            </a:avLst>
          </a:prstGeom>
          <a:solidFill>
            <a:srgbClr val="D4EDDA"/>
          </a:solidFill>
          <a:ln w="6350">
            <a:solidFill>
              <a:srgbClr val="1E7D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19385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"apple"</a:t>
            </a:r>
            <a:pPr indent="0" marL="0">
              <a:buNone/>
            </a:pPr>
            <a:r>
              <a:rPr lang="en-US" sz="10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"pp" ✓ keep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12080" y="2249424"/>
            <a:ext cx="3456432" cy="274320"/>
          </a:xfrm>
          <a:prstGeom prst="roundRect">
            <a:avLst>
              <a:gd name="adj" fmla="val 13333"/>
            </a:avLst>
          </a:prstGeom>
          <a:solidFill>
            <a:srgbClr val="D4EDDA"/>
          </a:solidFill>
          <a:ln w="6350">
            <a:solidFill>
              <a:srgbClr val="1E7D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21808" y="22494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"ball"</a:t>
            </a:r>
            <a:pPr indent="0" marL="0">
              <a:buNone/>
            </a:pPr>
            <a:r>
              <a:rPr lang="en-US" sz="10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"ll" ✓ keep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12080" y="2560320"/>
            <a:ext cx="3456432" cy="274320"/>
          </a:xfrm>
          <a:prstGeom prst="roundRect">
            <a:avLst>
              <a:gd name="adj" fmla="val 13333"/>
            </a:avLst>
          </a:prstGeom>
          <a:solidFill>
            <a:srgbClr val="FADBD8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21808" y="25603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"test"</a:t>
            </a:r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no pair ✗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12080" y="2871216"/>
            <a:ext cx="3456432" cy="274320"/>
          </a:xfrm>
          <a:prstGeom prst="roundRect">
            <a:avLst>
              <a:gd name="adj" fmla="val 13333"/>
            </a:avLst>
          </a:prstGeom>
          <a:solidFill>
            <a:srgbClr val="FADBD8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21808" y="287121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"cat"</a:t>
            </a:r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no pair ✗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255264"/>
            <a:ext cx="3456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["hello", "apple", "ball"]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12080" y="3584448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369417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["sky","fly","run","jump"]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12080" y="3913632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consecutive pairs in any word.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4133088"/>
            <a:ext cx="3456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[]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Specification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9319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4612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1071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BOX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(list[str])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93192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strings of any case and length.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14447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 each word,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call .lower()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21031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Compare adjacent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chars: w[i]==w[i+1]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276148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If any pair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matches → keep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341985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Collect kept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words in order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9088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list[str]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199339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that contain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pair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consecutive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letters.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9067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0819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</a:t>
            </a:r>
            <a:pPr indent="0" marL="0">
              <a:buNone/>
            </a:pPr>
            <a:r>
              <a:rPr lang="en-US" sz="10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any(w[i]==w[i+1] for i in range(len(w)-1))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checks for a consecutive pair in one expression  ·  always lowercase first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886968"/>
            <a:ext cx="8686800" cy="4050792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"hello" for consecutive pairs  →  compare each adjacent pair: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316736"/>
            <a:ext cx="749808" cy="566928"/>
          </a:xfrm>
          <a:prstGeom prst="roundRect">
            <a:avLst>
              <a:gd name="adj" fmla="val 9677"/>
            </a:avLst>
          </a:prstGeom>
          <a:solidFill>
            <a:srgbClr val="F0EDE8"/>
          </a:solidFill>
          <a:ln w="12700">
            <a:solidFill>
              <a:srgbClr val="D0C8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16736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81328" y="1316736"/>
            <a:ext cx="749808" cy="566928"/>
          </a:xfrm>
          <a:prstGeom prst="roundRect">
            <a:avLst>
              <a:gd name="adj" fmla="val 9677"/>
            </a:avLst>
          </a:prstGeom>
          <a:solidFill>
            <a:srgbClr val="F0EDE8"/>
          </a:solidFill>
          <a:ln w="12700">
            <a:solidFill>
              <a:srgbClr val="D0C8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81328" y="1316736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81328" y="19019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22576" y="1316736"/>
            <a:ext cx="749808" cy="566928"/>
          </a:xfrm>
          <a:prstGeom prst="roundRect">
            <a:avLst>
              <a:gd name="adj" fmla="val 9677"/>
            </a:avLst>
          </a:prstGeom>
          <a:solidFill>
            <a:srgbClr val="F0EDE8"/>
          </a:solidFill>
          <a:ln w="12700">
            <a:solidFill>
              <a:srgbClr val="D0C8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22576" y="1316736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322576" y="19019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63824" y="1316736"/>
            <a:ext cx="749808" cy="566928"/>
          </a:xfrm>
          <a:prstGeom prst="roundRect">
            <a:avLst>
              <a:gd name="adj" fmla="val 9677"/>
            </a:avLst>
          </a:prstGeom>
          <a:solidFill>
            <a:srgbClr val="F0EDE8"/>
          </a:solidFill>
          <a:ln w="12700">
            <a:solidFill>
              <a:srgbClr val="D0C8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1316736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63824" y="19019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05072" y="1316736"/>
            <a:ext cx="749808" cy="566928"/>
          </a:xfrm>
          <a:prstGeom prst="roundRect">
            <a:avLst>
              <a:gd name="adj" fmla="val 9677"/>
            </a:avLst>
          </a:prstGeom>
          <a:solidFill>
            <a:srgbClr val="F0EDE8"/>
          </a:solidFill>
          <a:ln w="12700">
            <a:solidFill>
              <a:srgbClr val="D0C8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5072" y="1316736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005072" y="190195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8952" y="2148840"/>
            <a:ext cx="1261872" cy="384048"/>
          </a:xfrm>
          <a:prstGeom prst="roundRect">
            <a:avLst>
              <a:gd name="adj" fmla="val 14286"/>
            </a:avLst>
          </a:prstGeom>
          <a:solidFill>
            <a:srgbClr val="FADBD8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14884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h==e? ✗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00200" y="2148840"/>
            <a:ext cx="1261872" cy="384048"/>
          </a:xfrm>
          <a:prstGeom prst="roundRect">
            <a:avLst>
              <a:gd name="adj" fmla="val 14286"/>
            </a:avLst>
          </a:prstGeom>
          <a:solidFill>
            <a:srgbClr val="FADBD8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214884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e==l? ✗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41448" y="2148840"/>
            <a:ext cx="1261872" cy="384048"/>
          </a:xfrm>
          <a:prstGeom prst="roundRect">
            <a:avLst>
              <a:gd name="adj" fmla="val 14286"/>
            </a:avLst>
          </a:prstGeom>
          <a:solidFill>
            <a:srgbClr val="D4EDDA"/>
          </a:solidFill>
          <a:ln w="10160">
            <a:solidFill>
              <a:srgbClr val="1E7D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41448" y="214884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l==l? 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82696" y="2148840"/>
            <a:ext cx="1261872" cy="384048"/>
          </a:xfrm>
          <a:prstGeom prst="roundRect">
            <a:avLst>
              <a:gd name="adj" fmla="val 14286"/>
            </a:avLst>
          </a:prstGeom>
          <a:solidFill>
            <a:srgbClr val="FADBD8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82696" y="214884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l==o? ✗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2029968"/>
            <a:ext cx="2194560" cy="621792"/>
          </a:xfrm>
          <a:prstGeom prst="roundRect">
            <a:avLst>
              <a:gd name="adj" fmla="val 10294"/>
            </a:avLst>
          </a:prstGeom>
          <a:solidFill>
            <a:srgbClr val="D4EDDA"/>
          </a:solidFill>
          <a:ln w="19050">
            <a:solidFill>
              <a:srgbClr val="A8D5B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0299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"l" == "l"  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2240" y="23591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KEEP word!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2798064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words — scanning for pairs: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57200" y="3090672"/>
            <a:ext cx="1371600" cy="256032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0906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920240" y="3090672"/>
            <a:ext cx="3017520" cy="256032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20240" y="30906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checked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75120" y="3090672"/>
            <a:ext cx="1097280" cy="256032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30906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hit?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863840" y="3090672"/>
            <a:ext cx="1188720" cy="256032"/>
          </a:xfrm>
          <a:prstGeom prst="rect">
            <a:avLst/>
          </a:prstGeom>
          <a:solidFill>
            <a:srgbClr val="E8E4DC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0" y="30906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keep?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383280"/>
            <a:ext cx="8595360" cy="256032"/>
          </a:xfrm>
          <a:prstGeom prst="rect">
            <a:avLst/>
          </a:prstGeom>
          <a:solidFill>
            <a:srgbClr val="F0FAF0"/>
          </a:solidFill>
          <a:ln w="6350">
            <a:solidFill>
              <a:srgbClr val="A8D5B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383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920240" y="33832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  el  ll ✓  lo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75120" y="33832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"ll"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863840" y="33832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D34"/>
                </a:solidFill>
              </a:rPr>
              <a:t>✓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57200" y="3675888"/>
            <a:ext cx="8595360" cy="256032"/>
          </a:xfrm>
          <a:prstGeom prst="rect">
            <a:avLst/>
          </a:prstGeom>
          <a:solidFill>
            <a:srgbClr val="F0FAF0"/>
          </a:solidFill>
          <a:ln w="6350">
            <a:solidFill>
              <a:srgbClr val="A8D5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6758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"apple"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920240" y="367588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  pp ✓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675120" y="36758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"pp"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863840" y="3675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D34"/>
                </a:solidFill>
              </a:rPr>
              <a:t>✓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57200" y="3968496"/>
            <a:ext cx="8595360" cy="256032"/>
          </a:xfrm>
          <a:prstGeom prst="rect">
            <a:avLst/>
          </a:prstGeom>
          <a:solidFill>
            <a:srgbClr val="F0FAF0"/>
          </a:solidFill>
          <a:ln w="6350">
            <a:solidFill>
              <a:srgbClr val="A8D5B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3968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"ball"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920240" y="39684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  al  ll ✓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675120" y="39684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"ll"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863840" y="396849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D34"/>
                </a:solidFill>
              </a:rPr>
              <a:t>✓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57200" y="4261104"/>
            <a:ext cx="8595360" cy="256032"/>
          </a:xfrm>
          <a:prstGeom prst="rect">
            <a:avLst/>
          </a:prstGeom>
          <a:solidFill>
            <a:srgbClr val="FFF8F8"/>
          </a:solidFill>
          <a:ln w="6350">
            <a:solidFill>
              <a:srgbClr val="F0B4A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261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"test"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920240" y="42611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  es  st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675120" y="42611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863840" y="42611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✗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57200" y="4553712"/>
            <a:ext cx="8595360" cy="256032"/>
          </a:xfrm>
          <a:prstGeom prst="rect">
            <a:avLst/>
          </a:prstGeom>
          <a:solidFill>
            <a:srgbClr val="FFF8F8"/>
          </a:solidFill>
          <a:ln w="6350">
            <a:solidFill>
              <a:srgbClr val="F0B4A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5537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"cat"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920240" y="455371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  at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675120" y="45537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863840" y="45537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✗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Explanatory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loop words, check each adjacent pair, collect matches.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78992"/>
            <a:ext cx="6675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words_with_consecutive_letters(words):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[]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word in words: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 = word.lower()      # case-insensitive check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Check each adjacent pair of characters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has_pair = False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range(len(w) - 1):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w[i] == w[i + 1]: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has_pair = True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         # stop as soon as one pair found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has_pair: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result.append(word)   # keep original case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42048" y="1755648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62088" y="17099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first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case-insensitive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42048" y="2578608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62088" y="253288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range(len-1):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before last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(no i+1 error).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42048" y="333756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2088" y="32918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early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check more.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42048" y="406908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62088" y="40233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original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(not w)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case.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Pythonic Optimization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 with any() for early-exit consecutive pair check.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8686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24128"/>
            <a:ext cx="83210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words_with_consecutive_letters(words):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[w for w in words if any(w[i].lower() == w[i+1].lower() for i in range(len(w)-1))]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2176272"/>
            <a:ext cx="8686800" cy="2633472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313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down the one-liner: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67004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w in words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75888" y="2670048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iterate over every word in the input list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9923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range(len(w)-1)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75888" y="299923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iterate over indices 0 to len-2 (to safely access w[i+1])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32841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w[i].lower() == w[i+1].lower()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75888" y="3328416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compare adjacent chars case-insensitively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65760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any(...)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75888" y="365760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True if at least one adjacent pair matches — stops early on first hit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98678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 for w in words if ...]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75888" y="3986784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keep only words where any() returns True; preserves original order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0" y="914400"/>
            <a:ext cx="0" cy="4023360"/>
          </a:xfrm>
          <a:prstGeom prst="line">
            <a:avLst/>
          </a:prstGeom>
          <a:noFill/>
          <a:ln w="12700">
            <a:solidFill>
              <a:srgbClr val="C8C0B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914400"/>
            <a:ext cx="502920" cy="502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914400"/>
            <a:ext cx="5029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Loop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029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any() + comprehension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57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has_pair flag — clear.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on first match.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add debug prints.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Beginners &amp; clarity.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any() stops at first match.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compact expression.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Idiomatic Python filter.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Clean code &amp; interviews.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374904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word.lower()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range(len(w)-1):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w[i]==w[i+1]: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result.append(word)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029200" y="379476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 for w in words if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any(w[i].lower()==w[i+1].lower()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in range(len(w)-1))]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Adjacent Pair Check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adjacent chars: loop i in range(len(w)-1) and compare w[i] == w[i+1]. The -1 ensures i+1 never goes out of bounds.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27248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any() for Early Exit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any(condition for i in range(...)) returns True as soon as one element satisfies the condition — no need to check the rest. Same effect as a break.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Case-Insensitive: .lower()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.lower() on each character (or on the whole word first) before comparing. This ensures 'L' == 'l' counts as a consecutive pair.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2428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Syntax Cheat Sheet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42569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has_pair = any(w[i].lower()==w[i+1].lower() for i in range(len(w)-1))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459028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 [w for w in words if any(w[i].lower()==w[i+1].lower() for i in range(len(w)-1))]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2 - Problem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2026-04-22T04:38:38Z</dcterms:created>
  <dcterms:modified xsi:type="dcterms:W3CDTF">2026-04-22T04:38:38Z</dcterms:modified>
</cp:coreProperties>
</file>