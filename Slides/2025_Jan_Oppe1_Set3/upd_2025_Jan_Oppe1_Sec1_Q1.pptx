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XjoJeUiBg1Xtgp14iz2SJFk9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" name="Google Shape;55;p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p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800"/>
              <a:buFont typeface="Arial"/>
              <a:buNone/>
            </a:pPr>
            <a:r>
              <a:rPr lang="en" sz="48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2025 Jan Oppe 1 - Set 3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Check Even Number and Second Last Digit is Two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Section 1 - problem 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94360" y="16002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Write a function </a:t>
            </a:r>
            <a:r>
              <a:rPr lang="en" sz="13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'is_even_and_second_last_digit_is_two'</a:t>
            </a: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that takes an integer and returns </a:t>
            </a:r>
            <a:r>
              <a:rPr lang="en" sz="1300" b="1" i="0" u="none" strike="noStrike" cap="non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if both conditions are met: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94360" y="260604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number is even (divisible by 2).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Char char="•"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second last digit is 2.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94360" y="361188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Return </a:t>
            </a:r>
            <a:r>
              <a:rPr lang="en" sz="1300" b="1" i="0" u="none" strike="noStrike" cap="non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otherwise.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4251960" y="2834640"/>
            <a:ext cx="502920" cy="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2"/>
          <p:cNvCxnSpPr/>
          <p:nvPr/>
        </p:nvCxnSpPr>
        <p:spPr>
          <a:xfrm>
            <a:off x="4672584" y="2743200"/>
            <a:ext cx="109728" cy="9144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2"/>
          <p:cNvCxnSpPr/>
          <p:nvPr/>
        </p:nvCxnSpPr>
        <p:spPr>
          <a:xfrm rot="10800000" flipH="1">
            <a:off x="4672584" y="2834640"/>
            <a:ext cx="109728" cy="9144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2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EXAMPLE &amp; EXPLANATION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074920" y="1600200"/>
            <a:ext cx="34930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Given input </a:t>
            </a:r>
            <a:r>
              <a:rPr lang="en" sz="13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num = 124</a:t>
            </a: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074920" y="2011680"/>
            <a:ext cx="34930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124 is even (124 % 2 == 0)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Second last digit is </a:t>
            </a: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Courier New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2"/>
          <p:cNvCxnSpPr/>
          <p:nvPr/>
        </p:nvCxnSpPr>
        <p:spPr>
          <a:xfrm>
            <a:off x="5074920" y="2926080"/>
            <a:ext cx="3310128" cy="0"/>
          </a:xfrm>
          <a:prstGeom prst="straightConnector1">
            <a:avLst/>
          </a:prstGeom>
          <a:noFill/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2"/>
          <p:cNvSpPr/>
          <p:nvPr/>
        </p:nvSpPr>
        <p:spPr>
          <a:xfrm>
            <a:off x="5074920" y="3035808"/>
            <a:ext cx="34930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Given input </a:t>
            </a:r>
            <a:r>
              <a:rPr lang="en" sz="13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num = 135</a:t>
            </a: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074920" y="3438144"/>
            <a:ext cx="349300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135 is odd (fails first check)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" sz="1300" b="1" i="0" u="none" strike="noStrike" cap="non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Problem Specification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30352" y="1664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num (int)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4360" y="2121408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single integer argument.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2706624" y="2606040"/>
            <a:ext cx="502920" cy="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3"/>
          <p:cNvCxnSpPr/>
          <p:nvPr/>
        </p:nvCxnSpPr>
        <p:spPr>
          <a:xfrm>
            <a:off x="3127248" y="2514600"/>
            <a:ext cx="109728" cy="9144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" name="Google Shape;94;p3"/>
          <p:cNvCxnSpPr/>
          <p:nvPr/>
        </p:nvCxnSpPr>
        <p:spPr>
          <a:xfrm rot="10800000" flipH="1">
            <a:off x="3127248" y="2606040"/>
            <a:ext cx="109728" cy="9144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3"/>
          <p:cNvSpPr/>
          <p:nvPr/>
        </p:nvSpPr>
        <p:spPr>
          <a:xfrm>
            <a:off x="3337560" y="996678"/>
            <a:ext cx="246900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THE BLACK BOX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Check if even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(num % 2 == 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Extract second last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digit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Check if it equals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Return True if both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conditions met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5870448" y="2606040"/>
            <a:ext cx="502920" cy="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3"/>
          <p:cNvCxnSpPr/>
          <p:nvPr/>
        </p:nvCxnSpPr>
        <p:spPr>
          <a:xfrm>
            <a:off x="6291072" y="2514600"/>
            <a:ext cx="109728" cy="9144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3"/>
          <p:cNvCxnSpPr/>
          <p:nvPr/>
        </p:nvCxnSpPr>
        <p:spPr>
          <a:xfrm rot="10800000" flipH="1">
            <a:off x="6291072" y="2606040"/>
            <a:ext cx="109728" cy="91440"/>
          </a:xfrm>
          <a:prstGeom prst="straightConnector1">
            <a:avLst/>
          </a:prstGeom>
          <a:noFill/>
          <a:ln w="317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3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ourier New"/>
              <a:buNone/>
            </a:pPr>
            <a:r>
              <a:rPr lang="en" sz="32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True if both conditions are met, False otherwise.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 cap="flat" cmpd="sng">
            <a:solidFill>
              <a:srgbClr val="E8E3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300"/>
              <a:buFont typeface="Courier New"/>
              <a:buNone/>
            </a:pPr>
            <a:r>
              <a:rPr lang="en" sz="1300" b="1" i="0" u="none" strike="noStrike" cap="non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lang="en" sz="1300" b="0" i="0" u="none" strike="noStrike" cap="non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For single-digit numbers (0-9), there is no second last digit, so return </a:t>
            </a:r>
            <a:r>
              <a:rPr lang="en" sz="1300" b="1" i="0" u="none" strike="noStrike" cap="non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300" b="0" i="0" u="none" strike="noStrike" cap="none">
                <a:solidFill>
                  <a:srgbClr val="B5451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Visualizing the Operations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ourier New"/>
              <a:buNone/>
            </a:pPr>
            <a:r>
              <a:rPr lang="en" sz="16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Example: num = 124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85800" y="16002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1: Break down the digits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743200" y="2011680"/>
            <a:ext cx="731520" cy="731520"/>
          </a:xfrm>
          <a:prstGeom prst="rect">
            <a:avLst/>
          </a:prstGeom>
          <a:solidFill>
            <a:srgbClr val="4A90D9">
              <a:alpha val="60000"/>
            </a:srgbClr>
          </a:solidFill>
          <a:ln w="25400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74320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ourier New"/>
              <a:buNone/>
            </a:pPr>
            <a:r>
              <a:rPr lang="en" sz="28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606040" y="28163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hundreds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749040" y="2011680"/>
            <a:ext cx="731520" cy="731520"/>
          </a:xfrm>
          <a:prstGeom prst="rect">
            <a:avLst/>
          </a:prstGeom>
          <a:solidFill>
            <a:srgbClr val="1B4D8E">
              <a:alpha val="80000"/>
            </a:srgbClr>
          </a:solidFill>
          <a:ln w="2540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74904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ourier New"/>
              <a:buNone/>
            </a:pPr>
            <a:r>
              <a:rPr lang="en" sz="28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611880" y="28163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tens (2nd last)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754880" y="2011680"/>
            <a:ext cx="731520" cy="731520"/>
          </a:xfrm>
          <a:prstGeom prst="rect">
            <a:avLst/>
          </a:prstGeom>
          <a:solidFill>
            <a:srgbClr val="4A90D9">
              <a:alpha val="60000"/>
            </a:srgbClr>
          </a:solidFill>
          <a:ln w="25400" cap="flat" cmpd="sng">
            <a:solidFill>
              <a:srgbClr val="4A90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54880" y="2011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Courier New"/>
              <a:buNone/>
            </a:pPr>
            <a:r>
              <a:rPr lang="en" sz="2800" b="1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617720" y="28163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ones (last)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474726" y="1600202"/>
            <a:ext cx="1724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lang="en" sz="10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 Second last digit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85800" y="32918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Step 2: Check both conditions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097280" y="3657600"/>
            <a:ext cx="3200400" cy="777240"/>
          </a:xfrm>
          <a:prstGeom prst="roundRect">
            <a:avLst>
              <a:gd name="adj" fmla="val 14118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234440" y="373075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Condition 1: Is it even?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234440" y="40050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urier New"/>
              <a:buNone/>
            </a:pPr>
            <a:r>
              <a:rPr lang="en" sz="1300" b="1" i="0" u="none" strike="noStrike" cap="non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124 % 2 == 0  ✓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63440" y="3657600"/>
            <a:ext cx="3200400" cy="777240"/>
          </a:xfrm>
          <a:prstGeom prst="roundRect">
            <a:avLst>
              <a:gd name="adj" fmla="val 14118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800600" y="373075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Condition 2: Second last = 2?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00600" y="40050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ourier New"/>
              <a:buNone/>
            </a:pPr>
            <a:r>
              <a:rPr lang="en" sz="1300" b="1" i="0" u="none" strike="noStrike" cap="none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Second last is 2  ✓ 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018500" y="1811475"/>
            <a:ext cx="99000" cy="175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lang="en" sz="38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Explanatory Approach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Step-by-step using string conversion for digit access.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is_even_and_second_last_digit_is_two(num):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Check if number is even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if num % 2 != 0: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False  # Odd number, exit early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Convert to string to access digits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num_str = str(abs(num))  # Handle negatives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Check if at least 2 digits exist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if len(num_str) &lt; 2: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False  # Single digit, no second last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4: Get second last digit and check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second_last = num_str[-2]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Courier New"/>
              <a:buNone/>
            </a:pPr>
            <a:r>
              <a:rPr lang="en" sz="115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second_last == '2'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>
            <a:off x="6108192" y="173736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B5451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5"/>
          <p:cNvSpPr/>
          <p:nvPr/>
        </p:nvSpPr>
        <p:spPr>
          <a:xfrm>
            <a:off x="6565392" y="1508760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Early exit optimization: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Avoid checking digits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if already odd.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6108192" y="260604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B5451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5"/>
          <p:cNvSpPr/>
          <p:nvPr/>
        </p:nvSpPr>
        <p:spPr>
          <a:xfrm>
            <a:off x="6565392" y="239572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abs() handles negative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numbers (-124 becomes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'124' as string).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6108192" y="4160520"/>
            <a:ext cx="411480" cy="0"/>
          </a:xfrm>
          <a:prstGeom prst="straightConnector1">
            <a:avLst/>
          </a:prstGeom>
          <a:noFill/>
          <a:ln w="19050" cap="flat" cmpd="sng">
            <a:solidFill>
              <a:srgbClr val="B5451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" name="Google Shape;153;p5"/>
          <p:cNvSpPr/>
          <p:nvPr/>
        </p:nvSpPr>
        <p:spPr>
          <a:xfrm>
            <a:off x="6565392" y="395020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[-2] gets second last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character from 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51B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B5451B"/>
                </a:solidFill>
                <a:latin typeface="Arial"/>
                <a:ea typeface="Arial"/>
                <a:cs typeface="Arial"/>
                <a:sym typeface="Arial"/>
              </a:rPr>
              <a:t>of string.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Arial"/>
              <a:buNone/>
            </a:pPr>
            <a:r>
              <a:rPr lang="en" sz="38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Mathematical Optimization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Using integer division and modulo without string conversion.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11480" y="1024128"/>
            <a:ext cx="8321040" cy="2194560"/>
          </a:xfrm>
          <a:prstGeom prst="roundRect">
            <a:avLst>
              <a:gd name="adj" fmla="val 5000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5800" y="1143000"/>
            <a:ext cx="786384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def is_even_and_second_last_digit_is_two(num):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Check even and handle single digits in one line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if num % 2 != 0 or abs(num) &lt; 10: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False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# Extract second last digit using math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second_last = (abs(num) // 10) % 10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ourier New"/>
              <a:buNone/>
            </a:pPr>
            <a:r>
              <a:rPr lang="en" sz="14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second_last == 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11480" y="3310128"/>
            <a:ext cx="8321040" cy="1481328"/>
          </a:xfrm>
          <a:prstGeom prst="roundRect">
            <a:avLst>
              <a:gd name="adj" fmla="val 7407"/>
            </a:avLst>
          </a:prstGeom>
          <a:solidFill>
            <a:srgbClr val="FAFAF8"/>
          </a:solidFill>
          <a:ln w="12700" cap="flat" cmpd="sng">
            <a:solidFill>
              <a:srgbClr val="D8D3C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85800" y="3429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How the math works: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85800" y="37307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lang="en" sz="1100" b="0" i="1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Example: 124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85800" y="397764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124 // 10 = 12  (removes last digit)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ourier New"/>
              <a:buNone/>
            </a:pPr>
            <a:r>
              <a:rPr lang="en" sz="13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12 % 10 = 2     (extracts ones place)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5800" y="44988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→ Second last digit: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709160" y="34290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Why use math over strings?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709160" y="3730752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Faster (no type conversion)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More memory efficient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Pure mathematical approach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Works in languages without easy string indexing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Solution Comparison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7"/>
          <p:cNvCxnSpPr/>
          <p:nvPr/>
        </p:nvCxnSpPr>
        <p:spPr>
          <a:xfrm>
            <a:off x="4572000" y="987552"/>
            <a:ext cx="0" cy="3822192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7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String Conversion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Intuitive and readable.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Easy to understand digit access.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Works well for complex digit logic.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Beginners &amp; readability.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lang="en" sz="1200" b="0" i="0" u="none" strike="noStrike" cap="non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str(abs(num))[-2] == '2'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" sz="4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Mathematical Operations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Faster (no type conversion).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More memory efficient.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Pure mathematical approach.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Best for: Performance &amp; interviews.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ourier New"/>
              <a:buNone/>
            </a:pPr>
            <a:r>
              <a:rPr lang="en" sz="1200" b="0" i="0" u="none" strike="noStrike" cap="non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(abs(num) // 10) % 10 ==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8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01 Early Exit Optimization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Always check the </a:t>
            </a:r>
            <a:r>
              <a:rPr lang="en" sz="125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simplest condition first</a:t>
            </a: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(even/odd check) before doing complex operations like digit extraction. This saves computation time.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02 String vs Math Trade-off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String indexing with </a:t>
            </a:r>
            <a:r>
              <a:rPr lang="en" sz="125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str(num)[-2]</a:t>
            </a: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is more readable, but math operations with </a:t>
            </a:r>
            <a:r>
              <a:rPr lang="en" sz="125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(num // 10) % 10</a:t>
            </a: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are faster and more Pythonic.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 cap="flat" cmpd="sng">
            <a:solidFill>
              <a:srgbClr val="1B4D8E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03 Handle Edge Cases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"/>
              <a:buNone/>
            </a:pP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Always use </a:t>
            </a:r>
            <a:r>
              <a:rPr lang="en" sz="125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abs()</a:t>
            </a: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for negative numbers and check </a:t>
            </a:r>
            <a:r>
              <a:rPr lang="en" sz="125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num &lt; 10</a:t>
            </a:r>
            <a:r>
              <a:rPr lang="en" sz="1250" b="0" i="0" u="none" strike="noStrike" cap="non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to handle single-digit inputs that have no second last digit.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 cap="flat" cmpd="sng">
            <a:solidFill>
              <a:srgbClr val="9EC4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D8E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B4D8E"/>
                </a:solidFill>
                <a:latin typeface="Arial"/>
                <a:ea typeface="Arial"/>
                <a:cs typeface="Arial"/>
                <a:sym typeface="Arial"/>
              </a:rPr>
              <a:t>Final Syntax Cheat Sheet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String:  return num % 2 == 0 and len(str(abs(num))) &gt;= 2 and str(abs(num))[-2] == '2'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ourier New"/>
              <a:buNone/>
            </a:pPr>
            <a:r>
              <a:rPr lang="en" sz="1200" b="0" i="0" u="none" strike="noStrike" cap="none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# Math:    return num % 2 == 0 and abs(num) &gt;= 10 and (abs(num) // 10) % 10 ==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Python Buddy  ·  Section 1 - Problem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Anirban Mandal</cp:lastModifiedBy>
  <cp:revision>1</cp:revision>
  <dcterms:modified xsi:type="dcterms:W3CDTF">2026-03-19T15:19:48Z</dcterms:modified>
</cp:coreProperties>
</file>