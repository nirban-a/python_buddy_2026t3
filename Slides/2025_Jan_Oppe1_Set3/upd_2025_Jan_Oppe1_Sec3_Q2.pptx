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  <p:sldMasterId id="214748365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17" roundtripDataSignature="AMtx7mj7Itgoi5/jPjBKytyIOZGy2tuJ1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customschemas.google.com/relationships/presentationmetadata" Target="metadata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" name="Google Shape;54;p1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5" name="Google Shape;55;p1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" name="Google Shape;62;p2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3" name="Google Shape;63;p2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3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" name="Google Shape;81;p3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3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4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2" name="Google Shape;102;p4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3" name="Google Shape;103;p4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d03baf855d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d03baf855d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d03baf855d_1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d03baf855d_1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5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5" name="Google Shape;155;p5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6" name="Google Shape;156;p5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6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5" name="Google Shape;175;p6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6" name="Google Shape;176;p6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7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0" name="Google Shape;190;p7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1" name="Google Shape;191;p7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8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6" name="Google Shape;206;p8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7" name="Google Shape;207;p8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3" name="Google Shape;13;p1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4" name="Google Shape;14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7" name="Google Shape;17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1" name="Google Shape;2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" name="Google Shape;24;p1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1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2" name="Google Shape;32;p1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6" name="Google Shape;3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1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0" name="Google Shape;40;p1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1" name="Google Shape;41;p1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2" name="Google Shape;42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2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5" name="Google Shape;45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8" name="Google Shape;48;p2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" name="Google Shape;4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3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Layout" Target="../slideLayouts/slideLayout3.xml"/><Relationship Id="rId3" Type="http://schemas.openxmlformats.org/officeDocument/2006/relationships/slideLayout" Target="../slideLayouts/slideLayout4.xml"/><Relationship Id="rId4" Type="http://schemas.openxmlformats.org/officeDocument/2006/relationships/slideLayout" Target="../slideLayouts/slideLayout5.xml"/><Relationship Id="rId11" Type="http://schemas.openxmlformats.org/officeDocument/2006/relationships/slideLayout" Target="../slideLayouts/slideLayout12.xml"/><Relationship Id="rId10" Type="http://schemas.openxmlformats.org/officeDocument/2006/relationships/slideLayout" Target="../slideLayouts/slideLayout11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10.xml"/><Relationship Id="rId5" Type="http://schemas.openxmlformats.org/officeDocument/2006/relationships/slideLayout" Target="../slideLayouts/slideLayout6.xml"/><Relationship Id="rId6" Type="http://schemas.openxmlformats.org/officeDocument/2006/relationships/slideLayout" Target="../slideLayouts/slideLayout7.xml"/><Relationship Id="rId7" Type="http://schemas.openxmlformats.org/officeDocument/2006/relationships/slideLayout" Target="../slideLayouts/slideLayout8.xml"/><Relationship Id="rId8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1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8E4DC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5400"/>
              <a:buFont typeface="Arial"/>
              <a:buNone/>
            </a:pPr>
            <a:r>
              <a:rPr b="1" i="0" lang="en" sz="54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2025 Jan Oppe 1 - Set 3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1"/>
          <p:cNvSpPr/>
          <p:nvPr/>
        </p:nvSpPr>
        <p:spPr>
          <a:xfrm>
            <a:off x="457200" y="2395728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600"/>
              <a:buFont typeface="Arial"/>
              <a:buNone/>
            </a:pPr>
            <a:r>
              <a:rPr b="1" i="0" lang="en" sz="26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Centered Triangle of Zeroes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1"/>
          <p:cNvSpPr/>
          <p:nvPr/>
        </p:nvSpPr>
        <p:spPr>
          <a:xfrm>
            <a:off x="457200" y="2999232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Section 3 - Problem 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8E4DC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2"/>
          <p:cNvSpPr/>
          <p:nvPr/>
        </p:nvSpPr>
        <p:spPr>
          <a:xfrm>
            <a:off x="320040" y="137160"/>
            <a:ext cx="85039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4600"/>
              <a:buFont typeface="Arial"/>
              <a:buNone/>
            </a:pPr>
            <a:r>
              <a:rPr b="1" i="0" lang="en" sz="46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Problem Definition</a:t>
            </a:r>
            <a:endParaRPr b="0" i="0" sz="4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2"/>
          <p:cNvSpPr/>
          <p:nvPr/>
        </p:nvSpPr>
        <p:spPr>
          <a:xfrm>
            <a:off x="320040" y="914400"/>
            <a:ext cx="3749040" cy="3977640"/>
          </a:xfrm>
          <a:prstGeom prst="roundRect">
            <a:avLst>
              <a:gd fmla="val 2439" name="adj"/>
            </a:avLst>
          </a:prstGeom>
          <a:solidFill>
            <a:srgbClr val="FFFFFF"/>
          </a:solidFill>
          <a:ln cap="flat" cmpd="sng" w="9525">
            <a:solidFill>
              <a:srgbClr val="D0CB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2"/>
          <p:cNvSpPr/>
          <p:nvPr/>
        </p:nvSpPr>
        <p:spPr>
          <a:xfrm>
            <a:off x="548640" y="1078992"/>
            <a:ext cx="3291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2F5496"/>
                </a:solidFill>
                <a:latin typeface="Arial"/>
                <a:ea typeface="Arial"/>
                <a:cs typeface="Arial"/>
                <a:sym typeface="Arial"/>
              </a:rPr>
              <a:t>PROBLEM STATEMENT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2"/>
          <p:cNvSpPr/>
          <p:nvPr/>
        </p:nvSpPr>
        <p:spPr>
          <a:xfrm>
            <a:off x="548640" y="1417320"/>
            <a:ext cx="3337560" cy="33101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50"/>
              <a:buFont typeface="Arial"/>
              <a:buNone/>
            </a:pPr>
            <a:r>
              <a:rPr b="0" i="0" lang="en" sz="125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Given an integer </a:t>
            </a:r>
            <a:r>
              <a:rPr b="1" i="0" lang="en" sz="12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n</a:t>
            </a:r>
            <a:r>
              <a:rPr b="0" i="0" lang="en" sz="125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, print a </a:t>
            </a:r>
            <a:r>
              <a:rPr b="1" i="0" lang="en" sz="125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centered triangle</a:t>
            </a:r>
            <a:r>
              <a:rPr b="0" i="0" lang="en" sz="125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 of </a:t>
            </a:r>
            <a:r>
              <a:rPr b="1" i="0" lang="en" sz="12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n</a:t>
            </a:r>
            <a:r>
              <a:rPr b="0" i="0" lang="en" sz="125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 rows using only zeroes.</a:t>
            </a:r>
            <a:br>
              <a:rPr b="0" i="0" lang="en" sz="125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" sz="125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" sz="125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Rules:</a:t>
            </a:r>
            <a:br>
              <a:rPr b="1" i="0" lang="en" sz="125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" sz="125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•  Row </a:t>
            </a:r>
            <a:r>
              <a:rPr b="0" i="0" lang="en" sz="12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i</a:t>
            </a:r>
            <a:r>
              <a:rPr b="0" i="0" lang="en" sz="125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 (1-based) has </a:t>
            </a:r>
            <a:r>
              <a:rPr b="0" i="0" lang="en" sz="12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i</a:t>
            </a:r>
            <a:r>
              <a:rPr b="0" i="0" lang="en" sz="125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 zeroes.</a:t>
            </a:r>
            <a:br>
              <a:rPr b="0" i="0" lang="en" sz="125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" sz="125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•  Zeroes in each row are</a:t>
            </a:r>
            <a:br>
              <a:rPr b="0" i="0" lang="en" sz="125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" sz="125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    separated by a single space.</a:t>
            </a:r>
            <a:br>
              <a:rPr b="0" i="0" lang="en" sz="125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" sz="125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•  No trailing space at end</a:t>
            </a:r>
            <a:br>
              <a:rPr b="0" i="0" lang="en" sz="125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" sz="125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    of any line.</a:t>
            </a:r>
            <a:br>
              <a:rPr b="0" i="0" lang="en" sz="125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" sz="125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•  Each row is </a:t>
            </a:r>
            <a:r>
              <a:rPr b="1" i="0" lang="en" sz="125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centred</a:t>
            </a:r>
            <a:r>
              <a:rPr b="0" i="0" lang="en" sz="125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 relative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50"/>
              <a:buFont typeface="Arial"/>
              <a:buNone/>
            </a:pPr>
            <a:r>
              <a:rPr b="0" i="0" lang="en" sz="125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    to the widest row (row 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50"/>
              <a:buFont typeface="Courier New"/>
              <a:buNone/>
            </a:pPr>
            <a:r>
              <a:rPr b="0" i="0" lang="en" sz="12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n</a:t>
            </a:r>
            <a:r>
              <a:rPr b="0" i="0" lang="en" sz="125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).</a:t>
            </a:r>
            <a:br>
              <a:rPr b="0" i="0" lang="en" sz="125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" sz="125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" sz="125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I/O type:</a:t>
            </a:r>
            <a:r>
              <a:rPr b="0" i="0" lang="en" sz="125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 Read </a:t>
            </a:r>
            <a:r>
              <a:rPr b="0" i="0" lang="en" sz="12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n</a:t>
            </a:r>
            <a:r>
              <a:rPr b="0" i="0" lang="en" sz="125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 with </a:t>
            </a:r>
            <a:r>
              <a:rPr b="0" i="0" lang="en" sz="1250" u="none" cap="none" strike="noStrike">
                <a:solidFill>
                  <a:srgbClr val="2F5496"/>
                </a:solidFill>
                <a:latin typeface="Courier New"/>
                <a:ea typeface="Courier New"/>
                <a:cs typeface="Courier New"/>
                <a:sym typeface="Courier New"/>
              </a:rPr>
              <a:t>input()</a:t>
            </a:r>
            <a:r>
              <a:rPr b="0" i="0" lang="en" sz="125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 and print the triangle.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9" name="Google Shape;69;p2"/>
          <p:cNvCxnSpPr/>
          <p:nvPr/>
        </p:nvCxnSpPr>
        <p:spPr>
          <a:xfrm>
            <a:off x="4160520" y="2907792"/>
            <a:ext cx="502920" cy="0"/>
          </a:xfrm>
          <a:prstGeom prst="straightConnector1">
            <a:avLst/>
          </a:prstGeom>
          <a:noFill/>
          <a:ln cap="flat" cmpd="sng" w="25400">
            <a:solidFill>
              <a:srgbClr val="2F5496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70" name="Google Shape;70;p2"/>
          <p:cNvSpPr/>
          <p:nvPr/>
        </p:nvSpPr>
        <p:spPr>
          <a:xfrm>
            <a:off x="4736592" y="914400"/>
            <a:ext cx="4087368" cy="3977640"/>
          </a:xfrm>
          <a:prstGeom prst="roundRect">
            <a:avLst>
              <a:gd fmla="val 2299" name="adj"/>
            </a:avLst>
          </a:prstGeom>
          <a:solidFill>
            <a:srgbClr val="FFFFFF"/>
          </a:solidFill>
          <a:ln cap="flat" cmpd="sng" w="9525">
            <a:solidFill>
              <a:srgbClr val="D0CB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2"/>
          <p:cNvSpPr/>
          <p:nvPr/>
        </p:nvSpPr>
        <p:spPr>
          <a:xfrm>
            <a:off x="4956048" y="1078992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2F5496"/>
                </a:solidFill>
                <a:latin typeface="Arial"/>
                <a:ea typeface="Arial"/>
                <a:cs typeface="Arial"/>
                <a:sym typeface="Arial"/>
              </a:rPr>
              <a:t>EXAMPLE &amp; EXPLANATION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2"/>
          <p:cNvSpPr/>
          <p:nvPr/>
        </p:nvSpPr>
        <p:spPr>
          <a:xfrm>
            <a:off x="4956048" y="1417320"/>
            <a:ext cx="914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Input: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2"/>
          <p:cNvSpPr/>
          <p:nvPr/>
        </p:nvSpPr>
        <p:spPr>
          <a:xfrm>
            <a:off x="5870448" y="1417320"/>
            <a:ext cx="457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1400"/>
              <a:buFont typeface="Courier New"/>
              <a:buNone/>
            </a:pPr>
            <a:r>
              <a:rPr b="1" i="0" lang="en" sz="1400" u="none" cap="none" strike="noStrike">
                <a:solidFill>
                  <a:srgbClr val="2E7D32"/>
                </a:solidFill>
                <a:latin typeface="Courier New"/>
                <a:ea typeface="Courier New"/>
                <a:cs typeface="Courier New"/>
                <a:sym typeface="Courier New"/>
              </a:rPr>
              <a:t>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2"/>
          <p:cNvSpPr/>
          <p:nvPr/>
        </p:nvSpPr>
        <p:spPr>
          <a:xfrm>
            <a:off x="4956048" y="1783080"/>
            <a:ext cx="1005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Output: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2"/>
          <p:cNvSpPr/>
          <p:nvPr/>
        </p:nvSpPr>
        <p:spPr>
          <a:xfrm>
            <a:off x="4956048" y="2121408"/>
            <a:ext cx="3703320" cy="1417320"/>
          </a:xfrm>
          <a:prstGeom prst="roundRect">
            <a:avLst>
              <a:gd fmla="val 4516" name="adj"/>
            </a:avLst>
          </a:prstGeom>
          <a:solidFill>
            <a:srgbClr val="E8EFF8"/>
          </a:solidFill>
          <a:ln cap="flat" cmpd="sng" w="9525">
            <a:solidFill>
              <a:srgbClr val="C0D0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2"/>
          <p:cNvSpPr/>
          <p:nvPr/>
        </p:nvSpPr>
        <p:spPr>
          <a:xfrm>
            <a:off x="5120640" y="2212848"/>
            <a:ext cx="3383400" cy="12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2200"/>
              <a:buFont typeface="Courier New"/>
              <a:buNone/>
            </a:pPr>
            <a:r>
              <a:rPr b="1" i="0" lang="en" sz="2200" u="none" cap="none" strike="noStrike">
                <a:solidFill>
                  <a:srgbClr val="2E7D32"/>
                </a:solidFill>
                <a:latin typeface="Courier New"/>
                <a:ea typeface="Courier New"/>
                <a:cs typeface="Courier New"/>
                <a:sym typeface="Courier New"/>
              </a:rPr>
              <a:t>  0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2200"/>
              <a:buFont typeface="Courier New"/>
              <a:buNone/>
            </a:pPr>
            <a:r>
              <a:rPr b="1" i="0" lang="en" sz="2200" u="none" cap="none" strike="noStrike">
                <a:solidFill>
                  <a:srgbClr val="2E7D32"/>
                </a:solidFill>
                <a:latin typeface="Courier New"/>
                <a:ea typeface="Courier New"/>
                <a:cs typeface="Courier New"/>
                <a:sym typeface="Courier New"/>
              </a:rPr>
              <a:t> 0 0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2200"/>
              <a:buFont typeface="Courier New"/>
              <a:buNone/>
            </a:pPr>
            <a:r>
              <a:rPr b="1" i="0" lang="en" sz="2200" u="none" cap="none" strike="noStrike">
                <a:solidFill>
                  <a:srgbClr val="2E7D32"/>
                </a:solidFill>
                <a:latin typeface="Courier New"/>
                <a:ea typeface="Courier New"/>
                <a:cs typeface="Courier New"/>
                <a:sym typeface="Courier New"/>
              </a:rPr>
              <a:t>0 0 0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2"/>
          <p:cNvSpPr/>
          <p:nvPr/>
        </p:nvSpPr>
        <p:spPr>
          <a:xfrm>
            <a:off x="4956048" y="3639312"/>
            <a:ext cx="3749040" cy="11155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50"/>
              <a:buFont typeface="Arial"/>
              <a:buNone/>
            </a:pPr>
            <a:r>
              <a:rPr b="1" i="0" lang="en" sz="115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Row 1: </a:t>
            </a:r>
            <a:r>
              <a:rPr b="0" i="0" lang="en" sz="11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2 spaces + '0'         → </a:t>
            </a:r>
            <a:r>
              <a:rPr b="0" i="0" lang="en" sz="1150" u="none" cap="none" strike="noStrike">
                <a:solidFill>
                  <a:srgbClr val="2E7D32"/>
                </a:solidFill>
                <a:latin typeface="Courier New"/>
                <a:ea typeface="Courier New"/>
                <a:cs typeface="Courier New"/>
                <a:sym typeface="Courier New"/>
              </a:rPr>
              <a:t>  0</a:t>
            </a:r>
            <a:br>
              <a:rPr b="0" i="0" lang="en" sz="1150" u="none" cap="none" strike="noStrike">
                <a:solidFill>
                  <a:srgbClr val="2E7D32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i="0" lang="en" sz="115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Row 2: </a:t>
            </a:r>
            <a:r>
              <a:rPr b="0" i="0" lang="en" sz="11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1 space  + '0 0'     → </a:t>
            </a:r>
            <a:r>
              <a:rPr b="0" i="0" lang="en" sz="1150" u="none" cap="none" strike="noStrike">
                <a:solidFill>
                  <a:srgbClr val="2E7D32"/>
                </a:solidFill>
                <a:latin typeface="Courier New"/>
                <a:ea typeface="Courier New"/>
                <a:cs typeface="Courier New"/>
                <a:sym typeface="Courier New"/>
              </a:rPr>
              <a:t> 0 0</a:t>
            </a:r>
            <a:br>
              <a:rPr b="0" i="0" lang="en" sz="1150" u="none" cap="none" strike="noStrike">
                <a:solidFill>
                  <a:srgbClr val="2E7D32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i="0" lang="en" sz="115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Row 3: </a:t>
            </a:r>
            <a:r>
              <a:rPr b="0" i="0" lang="en" sz="11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0 spaces + '0 0 0' → </a:t>
            </a:r>
            <a:r>
              <a:rPr b="0" i="0" lang="en" sz="1150" u="none" cap="none" strike="noStrike">
                <a:solidFill>
                  <a:srgbClr val="2E7D32"/>
                </a:solidFill>
                <a:latin typeface="Courier New"/>
                <a:ea typeface="Courier New"/>
                <a:cs typeface="Courier New"/>
                <a:sym typeface="Courier New"/>
              </a:rPr>
              <a:t>0 0 0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2"/>
          <p:cNvSpPr/>
          <p:nvPr/>
        </p:nvSpPr>
        <p:spPr>
          <a:xfrm>
            <a:off x="320040" y="4892040"/>
            <a:ext cx="5029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Python Buddy  ·  Section 3 - Problem 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8E4DC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3"/>
          <p:cNvSpPr/>
          <p:nvPr/>
        </p:nvSpPr>
        <p:spPr>
          <a:xfrm>
            <a:off x="320040" y="109728"/>
            <a:ext cx="850392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4600"/>
              <a:buFont typeface="Arial"/>
              <a:buNone/>
            </a:pPr>
            <a:r>
              <a:rPr b="1" i="0" lang="en" sz="46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The Problem Specification</a:t>
            </a:r>
            <a:endParaRPr b="0" i="0" sz="4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3"/>
          <p:cNvSpPr/>
          <p:nvPr/>
        </p:nvSpPr>
        <p:spPr>
          <a:xfrm>
            <a:off x="320040" y="960120"/>
            <a:ext cx="2423160" cy="3493008"/>
          </a:xfrm>
          <a:prstGeom prst="roundRect">
            <a:avLst>
              <a:gd fmla="val 3774" name="adj"/>
            </a:avLst>
          </a:prstGeom>
          <a:solidFill>
            <a:srgbClr val="FFFFFF"/>
          </a:solidFill>
          <a:ln cap="flat" cmpd="sng" w="9525">
            <a:solidFill>
              <a:srgbClr val="D0CB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3"/>
          <p:cNvSpPr/>
          <p:nvPr/>
        </p:nvSpPr>
        <p:spPr>
          <a:xfrm>
            <a:off x="502920" y="1115568"/>
            <a:ext cx="2057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2F5496"/>
                </a:solidFill>
                <a:latin typeface="Arial"/>
                <a:ea typeface="Arial"/>
                <a:cs typeface="Arial"/>
                <a:sym typeface="Arial"/>
              </a:rPr>
              <a:t>INPUT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3"/>
          <p:cNvSpPr/>
          <p:nvPr/>
        </p:nvSpPr>
        <p:spPr>
          <a:xfrm>
            <a:off x="502920" y="1508760"/>
            <a:ext cx="20574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600"/>
              <a:buFont typeface="Courier New"/>
              <a:buNone/>
            </a:pPr>
            <a:r>
              <a:rPr b="1" i="0" lang="en" sz="260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n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600"/>
              <a:buFont typeface="Courier New"/>
              <a:buNone/>
            </a:pPr>
            <a:r>
              <a:rPr b="1" i="0" lang="en" sz="260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(int)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3"/>
          <p:cNvSpPr/>
          <p:nvPr/>
        </p:nvSpPr>
        <p:spPr>
          <a:xfrm>
            <a:off x="502920" y="2304288"/>
            <a:ext cx="20574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A single integer —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the number of rows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in the triangle.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9" name="Google Shape;89;p3"/>
          <p:cNvCxnSpPr/>
          <p:nvPr/>
        </p:nvCxnSpPr>
        <p:spPr>
          <a:xfrm>
            <a:off x="2834640" y="2706624"/>
            <a:ext cx="594360" cy="0"/>
          </a:xfrm>
          <a:prstGeom prst="straightConnector1">
            <a:avLst/>
          </a:prstGeom>
          <a:noFill/>
          <a:ln cap="flat" cmpd="sng" w="25400">
            <a:solidFill>
              <a:srgbClr val="2F5496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90" name="Google Shape;90;p3"/>
          <p:cNvSpPr/>
          <p:nvPr/>
        </p:nvSpPr>
        <p:spPr>
          <a:xfrm>
            <a:off x="3493008" y="960120"/>
            <a:ext cx="2697480" cy="3493008"/>
          </a:xfrm>
          <a:prstGeom prst="roundRect">
            <a:avLst>
              <a:gd fmla="val 3390" name="adj"/>
            </a:avLst>
          </a:prstGeom>
          <a:solidFill>
            <a:srgbClr val="FFFFFF"/>
          </a:solidFill>
          <a:ln cap="flat" cmpd="sng" w="9525">
            <a:solidFill>
              <a:srgbClr val="D0CB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3"/>
          <p:cNvSpPr/>
          <p:nvPr/>
        </p:nvSpPr>
        <p:spPr>
          <a:xfrm>
            <a:off x="3675888" y="1115568"/>
            <a:ext cx="2331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2F5496"/>
                </a:solidFill>
                <a:latin typeface="Arial"/>
                <a:ea typeface="Arial"/>
                <a:cs typeface="Arial"/>
                <a:sym typeface="Arial"/>
              </a:rPr>
              <a:t>THE BLACK BOX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3"/>
          <p:cNvSpPr/>
          <p:nvPr/>
        </p:nvSpPr>
        <p:spPr>
          <a:xfrm>
            <a:off x="3675888" y="1481328"/>
            <a:ext cx="2377440" cy="28529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50"/>
              <a:buFont typeface="Arial"/>
              <a:buNone/>
            </a:pPr>
            <a:r>
              <a:rPr b="1" i="0" lang="en" sz="125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1. </a:t>
            </a:r>
            <a:r>
              <a:rPr b="0" i="0" lang="en" sz="125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Read integer </a:t>
            </a:r>
            <a:r>
              <a:rPr b="0" i="0" lang="en" sz="12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n</a:t>
            </a:r>
            <a:br>
              <a:rPr b="0" i="0" lang="en" sz="12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br>
              <a:rPr b="0" i="0" lang="en" sz="12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i="0" lang="en" sz="125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2. </a:t>
            </a:r>
            <a:r>
              <a:rPr b="0" i="0" lang="en" sz="125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For each row </a:t>
            </a:r>
            <a:r>
              <a:rPr b="0" i="0" lang="en" sz="12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i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50"/>
              <a:buFont typeface="Courier New"/>
              <a:buNone/>
            </a:pPr>
            <a:r>
              <a:rPr b="0" i="0" lang="en" sz="12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50"/>
              <a:buFont typeface="Arial"/>
              <a:buNone/>
            </a:pPr>
            <a:r>
              <a:rPr b="0" i="0" lang="en" sz="125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(1 to n):</a:t>
            </a:r>
            <a:br>
              <a:rPr b="0" i="0" lang="en" sz="125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" sz="125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" sz="125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3. </a:t>
            </a:r>
            <a:r>
              <a:rPr b="0" i="0" lang="en" sz="125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Calculate leading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50"/>
              <a:buFont typeface="Arial"/>
              <a:buNone/>
            </a:pPr>
            <a:r>
              <a:rPr b="0" i="0" lang="en" sz="125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    spaces = 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1250"/>
              <a:buFont typeface="Courier New"/>
              <a:buNone/>
            </a:pPr>
            <a:r>
              <a:rPr b="0" i="0" lang="en" sz="1250" u="none" cap="none" strike="noStrike">
                <a:solidFill>
                  <a:srgbClr val="2F5496"/>
                </a:solidFill>
                <a:latin typeface="Courier New"/>
                <a:ea typeface="Courier New"/>
                <a:cs typeface="Courier New"/>
                <a:sym typeface="Courier New"/>
              </a:rPr>
              <a:t>n-i</a:t>
            </a:r>
            <a:br>
              <a:rPr b="0" i="0" lang="en" sz="1250" u="none" cap="none" strike="noStrike">
                <a:solidFill>
                  <a:srgbClr val="2F5496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br>
              <a:rPr b="0" i="0" lang="en" sz="1250" u="none" cap="none" strike="noStrike">
                <a:solidFill>
                  <a:srgbClr val="2F5496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i="0" lang="en" sz="125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4. </a:t>
            </a:r>
            <a:r>
              <a:rPr b="0" i="0" lang="en" sz="125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Print spaces +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50"/>
              <a:buFont typeface="Arial"/>
              <a:buNone/>
            </a:pPr>
            <a:r>
              <a:rPr b="0" i="0" lang="en" sz="125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50"/>
              <a:buFont typeface="Courier New"/>
              <a:buNone/>
            </a:pPr>
            <a:r>
              <a:rPr b="0" i="0" lang="en" sz="12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i</a:t>
            </a:r>
            <a:r>
              <a:rPr b="0" i="0" lang="en" sz="125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 zeroes joined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50"/>
              <a:buFont typeface="Arial"/>
              <a:buNone/>
            </a:pPr>
            <a:r>
              <a:rPr b="0" i="0" lang="en" sz="125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    by single spaces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3" name="Google Shape;93;p3"/>
          <p:cNvCxnSpPr/>
          <p:nvPr/>
        </p:nvCxnSpPr>
        <p:spPr>
          <a:xfrm>
            <a:off x="6281928" y="2706624"/>
            <a:ext cx="594360" cy="0"/>
          </a:xfrm>
          <a:prstGeom prst="straightConnector1">
            <a:avLst/>
          </a:prstGeom>
          <a:noFill/>
          <a:ln cap="flat" cmpd="sng" w="25400">
            <a:solidFill>
              <a:srgbClr val="2F5496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94" name="Google Shape;94;p3"/>
          <p:cNvSpPr/>
          <p:nvPr/>
        </p:nvSpPr>
        <p:spPr>
          <a:xfrm>
            <a:off x="6949440" y="960120"/>
            <a:ext cx="1874520" cy="3493008"/>
          </a:xfrm>
          <a:prstGeom prst="roundRect">
            <a:avLst>
              <a:gd fmla="val 4878" name="adj"/>
            </a:avLst>
          </a:prstGeom>
          <a:solidFill>
            <a:srgbClr val="FFFFFF"/>
          </a:solidFill>
          <a:ln cap="flat" cmpd="sng" w="9525">
            <a:solidFill>
              <a:srgbClr val="D0CB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3"/>
          <p:cNvSpPr/>
          <p:nvPr/>
        </p:nvSpPr>
        <p:spPr>
          <a:xfrm>
            <a:off x="7114032" y="1115568"/>
            <a:ext cx="1554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2F5496"/>
                </a:solidFill>
                <a:latin typeface="Arial"/>
                <a:ea typeface="Arial"/>
                <a:cs typeface="Arial"/>
                <a:sym typeface="Arial"/>
              </a:rPr>
              <a:t>OUTPUT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3"/>
          <p:cNvSpPr/>
          <p:nvPr/>
        </p:nvSpPr>
        <p:spPr>
          <a:xfrm>
            <a:off x="6995160" y="1572768"/>
            <a:ext cx="1719072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1600"/>
              <a:buFont typeface="Courier New"/>
              <a:buNone/>
            </a:pPr>
            <a:r>
              <a:rPr b="1" i="0" lang="en" sz="1600" u="none" cap="none" strike="noStrike">
                <a:solidFill>
                  <a:srgbClr val="2E7D32"/>
                </a:solidFill>
                <a:latin typeface="Courier New"/>
                <a:ea typeface="Courier New"/>
                <a:cs typeface="Courier New"/>
                <a:sym typeface="Courier New"/>
              </a:rPr>
              <a:t>  0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1600"/>
              <a:buFont typeface="Courier New"/>
              <a:buNone/>
            </a:pPr>
            <a:r>
              <a:rPr b="1" i="0" lang="en" sz="1600" u="none" cap="none" strike="noStrike">
                <a:solidFill>
                  <a:srgbClr val="2E7D32"/>
                </a:solidFill>
                <a:latin typeface="Courier New"/>
                <a:ea typeface="Courier New"/>
                <a:cs typeface="Courier New"/>
                <a:sym typeface="Courier New"/>
              </a:rPr>
              <a:t> 0 0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1600"/>
              <a:buFont typeface="Courier New"/>
              <a:buNone/>
            </a:pPr>
            <a:r>
              <a:rPr b="1" i="0" lang="en" sz="1600" u="none" cap="none" strike="noStrike">
                <a:solidFill>
                  <a:srgbClr val="2E7D32"/>
                </a:solidFill>
                <a:latin typeface="Courier New"/>
                <a:ea typeface="Courier New"/>
                <a:cs typeface="Courier New"/>
                <a:sym typeface="Courier New"/>
              </a:rPr>
              <a:t>0 0 0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3"/>
          <p:cNvSpPr/>
          <p:nvPr/>
        </p:nvSpPr>
        <p:spPr>
          <a:xfrm>
            <a:off x="7114032" y="2633472"/>
            <a:ext cx="15544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50"/>
              <a:buFont typeface="Arial"/>
              <a:buNone/>
            </a:pPr>
            <a:r>
              <a:rPr b="0" i="0" lang="en" sz="115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n rows of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50"/>
              <a:buFont typeface="Arial"/>
              <a:buNone/>
            </a:pPr>
            <a:r>
              <a:rPr b="0" i="0" lang="en" sz="115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centred zeroes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50"/>
              <a:buFont typeface="Arial"/>
              <a:buNone/>
            </a:pPr>
            <a:r>
              <a:rPr b="0" i="0" lang="en" sz="115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printed to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50"/>
              <a:buFont typeface="Arial"/>
              <a:buNone/>
            </a:pPr>
            <a:r>
              <a:rPr b="0" i="0" lang="en" sz="115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stdout.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3"/>
          <p:cNvSpPr/>
          <p:nvPr/>
        </p:nvSpPr>
        <p:spPr>
          <a:xfrm>
            <a:off x="320040" y="4544568"/>
            <a:ext cx="8503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522A"/>
              </a:buClr>
              <a:buSzPts val="1150"/>
              <a:buFont typeface="Courier New"/>
              <a:buNone/>
            </a:pPr>
            <a:r>
              <a:rPr b="1" i="0" lang="en" sz="1150" u="none" cap="none" strike="noStrike">
                <a:solidFill>
                  <a:srgbClr val="C0522A"/>
                </a:solidFill>
                <a:latin typeface="Courier New"/>
                <a:ea typeface="Courier New"/>
                <a:cs typeface="Courier New"/>
                <a:sym typeface="Courier New"/>
              </a:rPr>
              <a:t>Constraint: </a:t>
            </a:r>
            <a:r>
              <a:rPr b="0" i="0" lang="en" sz="1150" u="none" cap="none" strike="noStrike">
                <a:solidFill>
                  <a:srgbClr val="C0522A"/>
                </a:solidFill>
                <a:latin typeface="Courier New"/>
                <a:ea typeface="Courier New"/>
                <a:cs typeface="Courier New"/>
                <a:sym typeface="Courier New"/>
              </a:rPr>
              <a:t>Spaces = </a:t>
            </a:r>
            <a:r>
              <a:rPr b="1" i="0" lang="en" sz="1150" u="none" cap="none" strike="noStrike">
                <a:solidFill>
                  <a:srgbClr val="C0522A"/>
                </a:solidFill>
                <a:latin typeface="Courier New"/>
                <a:ea typeface="Courier New"/>
                <a:cs typeface="Courier New"/>
                <a:sym typeface="Courier New"/>
              </a:rPr>
              <a:t>n - i</a:t>
            </a:r>
            <a:r>
              <a:rPr b="0" i="0" lang="en" sz="1150" u="none" cap="none" strike="noStrike">
                <a:solidFill>
                  <a:srgbClr val="C0522A"/>
                </a:solidFill>
                <a:latin typeface="Courier New"/>
                <a:ea typeface="Courier New"/>
                <a:cs typeface="Courier New"/>
                <a:sym typeface="Courier New"/>
              </a:rPr>
              <a:t> for row </a:t>
            </a:r>
            <a:r>
              <a:rPr b="1" i="0" lang="en" sz="1150" u="none" cap="none" strike="noStrike">
                <a:solidFill>
                  <a:srgbClr val="C0522A"/>
                </a:solidFill>
                <a:latin typeface="Courier New"/>
                <a:ea typeface="Courier New"/>
                <a:cs typeface="Courier New"/>
                <a:sym typeface="Courier New"/>
              </a:rPr>
              <a:t>i</a:t>
            </a:r>
            <a:r>
              <a:rPr b="0" i="0" lang="en" sz="1150" u="none" cap="none" strike="noStrike">
                <a:solidFill>
                  <a:srgbClr val="C0522A"/>
                </a:solidFill>
                <a:latin typeface="Courier New"/>
                <a:ea typeface="Courier New"/>
                <a:cs typeface="Courier New"/>
                <a:sym typeface="Courier New"/>
              </a:rPr>
              <a:t>.  No trailing space — use </a:t>
            </a:r>
            <a:r>
              <a:rPr b="1" i="0" lang="en" sz="1150" u="none" cap="none" strike="noStrike">
                <a:solidFill>
                  <a:srgbClr val="C0522A"/>
                </a:solidFill>
                <a:latin typeface="Courier New"/>
                <a:ea typeface="Courier New"/>
                <a:cs typeface="Courier New"/>
                <a:sym typeface="Courier New"/>
              </a:rPr>
              <a:t>' '.join(...)</a:t>
            </a:r>
            <a:r>
              <a:rPr b="0" i="0" lang="en" sz="1150" u="none" cap="none" strike="noStrike">
                <a:solidFill>
                  <a:srgbClr val="C0522A"/>
                </a:solidFill>
                <a:latin typeface="Courier New"/>
                <a:ea typeface="Courier New"/>
                <a:cs typeface="Courier New"/>
                <a:sym typeface="Courier New"/>
              </a:rPr>
              <a:t> to build each row.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3"/>
          <p:cNvSpPr/>
          <p:nvPr/>
        </p:nvSpPr>
        <p:spPr>
          <a:xfrm>
            <a:off x="320040" y="4892040"/>
            <a:ext cx="5029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Python Buddy  ·  Section 3 - Problem 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8E4DC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"/>
          <p:cNvSpPr/>
          <p:nvPr/>
        </p:nvSpPr>
        <p:spPr>
          <a:xfrm>
            <a:off x="320040" y="109728"/>
            <a:ext cx="85039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4600"/>
              <a:buFont typeface="Arial"/>
              <a:buNone/>
            </a:pPr>
            <a:r>
              <a:rPr b="1" i="0" lang="en" sz="46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Visualizing the Operations</a:t>
            </a:r>
            <a:endParaRPr b="0" i="0" sz="4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4"/>
          <p:cNvSpPr/>
          <p:nvPr/>
        </p:nvSpPr>
        <p:spPr>
          <a:xfrm>
            <a:off x="320050" y="868675"/>
            <a:ext cx="8503800" cy="3992100"/>
          </a:xfrm>
          <a:prstGeom prst="roundRect">
            <a:avLst>
              <a:gd fmla="val 2232" name="adj"/>
            </a:avLst>
          </a:prstGeom>
          <a:solidFill>
            <a:srgbClr val="FFFFFF"/>
          </a:solidFill>
          <a:ln cap="flat" cmpd="sng" w="9525">
            <a:solidFill>
              <a:srgbClr val="D0CB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4"/>
          <p:cNvSpPr/>
          <p:nvPr/>
        </p:nvSpPr>
        <p:spPr>
          <a:xfrm>
            <a:off x="594360" y="1024128"/>
            <a:ext cx="7772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50"/>
              <a:buFont typeface="Courier New"/>
              <a:buNone/>
            </a:pPr>
            <a:r>
              <a:rPr b="1" i="0" lang="en" sz="14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Example:  n = 5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4"/>
          <p:cNvSpPr/>
          <p:nvPr/>
        </p:nvSpPr>
        <p:spPr>
          <a:xfrm>
            <a:off x="658368" y="1417320"/>
            <a:ext cx="84124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1050"/>
              <a:buFont typeface="Arial"/>
              <a:buNone/>
            </a:pPr>
            <a:r>
              <a:rPr b="1" i="0" lang="en" sz="1050" u="none" cap="none" strike="noStrike">
                <a:solidFill>
                  <a:srgbClr val="2F5496"/>
                </a:solidFill>
                <a:latin typeface="Arial"/>
                <a:ea typeface="Arial"/>
                <a:cs typeface="Arial"/>
                <a:sym typeface="Arial"/>
              </a:rPr>
              <a:t>Row i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4"/>
          <p:cNvSpPr/>
          <p:nvPr/>
        </p:nvSpPr>
        <p:spPr>
          <a:xfrm>
            <a:off x="1572768" y="1417320"/>
            <a:ext cx="107899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1050"/>
              <a:buFont typeface="Arial"/>
              <a:buNone/>
            </a:pPr>
            <a:r>
              <a:rPr b="1" i="0" lang="en" sz="1050" u="none" cap="none" strike="noStrike">
                <a:solidFill>
                  <a:srgbClr val="2F5496"/>
                </a:solidFill>
                <a:latin typeface="Arial"/>
                <a:ea typeface="Arial"/>
                <a:cs typeface="Arial"/>
                <a:sym typeface="Arial"/>
              </a:rPr>
              <a:t>Zeroes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4"/>
          <p:cNvSpPr/>
          <p:nvPr/>
        </p:nvSpPr>
        <p:spPr>
          <a:xfrm>
            <a:off x="2724912" y="1417320"/>
            <a:ext cx="129844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1050"/>
              <a:buFont typeface="Arial"/>
              <a:buNone/>
            </a:pPr>
            <a:r>
              <a:rPr b="1" i="0" lang="en" sz="1050" u="none" cap="none" strike="noStrike">
                <a:solidFill>
                  <a:srgbClr val="2F5496"/>
                </a:solidFill>
                <a:latin typeface="Arial"/>
                <a:ea typeface="Arial"/>
                <a:cs typeface="Arial"/>
                <a:sym typeface="Arial"/>
              </a:rPr>
              <a:t>Spaces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1050"/>
              <a:buFont typeface="Arial"/>
              <a:buNone/>
            </a:pPr>
            <a:r>
              <a:rPr b="1" i="0" lang="en" sz="1050" u="none" cap="none" strike="noStrike">
                <a:solidFill>
                  <a:srgbClr val="2F5496"/>
                </a:solidFill>
                <a:latin typeface="Arial"/>
                <a:ea typeface="Arial"/>
                <a:cs typeface="Arial"/>
                <a:sym typeface="Arial"/>
              </a:rPr>
              <a:t>(n - i)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4"/>
          <p:cNvSpPr/>
          <p:nvPr/>
        </p:nvSpPr>
        <p:spPr>
          <a:xfrm>
            <a:off x="4096512" y="1417320"/>
            <a:ext cx="135331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1050"/>
              <a:buFont typeface="Arial"/>
              <a:buNone/>
            </a:pPr>
            <a:r>
              <a:rPr b="1" i="0" lang="en" sz="1050" u="none" cap="none" strike="noStrike">
                <a:solidFill>
                  <a:srgbClr val="2F5496"/>
                </a:solidFill>
                <a:latin typeface="Arial"/>
                <a:ea typeface="Arial"/>
                <a:cs typeface="Arial"/>
                <a:sym typeface="Arial"/>
              </a:rPr>
              <a:t>Row content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4"/>
          <p:cNvSpPr/>
          <p:nvPr/>
        </p:nvSpPr>
        <p:spPr>
          <a:xfrm>
            <a:off x="5532120" y="1417320"/>
            <a:ext cx="290779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1050"/>
              <a:buFont typeface="Arial"/>
              <a:buNone/>
            </a:pPr>
            <a:r>
              <a:rPr b="1" i="0" lang="en" sz="1050" u="none" cap="none" strike="noStrike">
                <a:solidFill>
                  <a:srgbClr val="2F5496"/>
                </a:solidFill>
                <a:latin typeface="Arial"/>
                <a:ea typeface="Arial"/>
                <a:cs typeface="Arial"/>
                <a:sym typeface="Arial"/>
              </a:rPr>
              <a:t>Printed line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4"/>
          <p:cNvSpPr/>
          <p:nvPr/>
        </p:nvSpPr>
        <p:spPr>
          <a:xfrm>
            <a:off x="566928" y="1847088"/>
            <a:ext cx="8001000" cy="402336"/>
          </a:xfrm>
          <a:prstGeom prst="rect">
            <a:avLst/>
          </a:prstGeom>
          <a:solidFill>
            <a:srgbClr val="F0EDE8"/>
          </a:solidFill>
          <a:ln cap="flat" cmpd="sng" w="9525">
            <a:solidFill>
              <a:srgbClr val="D8D4C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4"/>
          <p:cNvSpPr/>
          <p:nvPr/>
        </p:nvSpPr>
        <p:spPr>
          <a:xfrm>
            <a:off x="658368" y="1874520"/>
            <a:ext cx="84124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50"/>
              <a:buFont typeface="Arial"/>
              <a:buNone/>
            </a:pPr>
            <a:r>
              <a:rPr b="1" i="0" lang="en" sz="125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4"/>
          <p:cNvSpPr/>
          <p:nvPr/>
        </p:nvSpPr>
        <p:spPr>
          <a:xfrm>
            <a:off x="1572768" y="1874520"/>
            <a:ext cx="107899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50"/>
              <a:buFont typeface="Arial"/>
              <a:buNone/>
            </a:pPr>
            <a:r>
              <a:rPr b="0" i="0" lang="en" sz="125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4"/>
          <p:cNvSpPr/>
          <p:nvPr/>
        </p:nvSpPr>
        <p:spPr>
          <a:xfrm>
            <a:off x="2724912" y="1874520"/>
            <a:ext cx="129844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1250"/>
              <a:buFont typeface="Arial"/>
              <a:buNone/>
            </a:pPr>
            <a:r>
              <a:rPr b="0" i="0" lang="en" sz="1250" u="none" cap="none" strike="noStrike">
                <a:solidFill>
                  <a:srgbClr val="2F5496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4"/>
          <p:cNvSpPr/>
          <p:nvPr/>
        </p:nvSpPr>
        <p:spPr>
          <a:xfrm>
            <a:off x="4096512" y="1874520"/>
            <a:ext cx="135331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50"/>
              <a:buFont typeface="Courier New"/>
              <a:buNone/>
            </a:pPr>
            <a:r>
              <a:rPr b="0" i="0" lang="en" sz="11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'0'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4"/>
          <p:cNvSpPr/>
          <p:nvPr/>
        </p:nvSpPr>
        <p:spPr>
          <a:xfrm>
            <a:off x="5532120" y="1874520"/>
            <a:ext cx="290779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50"/>
              <a:buFont typeface="Courier New"/>
              <a:buNone/>
            </a:pPr>
            <a:r>
              <a:rPr b="0" i="0" lang="en" sz="11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   0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4"/>
          <p:cNvSpPr/>
          <p:nvPr/>
        </p:nvSpPr>
        <p:spPr>
          <a:xfrm>
            <a:off x="566928" y="2286000"/>
            <a:ext cx="8001000" cy="40233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4C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4"/>
          <p:cNvSpPr/>
          <p:nvPr/>
        </p:nvSpPr>
        <p:spPr>
          <a:xfrm>
            <a:off x="658368" y="2313432"/>
            <a:ext cx="84124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50"/>
              <a:buFont typeface="Arial"/>
              <a:buNone/>
            </a:pPr>
            <a:r>
              <a:rPr b="1" i="0" lang="en" sz="125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4"/>
          <p:cNvSpPr/>
          <p:nvPr/>
        </p:nvSpPr>
        <p:spPr>
          <a:xfrm>
            <a:off x="1572768" y="2313432"/>
            <a:ext cx="107899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50"/>
              <a:buFont typeface="Arial"/>
              <a:buNone/>
            </a:pPr>
            <a:r>
              <a:rPr b="0" i="0" lang="en" sz="125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4"/>
          <p:cNvSpPr/>
          <p:nvPr/>
        </p:nvSpPr>
        <p:spPr>
          <a:xfrm>
            <a:off x="2724912" y="2313432"/>
            <a:ext cx="129844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1250"/>
              <a:buFont typeface="Arial"/>
              <a:buNone/>
            </a:pPr>
            <a:r>
              <a:rPr b="0" i="0" lang="en" sz="1250" u="none" cap="none" strike="noStrike">
                <a:solidFill>
                  <a:srgbClr val="2F5496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4"/>
          <p:cNvSpPr/>
          <p:nvPr/>
        </p:nvSpPr>
        <p:spPr>
          <a:xfrm>
            <a:off x="4096512" y="2313432"/>
            <a:ext cx="135331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50"/>
              <a:buFont typeface="Courier New"/>
              <a:buNone/>
            </a:pPr>
            <a:r>
              <a:rPr b="0" i="0" lang="en" sz="11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'0 0'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4"/>
          <p:cNvSpPr/>
          <p:nvPr/>
        </p:nvSpPr>
        <p:spPr>
          <a:xfrm>
            <a:off x="5532120" y="2313432"/>
            <a:ext cx="290779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50"/>
              <a:buFont typeface="Courier New"/>
              <a:buNone/>
            </a:pPr>
            <a:r>
              <a:rPr b="0" i="0" lang="en" sz="11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  0 0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4"/>
          <p:cNvSpPr/>
          <p:nvPr/>
        </p:nvSpPr>
        <p:spPr>
          <a:xfrm>
            <a:off x="566928" y="2724912"/>
            <a:ext cx="8001000" cy="402336"/>
          </a:xfrm>
          <a:prstGeom prst="rect">
            <a:avLst/>
          </a:prstGeom>
          <a:solidFill>
            <a:srgbClr val="F0EDE8"/>
          </a:solidFill>
          <a:ln cap="flat" cmpd="sng" w="9525">
            <a:solidFill>
              <a:srgbClr val="D8D4C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4"/>
          <p:cNvSpPr/>
          <p:nvPr/>
        </p:nvSpPr>
        <p:spPr>
          <a:xfrm>
            <a:off x="658368" y="2752344"/>
            <a:ext cx="84124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50"/>
              <a:buFont typeface="Arial"/>
              <a:buNone/>
            </a:pPr>
            <a:r>
              <a:rPr b="1" i="0" lang="en" sz="125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4"/>
          <p:cNvSpPr/>
          <p:nvPr/>
        </p:nvSpPr>
        <p:spPr>
          <a:xfrm>
            <a:off x="1572768" y="2752344"/>
            <a:ext cx="107899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50"/>
              <a:buFont typeface="Arial"/>
              <a:buNone/>
            </a:pPr>
            <a:r>
              <a:rPr b="0" i="0" lang="en" sz="125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4"/>
          <p:cNvSpPr/>
          <p:nvPr/>
        </p:nvSpPr>
        <p:spPr>
          <a:xfrm>
            <a:off x="2724912" y="2752344"/>
            <a:ext cx="129844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1250"/>
              <a:buFont typeface="Arial"/>
              <a:buNone/>
            </a:pPr>
            <a:r>
              <a:rPr b="0" i="0" lang="en" sz="1250" u="none" cap="none" strike="noStrike">
                <a:solidFill>
                  <a:srgbClr val="2F5496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4"/>
          <p:cNvSpPr/>
          <p:nvPr/>
        </p:nvSpPr>
        <p:spPr>
          <a:xfrm>
            <a:off x="4096512" y="2752344"/>
            <a:ext cx="135331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50"/>
              <a:buFont typeface="Courier New"/>
              <a:buNone/>
            </a:pPr>
            <a:r>
              <a:rPr b="0" i="0" lang="en" sz="11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'0 0 0'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4"/>
          <p:cNvSpPr/>
          <p:nvPr/>
        </p:nvSpPr>
        <p:spPr>
          <a:xfrm>
            <a:off x="5532120" y="2752344"/>
            <a:ext cx="290779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50"/>
              <a:buFont typeface="Courier New"/>
              <a:buNone/>
            </a:pPr>
            <a:r>
              <a:rPr b="0" i="0" lang="en" sz="11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 0 0 0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4"/>
          <p:cNvSpPr/>
          <p:nvPr/>
        </p:nvSpPr>
        <p:spPr>
          <a:xfrm>
            <a:off x="566928" y="3163824"/>
            <a:ext cx="8001000" cy="40233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4C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4"/>
          <p:cNvSpPr/>
          <p:nvPr/>
        </p:nvSpPr>
        <p:spPr>
          <a:xfrm>
            <a:off x="658368" y="3191256"/>
            <a:ext cx="84124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50"/>
              <a:buFont typeface="Arial"/>
              <a:buNone/>
            </a:pPr>
            <a:r>
              <a:rPr b="1" i="0" lang="en" sz="125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4"/>
          <p:cNvSpPr/>
          <p:nvPr/>
        </p:nvSpPr>
        <p:spPr>
          <a:xfrm>
            <a:off x="1572768" y="3191256"/>
            <a:ext cx="107899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50"/>
              <a:buFont typeface="Arial"/>
              <a:buNone/>
            </a:pPr>
            <a:r>
              <a:rPr b="0" i="0" lang="en" sz="125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4"/>
          <p:cNvSpPr/>
          <p:nvPr/>
        </p:nvSpPr>
        <p:spPr>
          <a:xfrm>
            <a:off x="2724912" y="3191256"/>
            <a:ext cx="129844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1250"/>
              <a:buFont typeface="Arial"/>
              <a:buNone/>
            </a:pPr>
            <a:r>
              <a:rPr b="0" i="0" lang="en" sz="1250" u="none" cap="none" strike="noStrike">
                <a:solidFill>
                  <a:srgbClr val="2F5496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4"/>
          <p:cNvSpPr/>
          <p:nvPr/>
        </p:nvSpPr>
        <p:spPr>
          <a:xfrm>
            <a:off x="4096512" y="3191256"/>
            <a:ext cx="135331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50"/>
              <a:buFont typeface="Courier New"/>
              <a:buNone/>
            </a:pPr>
            <a:r>
              <a:rPr b="0" i="0" lang="en" sz="11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'0 0 0 0'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4"/>
          <p:cNvSpPr/>
          <p:nvPr/>
        </p:nvSpPr>
        <p:spPr>
          <a:xfrm>
            <a:off x="5532120" y="3191256"/>
            <a:ext cx="290779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50"/>
              <a:buFont typeface="Courier New"/>
              <a:buNone/>
            </a:pPr>
            <a:r>
              <a:rPr b="0" i="0" lang="en" sz="11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0 0 0 0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4"/>
          <p:cNvSpPr/>
          <p:nvPr/>
        </p:nvSpPr>
        <p:spPr>
          <a:xfrm>
            <a:off x="566928" y="3602736"/>
            <a:ext cx="8001000" cy="402336"/>
          </a:xfrm>
          <a:prstGeom prst="rect">
            <a:avLst/>
          </a:prstGeom>
          <a:solidFill>
            <a:srgbClr val="D4EAD4"/>
          </a:solidFill>
          <a:ln cap="flat" cmpd="sng" w="9525">
            <a:solidFill>
              <a:srgbClr val="D8D4C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4"/>
          <p:cNvSpPr/>
          <p:nvPr/>
        </p:nvSpPr>
        <p:spPr>
          <a:xfrm>
            <a:off x="658368" y="3630168"/>
            <a:ext cx="84124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50"/>
              <a:buFont typeface="Arial"/>
              <a:buNone/>
            </a:pPr>
            <a:r>
              <a:rPr b="1" i="0" lang="en" sz="125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4"/>
          <p:cNvSpPr/>
          <p:nvPr/>
        </p:nvSpPr>
        <p:spPr>
          <a:xfrm>
            <a:off x="1572768" y="3630168"/>
            <a:ext cx="107899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50"/>
              <a:buFont typeface="Arial"/>
              <a:buNone/>
            </a:pPr>
            <a:r>
              <a:rPr b="0" i="0" lang="en" sz="125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4"/>
          <p:cNvSpPr/>
          <p:nvPr/>
        </p:nvSpPr>
        <p:spPr>
          <a:xfrm>
            <a:off x="2724912" y="3630168"/>
            <a:ext cx="129844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1250"/>
              <a:buFont typeface="Arial"/>
              <a:buNone/>
            </a:pPr>
            <a:r>
              <a:rPr b="0" i="0" lang="en" sz="1250" u="none" cap="none" strike="noStrike">
                <a:solidFill>
                  <a:srgbClr val="2F5496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4"/>
          <p:cNvSpPr/>
          <p:nvPr/>
        </p:nvSpPr>
        <p:spPr>
          <a:xfrm>
            <a:off x="4096512" y="3630168"/>
            <a:ext cx="135331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50"/>
              <a:buFont typeface="Courier New"/>
              <a:buNone/>
            </a:pPr>
            <a:r>
              <a:rPr b="0" i="0" lang="en" sz="11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'0 0 0 0 0'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4"/>
          <p:cNvSpPr/>
          <p:nvPr/>
        </p:nvSpPr>
        <p:spPr>
          <a:xfrm>
            <a:off x="5532120" y="3630168"/>
            <a:ext cx="290779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1150"/>
              <a:buFont typeface="Courier New"/>
              <a:buNone/>
            </a:pPr>
            <a:r>
              <a:rPr b="0" i="0" lang="en" sz="1150" u="none" cap="none" strike="noStrike">
                <a:solidFill>
                  <a:srgbClr val="2E7D32"/>
                </a:solidFill>
                <a:latin typeface="Courier New"/>
                <a:ea typeface="Courier New"/>
                <a:cs typeface="Courier New"/>
                <a:sym typeface="Courier New"/>
              </a:rPr>
              <a:t>0 0 0 0 0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4"/>
          <p:cNvSpPr/>
          <p:nvPr/>
        </p:nvSpPr>
        <p:spPr>
          <a:xfrm>
            <a:off x="594360" y="4251960"/>
            <a:ext cx="8183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50"/>
              <a:buFont typeface="Arial"/>
              <a:buNone/>
            </a:pPr>
            <a:r>
              <a:rPr b="1" i="0" lang="en" sz="115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Key formula:  </a:t>
            </a:r>
            <a:r>
              <a:rPr b="1" i="0" lang="en" sz="1150" u="none" cap="none" strike="noStrike">
                <a:solidFill>
                  <a:srgbClr val="2F5496"/>
                </a:solidFill>
                <a:latin typeface="Courier New"/>
                <a:ea typeface="Courier New"/>
                <a:cs typeface="Courier New"/>
                <a:sym typeface="Courier New"/>
              </a:rPr>
              <a:t>spaces = n - i</a:t>
            </a:r>
            <a:r>
              <a:rPr b="0" i="0" lang="en" sz="115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   |   </a:t>
            </a:r>
            <a:r>
              <a:rPr b="1" i="0" lang="en" sz="1150" u="none" cap="none" strike="noStrike">
                <a:solidFill>
                  <a:srgbClr val="2F5496"/>
                </a:solidFill>
                <a:latin typeface="Courier New"/>
                <a:ea typeface="Courier New"/>
                <a:cs typeface="Courier New"/>
                <a:sym typeface="Courier New"/>
              </a:rPr>
              <a:t>row content = ' '.join(['0'] * i)</a:t>
            </a:r>
            <a:r>
              <a:rPr b="0" i="0" lang="en" sz="115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   |   </a:t>
            </a:r>
            <a:r>
              <a:rPr b="1" i="0" lang="en" sz="1150" u="none" cap="none" strike="noStrike">
                <a:solidFill>
                  <a:srgbClr val="2F5496"/>
                </a:solidFill>
                <a:latin typeface="Courier New"/>
                <a:ea typeface="Courier New"/>
                <a:cs typeface="Courier New"/>
                <a:sym typeface="Courier New"/>
              </a:rPr>
              <a:t>print(' ' * spaces + row_content)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4"/>
          <p:cNvSpPr/>
          <p:nvPr/>
        </p:nvSpPr>
        <p:spPr>
          <a:xfrm>
            <a:off x="320040" y="4892040"/>
            <a:ext cx="5029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Python Buddy  ·  Section 3 - Problem 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8E4DC"/>
        </a:solid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5"/>
          <p:cNvSpPr/>
          <p:nvPr/>
        </p:nvSpPr>
        <p:spPr>
          <a:xfrm>
            <a:off x="320040" y="109728"/>
            <a:ext cx="850392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4400"/>
              <a:buFont typeface="Arial"/>
              <a:buNone/>
            </a:pPr>
            <a:r>
              <a:rPr b="1" i="0" lang="en" sz="44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The Explanatory Approach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5"/>
          <p:cNvSpPr/>
          <p:nvPr/>
        </p:nvSpPr>
        <p:spPr>
          <a:xfrm>
            <a:off x="320040" y="713232"/>
            <a:ext cx="8503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Step-by-step: read n, loop over rows, compute spaces, build and print each line.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5"/>
          <p:cNvSpPr/>
          <p:nvPr/>
        </p:nvSpPr>
        <p:spPr>
          <a:xfrm>
            <a:off x="320040" y="1078992"/>
            <a:ext cx="5989320" cy="3703320"/>
          </a:xfrm>
          <a:prstGeom prst="roundRect">
            <a:avLst>
              <a:gd fmla="val 2469" name="adj"/>
            </a:avLst>
          </a:prstGeom>
          <a:solidFill>
            <a:srgbClr val="FFFFFF"/>
          </a:solidFill>
          <a:ln cap="flat" cmpd="sng" w="9525">
            <a:solidFill>
              <a:srgbClr val="D0CB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5"/>
          <p:cNvSpPr/>
          <p:nvPr/>
        </p:nvSpPr>
        <p:spPr>
          <a:xfrm>
            <a:off x="502920" y="1188720"/>
            <a:ext cx="5623560" cy="3520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50"/>
              <a:buFont typeface="Courier New"/>
              <a:buNone/>
            </a:pPr>
            <a:r>
              <a:rPr b="0" i="0" lang="en" sz="13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n = int(input())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Calibri"/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50"/>
              <a:buFont typeface="Courier New"/>
              <a:buNone/>
            </a:pPr>
            <a:r>
              <a:rPr b="0" i="0" lang="en" sz="13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for i in range(1, n + 1):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50"/>
              <a:buFont typeface="Courier New"/>
              <a:buNone/>
            </a:pPr>
            <a:r>
              <a:rPr b="0" i="0" lang="en" sz="13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   # Number of leading spaces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50"/>
              <a:buFont typeface="Courier New"/>
              <a:buNone/>
            </a:pPr>
            <a:r>
              <a:rPr b="0" i="0" lang="en" sz="13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   spaces = n - i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Calibri"/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50"/>
              <a:buFont typeface="Courier New"/>
              <a:buNone/>
            </a:pPr>
            <a:r>
              <a:rPr b="0" i="0" lang="en" sz="13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   # Build the zeroes string (no trailing space)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50"/>
              <a:buFont typeface="Courier New"/>
              <a:buNone/>
            </a:pPr>
            <a:r>
              <a:rPr b="0" i="0" lang="en" sz="13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   zeroes = ' '.join(['0'] * i)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Calibri"/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50"/>
              <a:buFont typeface="Courier New"/>
              <a:buNone/>
            </a:pPr>
            <a:r>
              <a:rPr b="0" i="0" lang="en" sz="13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   # Combine and print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50"/>
              <a:buFont typeface="Courier New"/>
              <a:buNone/>
            </a:pPr>
            <a:r>
              <a:rPr b="0" i="0" lang="en" sz="13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   print(' ' * spaces + zeroes)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2" name="Google Shape;162;p5"/>
          <p:cNvCxnSpPr/>
          <p:nvPr/>
        </p:nvCxnSpPr>
        <p:spPr>
          <a:xfrm>
            <a:off x="6373368" y="1353312"/>
            <a:ext cx="320040" cy="0"/>
          </a:xfrm>
          <a:prstGeom prst="straightConnector1">
            <a:avLst/>
          </a:prstGeom>
          <a:noFill/>
          <a:ln cap="flat" cmpd="sng" w="25400">
            <a:solidFill>
              <a:srgbClr val="C0522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3" name="Google Shape;163;p5"/>
          <p:cNvSpPr/>
          <p:nvPr/>
        </p:nvSpPr>
        <p:spPr>
          <a:xfrm>
            <a:off x="6739128" y="1234440"/>
            <a:ext cx="2029968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522A"/>
              </a:buClr>
              <a:buSzPts val="1150"/>
              <a:buFont typeface="Arial"/>
              <a:buNone/>
            </a:pPr>
            <a:r>
              <a:rPr b="0" i="0" lang="en" sz="1150" u="none" cap="none" strike="noStrike">
                <a:solidFill>
                  <a:srgbClr val="C0522A"/>
                </a:solidFill>
                <a:latin typeface="Arial"/>
                <a:ea typeface="Arial"/>
                <a:cs typeface="Arial"/>
                <a:sym typeface="Arial"/>
              </a:rPr>
              <a:t>Read n as integer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522A"/>
              </a:buClr>
              <a:buSzPts val="1150"/>
              <a:buFont typeface="Arial"/>
              <a:buNone/>
            </a:pPr>
            <a:r>
              <a:rPr b="0" i="0" lang="en" sz="1150" u="none" cap="none" strike="noStrike">
                <a:solidFill>
                  <a:srgbClr val="C0522A"/>
                </a:solidFill>
                <a:latin typeface="Arial"/>
                <a:ea typeface="Arial"/>
                <a:cs typeface="Arial"/>
                <a:sym typeface="Arial"/>
              </a:rPr>
              <a:t>from stdin.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4" name="Google Shape;164;p5"/>
          <p:cNvCxnSpPr/>
          <p:nvPr/>
        </p:nvCxnSpPr>
        <p:spPr>
          <a:xfrm>
            <a:off x="6373368" y="1993392"/>
            <a:ext cx="320040" cy="0"/>
          </a:xfrm>
          <a:prstGeom prst="straightConnector1">
            <a:avLst/>
          </a:prstGeom>
          <a:noFill/>
          <a:ln cap="flat" cmpd="sng" w="25400">
            <a:solidFill>
              <a:srgbClr val="C0522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5" name="Google Shape;165;p5"/>
          <p:cNvSpPr/>
          <p:nvPr/>
        </p:nvSpPr>
        <p:spPr>
          <a:xfrm>
            <a:off x="6739128" y="1874520"/>
            <a:ext cx="2029968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522A"/>
              </a:buClr>
              <a:buSzPts val="1150"/>
              <a:buFont typeface="Arial"/>
              <a:buNone/>
            </a:pPr>
            <a:r>
              <a:rPr b="0" i="0" lang="en" sz="1150" u="none" cap="none" strike="noStrike">
                <a:solidFill>
                  <a:srgbClr val="C0522A"/>
                </a:solidFill>
                <a:latin typeface="Arial"/>
                <a:ea typeface="Arial"/>
                <a:cs typeface="Arial"/>
                <a:sym typeface="Arial"/>
              </a:rPr>
              <a:t>Loop from row 1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522A"/>
              </a:buClr>
              <a:buSzPts val="1150"/>
              <a:buFont typeface="Arial"/>
              <a:buNone/>
            </a:pPr>
            <a:r>
              <a:rPr b="0" i="0" lang="en" sz="1150" u="none" cap="none" strike="noStrike">
                <a:solidFill>
                  <a:srgbClr val="C0522A"/>
                </a:solidFill>
                <a:latin typeface="Arial"/>
                <a:ea typeface="Arial"/>
                <a:cs typeface="Arial"/>
                <a:sym typeface="Arial"/>
              </a:rPr>
              <a:t>to row n (inclusive).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6" name="Google Shape;166;p5"/>
          <p:cNvCxnSpPr/>
          <p:nvPr/>
        </p:nvCxnSpPr>
        <p:spPr>
          <a:xfrm>
            <a:off x="6373368" y="2478024"/>
            <a:ext cx="320040" cy="0"/>
          </a:xfrm>
          <a:prstGeom prst="straightConnector1">
            <a:avLst/>
          </a:prstGeom>
          <a:noFill/>
          <a:ln cap="flat" cmpd="sng" w="25400">
            <a:solidFill>
              <a:srgbClr val="C0522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7" name="Google Shape;167;p5"/>
          <p:cNvSpPr/>
          <p:nvPr/>
        </p:nvSpPr>
        <p:spPr>
          <a:xfrm>
            <a:off x="6739128" y="2359152"/>
            <a:ext cx="2029968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522A"/>
              </a:buClr>
              <a:buSzPts val="1150"/>
              <a:buFont typeface="Arial"/>
              <a:buNone/>
            </a:pPr>
            <a:r>
              <a:rPr b="0" i="0" lang="en" sz="1150" u="none" cap="none" strike="noStrike">
                <a:solidFill>
                  <a:srgbClr val="C0522A"/>
                </a:solidFill>
                <a:latin typeface="Arial"/>
                <a:ea typeface="Arial"/>
                <a:cs typeface="Arial"/>
                <a:sym typeface="Arial"/>
              </a:rPr>
              <a:t>Row i needs n-i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522A"/>
              </a:buClr>
              <a:buSzPts val="1150"/>
              <a:buFont typeface="Arial"/>
              <a:buNone/>
            </a:pPr>
            <a:r>
              <a:rPr b="0" i="0" lang="en" sz="1150" u="none" cap="none" strike="noStrike">
                <a:solidFill>
                  <a:srgbClr val="C0522A"/>
                </a:solidFill>
                <a:latin typeface="Arial"/>
                <a:ea typeface="Arial"/>
                <a:cs typeface="Arial"/>
                <a:sym typeface="Arial"/>
              </a:rPr>
              <a:t>leading spaces.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8" name="Google Shape;168;p5"/>
          <p:cNvCxnSpPr/>
          <p:nvPr/>
        </p:nvCxnSpPr>
        <p:spPr>
          <a:xfrm>
            <a:off x="6373368" y="2999232"/>
            <a:ext cx="320040" cy="0"/>
          </a:xfrm>
          <a:prstGeom prst="straightConnector1">
            <a:avLst/>
          </a:prstGeom>
          <a:noFill/>
          <a:ln cap="flat" cmpd="sng" w="25400">
            <a:solidFill>
              <a:srgbClr val="C0522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9" name="Google Shape;169;p5"/>
          <p:cNvSpPr/>
          <p:nvPr/>
        </p:nvSpPr>
        <p:spPr>
          <a:xfrm>
            <a:off x="6739128" y="2880360"/>
            <a:ext cx="2029968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522A"/>
              </a:buClr>
              <a:buSzPts val="1150"/>
              <a:buFont typeface="Arial"/>
              <a:buNone/>
            </a:pPr>
            <a:r>
              <a:rPr b="0" i="0" lang="en" sz="1150" u="none" cap="none" strike="noStrike">
                <a:solidFill>
                  <a:srgbClr val="C0522A"/>
                </a:solidFill>
                <a:latin typeface="Arial"/>
                <a:ea typeface="Arial"/>
                <a:cs typeface="Arial"/>
                <a:sym typeface="Arial"/>
              </a:rPr>
              <a:t>join() builds zeroes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522A"/>
              </a:buClr>
              <a:buSzPts val="1150"/>
              <a:buFont typeface="Arial"/>
              <a:buNone/>
            </a:pPr>
            <a:r>
              <a:rPr b="0" i="0" lang="en" sz="1150" u="none" cap="none" strike="noStrike">
                <a:solidFill>
                  <a:srgbClr val="C0522A"/>
                </a:solidFill>
                <a:latin typeface="Arial"/>
                <a:ea typeface="Arial"/>
                <a:cs typeface="Arial"/>
                <a:sym typeface="Arial"/>
              </a:rPr>
              <a:t>with spaces between —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522A"/>
              </a:buClr>
              <a:buSzPts val="1150"/>
              <a:buFont typeface="Arial"/>
              <a:buNone/>
            </a:pPr>
            <a:r>
              <a:rPr b="0" i="0" lang="en" sz="1150" u="none" cap="none" strike="noStrike">
                <a:solidFill>
                  <a:srgbClr val="C0522A"/>
                </a:solidFill>
                <a:latin typeface="Arial"/>
                <a:ea typeface="Arial"/>
                <a:cs typeface="Arial"/>
                <a:sym typeface="Arial"/>
              </a:rPr>
              <a:t>no trailing space.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0" name="Google Shape;170;p5"/>
          <p:cNvCxnSpPr/>
          <p:nvPr/>
        </p:nvCxnSpPr>
        <p:spPr>
          <a:xfrm>
            <a:off x="6373368" y="3886200"/>
            <a:ext cx="320040" cy="0"/>
          </a:xfrm>
          <a:prstGeom prst="straightConnector1">
            <a:avLst/>
          </a:prstGeom>
          <a:noFill/>
          <a:ln cap="flat" cmpd="sng" w="25400">
            <a:solidFill>
              <a:srgbClr val="C0522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1" name="Google Shape;171;p5"/>
          <p:cNvSpPr/>
          <p:nvPr/>
        </p:nvSpPr>
        <p:spPr>
          <a:xfrm>
            <a:off x="6739128" y="3767328"/>
            <a:ext cx="2029968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522A"/>
              </a:buClr>
              <a:buSzPts val="1150"/>
              <a:buFont typeface="Arial"/>
              <a:buNone/>
            </a:pPr>
            <a:r>
              <a:rPr b="0" i="0" lang="en" sz="1150" u="none" cap="none" strike="noStrike">
                <a:solidFill>
                  <a:srgbClr val="C0522A"/>
                </a:solidFill>
                <a:latin typeface="Arial"/>
                <a:ea typeface="Arial"/>
                <a:cs typeface="Arial"/>
                <a:sym typeface="Arial"/>
              </a:rPr>
              <a:t>Prepend spaces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522A"/>
              </a:buClr>
              <a:buSzPts val="1150"/>
              <a:buFont typeface="Arial"/>
              <a:buNone/>
            </a:pPr>
            <a:r>
              <a:rPr b="0" i="0" lang="en" sz="1150" u="none" cap="none" strike="noStrike">
                <a:solidFill>
                  <a:srgbClr val="C0522A"/>
                </a:solidFill>
                <a:latin typeface="Arial"/>
                <a:ea typeface="Arial"/>
                <a:cs typeface="Arial"/>
                <a:sym typeface="Arial"/>
              </a:rPr>
              <a:t>and print the line.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5"/>
          <p:cNvSpPr/>
          <p:nvPr/>
        </p:nvSpPr>
        <p:spPr>
          <a:xfrm>
            <a:off x="320040" y="4892040"/>
            <a:ext cx="5029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Python Buddy  ·  Section 3 - Problem 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8E4DC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6"/>
          <p:cNvSpPr/>
          <p:nvPr/>
        </p:nvSpPr>
        <p:spPr>
          <a:xfrm>
            <a:off x="320040" y="109728"/>
            <a:ext cx="850392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4400"/>
              <a:buFont typeface="Arial"/>
              <a:buNone/>
            </a:pPr>
            <a:r>
              <a:rPr b="1" i="0" lang="en" sz="44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The Pythonic Optimization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6"/>
          <p:cNvSpPr/>
          <p:nvPr/>
        </p:nvSpPr>
        <p:spPr>
          <a:xfrm>
            <a:off x="320040" y="713232"/>
            <a:ext cx="8503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Collapsing the logic into a single expression per row using f-strings.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6"/>
          <p:cNvSpPr/>
          <p:nvPr/>
        </p:nvSpPr>
        <p:spPr>
          <a:xfrm>
            <a:off x="320040" y="1078992"/>
            <a:ext cx="8503920" cy="1481328"/>
          </a:xfrm>
          <a:prstGeom prst="roundRect">
            <a:avLst>
              <a:gd fmla="val 6173" name="adj"/>
            </a:avLst>
          </a:prstGeom>
          <a:solidFill>
            <a:srgbClr val="FFFFFF"/>
          </a:solidFill>
          <a:ln cap="flat" cmpd="sng" w="9525">
            <a:solidFill>
              <a:srgbClr val="D0CB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6"/>
          <p:cNvSpPr/>
          <p:nvPr/>
        </p:nvSpPr>
        <p:spPr>
          <a:xfrm>
            <a:off x="548640" y="1188720"/>
            <a:ext cx="8092440" cy="12984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50"/>
              <a:buFont typeface="Courier New"/>
              <a:buNone/>
            </a:pPr>
            <a:r>
              <a:rPr b="0" i="0" lang="en" sz="14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n = int(input())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50"/>
              <a:buFont typeface="Courier New"/>
              <a:buNone/>
            </a:pPr>
            <a:r>
              <a:rPr b="0" i="0" lang="en" sz="14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for i in range(1, n + 1):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50"/>
              <a:buFont typeface="Courier New"/>
              <a:buNone/>
            </a:pPr>
            <a:r>
              <a:rPr b="0" i="0" lang="en" sz="14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   print(f"{'  ' * (n - i)}{'0 ' * i}".rstrip())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6"/>
          <p:cNvSpPr/>
          <p:nvPr/>
        </p:nvSpPr>
        <p:spPr>
          <a:xfrm>
            <a:off x="320040" y="2724912"/>
            <a:ext cx="8503920" cy="2176272"/>
          </a:xfrm>
          <a:prstGeom prst="roundRect">
            <a:avLst>
              <a:gd fmla="val 4202" name="adj"/>
            </a:avLst>
          </a:prstGeom>
          <a:solidFill>
            <a:srgbClr val="E8EFF8"/>
          </a:solidFill>
          <a:ln cap="flat" cmpd="sng" w="9525">
            <a:solidFill>
              <a:srgbClr val="D0CB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6"/>
          <p:cNvSpPr/>
          <p:nvPr/>
        </p:nvSpPr>
        <p:spPr>
          <a:xfrm>
            <a:off x="566928" y="2834640"/>
            <a:ext cx="80467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2F5496"/>
                </a:solidFill>
                <a:latin typeface="Arial"/>
                <a:ea typeface="Arial"/>
                <a:cs typeface="Arial"/>
                <a:sym typeface="Arial"/>
              </a:rPr>
              <a:t>How each part works: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6"/>
          <p:cNvSpPr/>
          <p:nvPr/>
        </p:nvSpPr>
        <p:spPr>
          <a:xfrm>
            <a:off x="566928" y="3218688"/>
            <a:ext cx="8046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1250"/>
              <a:buFont typeface="Courier New"/>
              <a:buNone/>
            </a:pPr>
            <a:r>
              <a:rPr b="1" i="0" lang="en" sz="1250" u="none" cap="none" strike="noStrike">
                <a:solidFill>
                  <a:srgbClr val="2E7D32"/>
                </a:solidFill>
                <a:latin typeface="Courier New"/>
                <a:ea typeface="Courier New"/>
                <a:cs typeface="Courier New"/>
                <a:sym typeface="Courier New"/>
              </a:rPr>
              <a:t>'  ' * (n - i)</a:t>
            </a:r>
            <a:r>
              <a:rPr b="0" i="0" lang="en" sz="125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  →  Repeats two characters ('0' + space) — actually we repeat a space block. Here we use n-i spaces for left-padding.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6"/>
          <p:cNvSpPr/>
          <p:nvPr/>
        </p:nvSpPr>
        <p:spPr>
          <a:xfrm>
            <a:off x="594353" y="3721621"/>
            <a:ext cx="8046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1250"/>
              <a:buFont typeface="Courier New"/>
              <a:buNone/>
            </a:pPr>
            <a:r>
              <a:rPr b="1" i="0" lang="en" sz="1250" u="none" cap="none" strike="noStrike">
                <a:solidFill>
                  <a:srgbClr val="2E7D32"/>
                </a:solidFill>
                <a:latin typeface="Courier New"/>
                <a:ea typeface="Courier New"/>
                <a:cs typeface="Courier New"/>
                <a:sym typeface="Courier New"/>
              </a:rPr>
              <a:t>'0 ' * i</a:t>
            </a:r>
            <a:r>
              <a:rPr b="0" i="0" lang="en" sz="125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  →  Produces i copies of '0 ' (zero + space), e.g. for i=3: '0 0 0 '  — note the trailing space.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6"/>
          <p:cNvSpPr/>
          <p:nvPr/>
        </p:nvSpPr>
        <p:spPr>
          <a:xfrm>
            <a:off x="566928" y="4224528"/>
            <a:ext cx="8046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1250"/>
              <a:buFont typeface="Courier New"/>
              <a:buNone/>
            </a:pPr>
            <a:r>
              <a:rPr b="1" i="0" lang="en" sz="1250" u="none" cap="none" strike="noStrike">
                <a:solidFill>
                  <a:srgbClr val="2E7D32"/>
                </a:solidFill>
                <a:latin typeface="Courier New"/>
                <a:ea typeface="Courier New"/>
                <a:cs typeface="Courier New"/>
                <a:sym typeface="Courier New"/>
              </a:rPr>
              <a:t>.rstrip()</a:t>
            </a:r>
            <a:r>
              <a:rPr b="0" i="0" lang="en" sz="125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  →  Strips the trailing space from the last '0 ' — ensures no trailing whitespace on any line.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6"/>
          <p:cNvSpPr/>
          <p:nvPr/>
        </p:nvSpPr>
        <p:spPr>
          <a:xfrm>
            <a:off x="320040" y="4892040"/>
            <a:ext cx="5029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Python Buddy  ·  Section 3 - Problem 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8E4DC"/>
        </a:solidFill>
      </p:bgPr>
    </p:bg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7"/>
          <p:cNvSpPr/>
          <p:nvPr/>
        </p:nvSpPr>
        <p:spPr>
          <a:xfrm>
            <a:off x="320040" y="91440"/>
            <a:ext cx="85039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4400"/>
              <a:buFont typeface="Arial"/>
              <a:buNone/>
            </a:pPr>
            <a:r>
              <a:rPr b="1" i="0" lang="en" sz="44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Solution Comparison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4" name="Google Shape;194;p7"/>
          <p:cNvCxnSpPr/>
          <p:nvPr/>
        </p:nvCxnSpPr>
        <p:spPr>
          <a:xfrm>
            <a:off x="4572000" y="868680"/>
            <a:ext cx="0" cy="4160520"/>
          </a:xfrm>
          <a:prstGeom prst="straightConnector1">
            <a:avLst/>
          </a:prstGeom>
          <a:noFill/>
          <a:ln cap="flat" cmpd="sng" w="152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5" name="Google Shape;195;p7"/>
          <p:cNvSpPr/>
          <p:nvPr/>
        </p:nvSpPr>
        <p:spPr>
          <a:xfrm>
            <a:off x="548640" y="896112"/>
            <a:ext cx="38404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3600"/>
              <a:buFont typeface="Arial"/>
              <a:buNone/>
            </a:pPr>
            <a:r>
              <a:rPr b="0" i="0" lang="en" sz="3600" u="none" cap="none" strike="noStrike">
                <a:solidFill>
                  <a:srgbClr val="2F5496"/>
                </a:solidFill>
                <a:latin typeface="Arial"/>
                <a:ea typeface="Arial"/>
                <a:cs typeface="Arial"/>
                <a:sym typeface="Arial"/>
              </a:rPr>
              <a:t>↻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7"/>
          <p:cNvSpPr/>
          <p:nvPr/>
        </p:nvSpPr>
        <p:spPr>
          <a:xfrm>
            <a:off x="457200" y="1481328"/>
            <a:ext cx="3931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Step-by-step Loop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7"/>
          <p:cNvSpPr/>
          <p:nvPr/>
        </p:nvSpPr>
        <p:spPr>
          <a:xfrm>
            <a:off x="594360" y="1901952"/>
            <a:ext cx="3749040" cy="1325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50"/>
              <a:buFont typeface="Arial"/>
              <a:buNone/>
            </a:pPr>
            <a:r>
              <a:rPr b="0" i="0" lang="en" sz="135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•  Very clear and readable.</a:t>
            </a:r>
            <a:br>
              <a:rPr b="0" i="0" lang="en" sz="135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" sz="135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•  Each step has its own line.</a:t>
            </a:r>
            <a:br>
              <a:rPr b="0" i="0" lang="en" sz="135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" sz="135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•  Easy to debug and extend.</a:t>
            </a:r>
            <a:br>
              <a:rPr b="0" i="0" lang="en" sz="135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" sz="135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•  Best for: Beginners.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7"/>
          <p:cNvSpPr/>
          <p:nvPr/>
        </p:nvSpPr>
        <p:spPr>
          <a:xfrm>
            <a:off x="411480" y="3493008"/>
            <a:ext cx="39776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50"/>
              <a:buFont typeface="Courier New"/>
              <a:buNone/>
            </a:pPr>
            <a:r>
              <a:rPr b="0" i="0" lang="en" sz="1050" u="none" cap="none" strike="noStrike">
                <a:solidFill>
                  <a:srgbClr val="888888"/>
                </a:solidFill>
                <a:latin typeface="Courier New"/>
                <a:ea typeface="Courier New"/>
                <a:cs typeface="Courier New"/>
                <a:sym typeface="Courier New"/>
              </a:rPr>
              <a:t>spaces = n - i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50"/>
              <a:buFont typeface="Courier New"/>
              <a:buNone/>
            </a:pPr>
            <a:r>
              <a:rPr b="0" i="0" lang="en" sz="1050" u="none" cap="none" strike="noStrike">
                <a:solidFill>
                  <a:srgbClr val="888888"/>
                </a:solidFill>
                <a:latin typeface="Courier New"/>
                <a:ea typeface="Courier New"/>
                <a:cs typeface="Courier New"/>
                <a:sym typeface="Courier New"/>
              </a:rPr>
              <a:t>zeroes = ' '.join(['0'] * i)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50"/>
              <a:buFont typeface="Courier New"/>
              <a:buNone/>
            </a:pPr>
            <a:r>
              <a:rPr b="0" i="0" lang="en" sz="1050" u="none" cap="none" strike="noStrike">
                <a:solidFill>
                  <a:srgbClr val="888888"/>
                </a:solidFill>
                <a:latin typeface="Courier New"/>
                <a:ea typeface="Courier New"/>
                <a:cs typeface="Courier New"/>
                <a:sym typeface="Courier New"/>
              </a:rPr>
              <a:t>print(' ' * spaces + zeroes)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7"/>
          <p:cNvSpPr/>
          <p:nvPr/>
        </p:nvSpPr>
        <p:spPr>
          <a:xfrm>
            <a:off x="4754880" y="896112"/>
            <a:ext cx="39319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3600"/>
              <a:buFont typeface="Arial"/>
              <a:buNone/>
            </a:pPr>
            <a:r>
              <a:rPr b="0" i="0" lang="en" sz="3600" u="none" cap="none" strike="noStrike">
                <a:solidFill>
                  <a:srgbClr val="2F5496"/>
                </a:solidFill>
                <a:latin typeface="Arial"/>
                <a:ea typeface="Arial"/>
                <a:cs typeface="Arial"/>
                <a:sym typeface="Arial"/>
              </a:rPr>
              <a:t>⚡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7"/>
          <p:cNvSpPr/>
          <p:nvPr/>
        </p:nvSpPr>
        <p:spPr>
          <a:xfrm>
            <a:off x="4754880" y="1481328"/>
            <a:ext cx="3931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f-string + rstrip()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7"/>
          <p:cNvSpPr/>
          <p:nvPr/>
        </p:nvSpPr>
        <p:spPr>
          <a:xfrm>
            <a:off x="4892040" y="1901952"/>
            <a:ext cx="3749040" cy="1325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50"/>
              <a:buFont typeface="Arial"/>
              <a:buNone/>
            </a:pPr>
            <a:r>
              <a:rPr b="0" i="0" lang="en" sz="135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•  Single expression per row.</a:t>
            </a:r>
            <a:br>
              <a:rPr b="0" i="0" lang="en" sz="135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" sz="135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•  Uses f-string for formatting.</a:t>
            </a:r>
            <a:br>
              <a:rPr b="0" i="0" lang="en" sz="135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" sz="135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•  rstrip() handles trailing space.</a:t>
            </a:r>
            <a:br>
              <a:rPr b="0" i="0" lang="en" sz="135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" sz="135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•  Best for: Concise code.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7"/>
          <p:cNvSpPr/>
          <p:nvPr/>
        </p:nvSpPr>
        <p:spPr>
          <a:xfrm>
            <a:off x="4754880" y="3547872"/>
            <a:ext cx="39319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50"/>
              <a:buFont typeface="Courier New"/>
              <a:buNone/>
            </a:pPr>
            <a:r>
              <a:rPr b="0" i="0" lang="en" sz="1050" u="none" cap="none" strike="noStrike">
                <a:solidFill>
                  <a:srgbClr val="888888"/>
                </a:solidFill>
                <a:latin typeface="Courier New"/>
                <a:ea typeface="Courier New"/>
                <a:cs typeface="Courier New"/>
                <a:sym typeface="Courier New"/>
              </a:rPr>
              <a:t>print(f"{'  '*(n-i)}{'0 '*i}".rstrip())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7"/>
          <p:cNvSpPr/>
          <p:nvPr/>
        </p:nvSpPr>
        <p:spPr>
          <a:xfrm>
            <a:off x="320040" y="4892040"/>
            <a:ext cx="5029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Python Buddy  ·  Section 3 - Problem 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8E4DC"/>
        </a:solid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8"/>
          <p:cNvSpPr/>
          <p:nvPr/>
        </p:nvSpPr>
        <p:spPr>
          <a:xfrm>
            <a:off x="320040" y="91440"/>
            <a:ext cx="85039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4600"/>
              <a:buFont typeface="Arial"/>
              <a:buNone/>
            </a:pPr>
            <a:r>
              <a:rPr b="1" i="0" lang="en" sz="46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Key Takeaways</a:t>
            </a:r>
            <a:endParaRPr b="0" i="0" sz="4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8"/>
          <p:cNvSpPr/>
          <p:nvPr/>
        </p:nvSpPr>
        <p:spPr>
          <a:xfrm>
            <a:off x="320040" y="868680"/>
            <a:ext cx="2761488" cy="2212848"/>
          </a:xfrm>
          <a:prstGeom prst="roundRect">
            <a:avLst>
              <a:gd fmla="val 4132" name="adj"/>
            </a:avLst>
          </a:prstGeom>
          <a:solidFill>
            <a:srgbClr val="FFFFFF"/>
          </a:solidFill>
          <a:ln cap="flat" cmpd="sng" w="9525">
            <a:solidFill>
              <a:srgbClr val="D0CB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8"/>
          <p:cNvSpPr/>
          <p:nvPr/>
        </p:nvSpPr>
        <p:spPr>
          <a:xfrm>
            <a:off x="502920" y="987552"/>
            <a:ext cx="24231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1350"/>
              <a:buFont typeface="Arial"/>
              <a:buNone/>
            </a:pPr>
            <a:r>
              <a:rPr b="1" i="0" lang="en" sz="1350" u="none" cap="none" strike="noStrike">
                <a:solidFill>
                  <a:srgbClr val="2F5496"/>
                </a:solidFill>
                <a:latin typeface="Arial"/>
                <a:ea typeface="Arial"/>
                <a:cs typeface="Arial"/>
                <a:sym typeface="Arial"/>
              </a:rPr>
              <a:t>01 Centering Formula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8"/>
          <p:cNvSpPr/>
          <p:nvPr/>
        </p:nvSpPr>
        <p:spPr>
          <a:xfrm>
            <a:off x="502920" y="1389888"/>
            <a:ext cx="2423160" cy="14447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Row i needs exactly  n - i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leading spaces. Row 1 gets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the most, row n gets none.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8"/>
          <p:cNvSpPr/>
          <p:nvPr/>
        </p:nvSpPr>
        <p:spPr>
          <a:xfrm>
            <a:off x="3227832" y="868680"/>
            <a:ext cx="2761488" cy="2212848"/>
          </a:xfrm>
          <a:prstGeom prst="roundRect">
            <a:avLst>
              <a:gd fmla="val 4132" name="adj"/>
            </a:avLst>
          </a:prstGeom>
          <a:solidFill>
            <a:srgbClr val="FFFFFF"/>
          </a:solidFill>
          <a:ln cap="flat" cmpd="sng" w="9525">
            <a:solidFill>
              <a:srgbClr val="D0CB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8"/>
          <p:cNvSpPr/>
          <p:nvPr/>
        </p:nvSpPr>
        <p:spPr>
          <a:xfrm>
            <a:off x="3410712" y="987552"/>
            <a:ext cx="24231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1350"/>
              <a:buFont typeface="Arial"/>
              <a:buNone/>
            </a:pPr>
            <a:r>
              <a:rPr b="1" i="0" lang="en" sz="1350" u="none" cap="none" strike="noStrike">
                <a:solidFill>
                  <a:srgbClr val="2F5496"/>
                </a:solidFill>
                <a:latin typeface="Arial"/>
                <a:ea typeface="Arial"/>
                <a:cs typeface="Arial"/>
                <a:sym typeface="Arial"/>
              </a:rPr>
              <a:t>02 join() for No Trailing Space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8"/>
          <p:cNvSpPr/>
          <p:nvPr/>
        </p:nvSpPr>
        <p:spPr>
          <a:xfrm>
            <a:off x="3410712" y="1389888"/>
            <a:ext cx="2423160" cy="14447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' '.join(['0'] * i)  builds i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zeroes with spaces only between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them — never at the end.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8"/>
          <p:cNvSpPr/>
          <p:nvPr/>
        </p:nvSpPr>
        <p:spPr>
          <a:xfrm>
            <a:off x="6135624" y="868680"/>
            <a:ext cx="2761488" cy="2212848"/>
          </a:xfrm>
          <a:prstGeom prst="roundRect">
            <a:avLst>
              <a:gd fmla="val 4132" name="adj"/>
            </a:avLst>
          </a:prstGeom>
          <a:solidFill>
            <a:srgbClr val="FFFFFF"/>
          </a:solidFill>
          <a:ln cap="flat" cmpd="sng" w="9525">
            <a:solidFill>
              <a:srgbClr val="D0CB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8"/>
          <p:cNvSpPr/>
          <p:nvPr/>
        </p:nvSpPr>
        <p:spPr>
          <a:xfrm>
            <a:off x="6318504" y="987552"/>
            <a:ext cx="24231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1350"/>
              <a:buFont typeface="Arial"/>
              <a:buNone/>
            </a:pPr>
            <a:r>
              <a:rPr b="1" i="0" lang="en" sz="1350" u="none" cap="none" strike="noStrike">
                <a:solidFill>
                  <a:srgbClr val="2F5496"/>
                </a:solidFill>
                <a:latin typeface="Arial"/>
                <a:ea typeface="Arial"/>
                <a:cs typeface="Arial"/>
                <a:sym typeface="Arial"/>
              </a:rPr>
              <a:t>03 String Repetition  *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8"/>
          <p:cNvSpPr/>
          <p:nvPr/>
        </p:nvSpPr>
        <p:spPr>
          <a:xfrm>
            <a:off x="6318504" y="1389888"/>
            <a:ext cx="2423160" cy="14447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'0 ' * i  repeats a chunk.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Combine with  .rstrip()  to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remove the last trailing space.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8"/>
          <p:cNvSpPr/>
          <p:nvPr/>
        </p:nvSpPr>
        <p:spPr>
          <a:xfrm>
            <a:off x="320040" y="3218688"/>
            <a:ext cx="8503920" cy="1691640"/>
          </a:xfrm>
          <a:prstGeom prst="roundRect">
            <a:avLst>
              <a:gd fmla="val 5405" name="adj"/>
            </a:avLst>
          </a:prstGeom>
          <a:solidFill>
            <a:srgbClr val="E8EFF8"/>
          </a:solidFill>
          <a:ln cap="flat" cmpd="sng" w="9525">
            <a:solidFill>
              <a:srgbClr val="D0CB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8"/>
          <p:cNvSpPr/>
          <p:nvPr/>
        </p:nvSpPr>
        <p:spPr>
          <a:xfrm>
            <a:off x="566928" y="3337560"/>
            <a:ext cx="8046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1350"/>
              <a:buFont typeface="Arial"/>
              <a:buNone/>
            </a:pPr>
            <a:r>
              <a:rPr b="1" i="0" lang="en" sz="1350" u="none" cap="none" strike="noStrike">
                <a:solidFill>
                  <a:srgbClr val="2F5496"/>
                </a:solidFill>
                <a:latin typeface="Arial"/>
                <a:ea typeface="Arial"/>
                <a:cs typeface="Arial"/>
                <a:sym typeface="Arial"/>
              </a:rPr>
              <a:t>Final Syntax Cheat Sheet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8"/>
          <p:cNvSpPr/>
          <p:nvPr/>
        </p:nvSpPr>
        <p:spPr>
          <a:xfrm>
            <a:off x="566928" y="3648456"/>
            <a:ext cx="8046720" cy="12070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ourier New"/>
              <a:buNone/>
            </a:pPr>
            <a:r>
              <a:rPr b="0" i="0" lang="en" sz="120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# Read input:    n = int(input())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ourier New"/>
              <a:buNone/>
            </a:pPr>
            <a:r>
              <a:rPr b="0" i="0" lang="en" sz="120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# Centering:     spaces = n - i          (leading spaces for row i)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ourier New"/>
              <a:buNone/>
            </a:pPr>
            <a:r>
              <a:rPr b="0" i="0" lang="en" sz="120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# Build row:     ' '.join(['0'] * i)     (zeroes separated by spaces, no trailing space)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ourier New"/>
              <a:buNone/>
            </a:pPr>
            <a:r>
              <a:rPr b="0" i="0" lang="en" sz="120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# Pythonic:      print(f"{'  '*(n-i)}{'0 '*i}".rstrip())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8"/>
          <p:cNvSpPr/>
          <p:nvPr/>
        </p:nvSpPr>
        <p:spPr>
          <a:xfrm>
            <a:off x="320040" y="4892040"/>
            <a:ext cx="5029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Python Buddy  ·  Section 3 - Problem 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