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8c3b5457c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c8c3b5457c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c8c3b5457c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8c3b5457c_2_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c8c3b5457c_2_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c8c3b5457c_2_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8c3b5457c_2_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c8c3b5457c_2_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c8c3b5457c_2_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8c3b5457c_2_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c8c3b5457c_2_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c8c3b5457c_2_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8c3b5457c_2_1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8c3b5457c_2_10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c8c3b5457c_2_10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8c3b5457c_2_1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c8c3b5457c_2_1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c8c3b5457c_2_1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8c3b5457c_2_1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c8c3b5457c_2_1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c8c3b5457c_2_1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8c3b5457c_2_1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c8c3b5457c_2_1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c8c3b5457c_2_1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11887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2025 Jan Oppe 1 - Set 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0" y="187452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Merge and Remove Duplicates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0" y="251460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Section 1 - problem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Problem Definition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411480" y="1078992"/>
            <a:ext cx="3794760" cy="3566160"/>
          </a:xfrm>
          <a:prstGeom prst="roundRect">
            <a:avLst>
              <a:gd fmla="val 3077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594360" y="126187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594360" y="160020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Write a function </a:t>
            </a:r>
            <a:r>
              <a:rPr b="1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'merge_and_remove_duplicates'</a:t>
            </a: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that takes two lists and returns a set containing all unique elements from both lists.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594360" y="2606040"/>
            <a:ext cx="3429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Char char="•"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Combine elements from both lists.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Char char="•"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Remove any duplicate values.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Char char="•"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Return result as a set (unordered collection).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16"/>
          <p:cNvCxnSpPr/>
          <p:nvPr/>
        </p:nvCxnSpPr>
        <p:spPr>
          <a:xfrm>
            <a:off x="4251960" y="283464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6"/>
          <p:cNvCxnSpPr/>
          <p:nvPr/>
        </p:nvCxnSpPr>
        <p:spPr>
          <a:xfrm>
            <a:off x="4672584" y="274320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6"/>
          <p:cNvCxnSpPr/>
          <p:nvPr/>
        </p:nvCxnSpPr>
        <p:spPr>
          <a:xfrm flipH="1" rot="10800000">
            <a:off x="4672584" y="283464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16"/>
          <p:cNvSpPr/>
          <p:nvPr/>
        </p:nvSpPr>
        <p:spPr>
          <a:xfrm>
            <a:off x="4892040" y="1078992"/>
            <a:ext cx="3858768" cy="3566160"/>
          </a:xfrm>
          <a:prstGeom prst="roundRect">
            <a:avLst>
              <a:gd fmla="val 3077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5074920" y="1261872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EXAMPLE &amp; EXPLANATION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5074920" y="1600200"/>
            <a:ext cx="34930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Given input:</a:t>
            </a:r>
            <a:b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list1 = [1, 2, 2]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list2 = [2, 3, 3]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5074920" y="2212848"/>
            <a:ext cx="349300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Merged: [1, 2, 2, 2, 3, 3]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Remove duplicates: {1, 2, 3}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r>
              <a:rPr b="1" i="0" lang="en" sz="130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{1, 2, 3}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16"/>
          <p:cNvCxnSpPr/>
          <p:nvPr/>
        </p:nvCxnSpPr>
        <p:spPr>
          <a:xfrm>
            <a:off x="5074920" y="3182112"/>
            <a:ext cx="3310128" cy="0"/>
          </a:xfrm>
          <a:prstGeom prst="straightConnector1">
            <a:avLst/>
          </a:prstGeom>
          <a:noFill/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6"/>
          <p:cNvSpPr/>
          <p:nvPr/>
        </p:nvSpPr>
        <p:spPr>
          <a:xfrm>
            <a:off x="5074920" y="3291840"/>
            <a:ext cx="34930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Given input:</a:t>
            </a:r>
            <a:b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list1 = ["a", "b"]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list2 = ["b", "c"]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5074920" y="3904488"/>
            <a:ext cx="3493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r>
              <a:rPr b="1" i="0" lang="en" sz="130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{"a", "b", "c"}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Problem Specification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11480" y="1005840"/>
            <a:ext cx="2240280" cy="3200400"/>
          </a:xfrm>
          <a:prstGeom prst="roundRect">
            <a:avLst>
              <a:gd fmla="val 4898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594360" y="120700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530352" y="166420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list1 (list)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list2 (list)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594360" y="2212848"/>
            <a:ext cx="1874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Two lists (can contain any type of elements).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7"/>
          <p:cNvCxnSpPr/>
          <p:nvPr/>
        </p:nvCxnSpPr>
        <p:spPr>
          <a:xfrm>
            <a:off x="2706624" y="260604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17"/>
          <p:cNvCxnSpPr/>
          <p:nvPr/>
        </p:nvCxnSpPr>
        <p:spPr>
          <a:xfrm>
            <a:off x="3127248" y="251460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17"/>
          <p:cNvCxnSpPr/>
          <p:nvPr/>
        </p:nvCxnSpPr>
        <p:spPr>
          <a:xfrm flipH="1" rot="10800000">
            <a:off x="3127248" y="260604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7"/>
          <p:cNvSpPr/>
          <p:nvPr/>
        </p:nvSpPr>
        <p:spPr>
          <a:xfrm>
            <a:off x="3337560" y="1005840"/>
            <a:ext cx="2468880" cy="3200400"/>
          </a:xfrm>
          <a:prstGeom prst="roundRect">
            <a:avLst>
              <a:gd fmla="val 4444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3520440" y="12070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THE BLACK BOX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3520440" y="16276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Combine both lists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into 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3520440" y="228600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Identify duplicate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elements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520440" y="29443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 Remove duplicates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3520440" y="3602736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4. Return as a 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>
            <a:off x="5870448" y="260604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7"/>
          <p:cNvCxnSpPr/>
          <p:nvPr/>
        </p:nvCxnSpPr>
        <p:spPr>
          <a:xfrm>
            <a:off x="6291072" y="251460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17"/>
          <p:cNvCxnSpPr/>
          <p:nvPr/>
        </p:nvCxnSpPr>
        <p:spPr>
          <a:xfrm flipH="1" rot="10800000">
            <a:off x="6291072" y="260604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7"/>
          <p:cNvSpPr/>
          <p:nvPr/>
        </p:nvSpPr>
        <p:spPr>
          <a:xfrm>
            <a:off x="6492240" y="1005840"/>
            <a:ext cx="2240280" cy="3200400"/>
          </a:xfrm>
          <a:prstGeom prst="roundRect">
            <a:avLst>
              <a:gd fmla="val 4898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6675120" y="120700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6675120" y="1664208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Courier New"/>
              <a:buNone/>
            </a:pPr>
            <a:r>
              <a:rPr b="1" i="0" lang="en" sz="32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6675120" y="2304288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set containing unique elements from both lists.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E8E3D8"/>
          </a:solidFill>
          <a:ln cap="flat" cmpd="sng" w="12700">
            <a:solidFill>
              <a:srgbClr val="E8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502920" y="440740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Constraint: </a:t>
            </a:r>
            <a:r>
              <a:rPr b="0" i="0" lang="en" sz="130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Sets are unordered, so </a:t>
            </a:r>
            <a:r>
              <a:rPr b="1" i="0" lang="en" sz="130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{1, 2, 3}</a:t>
            </a:r>
            <a:r>
              <a:rPr b="0" i="0" lang="en" sz="130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b="1" i="0" lang="en" sz="130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{3, 2, 1}</a:t>
            </a:r>
            <a:r>
              <a:rPr b="0" i="0" lang="en" sz="130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 are equivalent.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Visualizing the Operations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411480" y="960120"/>
            <a:ext cx="8321040" cy="3822192"/>
          </a:xfrm>
          <a:prstGeom prst="roundRect">
            <a:avLst>
              <a:gd fmla="val 2871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685800" y="11430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Example: list1 = [1, 2, 2], list2 = [2, 3, 3]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685800" y="16002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Step 1: Two input lists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1097280" y="192024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list1: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1920240" y="1901952"/>
            <a:ext cx="502920" cy="457200"/>
          </a:xfrm>
          <a:prstGeom prst="rect">
            <a:avLst/>
          </a:prstGeom>
          <a:solidFill>
            <a:srgbClr val="4A90D9">
              <a:alpha val="70196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1920240" y="190195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2514600" y="1901952"/>
            <a:ext cx="502920" cy="457200"/>
          </a:xfrm>
          <a:prstGeom prst="rect">
            <a:avLst/>
          </a:prstGeom>
          <a:solidFill>
            <a:srgbClr val="4A90D9">
              <a:alpha val="70196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2514600" y="190195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108960" y="1901952"/>
            <a:ext cx="502920" cy="457200"/>
          </a:xfrm>
          <a:prstGeom prst="rect">
            <a:avLst/>
          </a:prstGeom>
          <a:solidFill>
            <a:srgbClr val="4A90D9">
              <a:alpha val="70196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3108960" y="190195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4389120" y="192024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list2: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5212080" y="1901952"/>
            <a:ext cx="502920" cy="457200"/>
          </a:xfrm>
          <a:prstGeom prst="rect">
            <a:avLst/>
          </a:prstGeom>
          <a:solidFill>
            <a:srgbClr val="F4A261">
              <a:alpha val="70196"/>
            </a:srgbClr>
          </a:solidFill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5212080" y="190195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5806440" y="1901952"/>
            <a:ext cx="502920" cy="457200"/>
          </a:xfrm>
          <a:prstGeom prst="rect">
            <a:avLst/>
          </a:prstGeom>
          <a:solidFill>
            <a:srgbClr val="F4A261">
              <a:alpha val="70196"/>
            </a:srgbClr>
          </a:solidFill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5806440" y="190195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6400800" y="1901952"/>
            <a:ext cx="502920" cy="457200"/>
          </a:xfrm>
          <a:prstGeom prst="rect">
            <a:avLst/>
          </a:prstGeom>
          <a:solidFill>
            <a:srgbClr val="F4A261">
              <a:alpha val="70196"/>
            </a:srgbClr>
          </a:solidFill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6400800" y="190195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685800" y="25146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Step 2: Merge both lists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1828800" y="2834640"/>
            <a:ext cx="502920" cy="457200"/>
          </a:xfrm>
          <a:prstGeom prst="rect">
            <a:avLst/>
          </a:prstGeom>
          <a:solidFill>
            <a:srgbClr val="4A90D9">
              <a:alpha val="70196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1828800" y="28346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2423160" y="2834640"/>
            <a:ext cx="502920" cy="457200"/>
          </a:xfrm>
          <a:prstGeom prst="rect">
            <a:avLst/>
          </a:prstGeom>
          <a:solidFill>
            <a:srgbClr val="4A90D9">
              <a:alpha val="70196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2423160" y="28346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3017520" y="2834640"/>
            <a:ext cx="502920" cy="457200"/>
          </a:xfrm>
          <a:prstGeom prst="rect">
            <a:avLst/>
          </a:prstGeom>
          <a:solidFill>
            <a:srgbClr val="4A90D9">
              <a:alpha val="70196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3017520" y="28346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611880" y="2834640"/>
            <a:ext cx="502920" cy="457200"/>
          </a:xfrm>
          <a:prstGeom prst="rect">
            <a:avLst/>
          </a:prstGeom>
          <a:solidFill>
            <a:srgbClr val="F4A261">
              <a:alpha val="70196"/>
            </a:srgbClr>
          </a:solidFill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3611880" y="28346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206240" y="2834640"/>
            <a:ext cx="502920" cy="457200"/>
          </a:xfrm>
          <a:prstGeom prst="rect">
            <a:avLst/>
          </a:prstGeom>
          <a:solidFill>
            <a:srgbClr val="F4A261">
              <a:alpha val="70196"/>
            </a:srgbClr>
          </a:solidFill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4206240" y="28346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4800600" y="2834640"/>
            <a:ext cx="502920" cy="457200"/>
          </a:xfrm>
          <a:prstGeom prst="rect">
            <a:avLst/>
          </a:prstGeom>
          <a:solidFill>
            <a:srgbClr val="F4A261">
              <a:alpha val="70196"/>
            </a:srgbClr>
          </a:solidFill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4800600" y="28346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685800" y="344728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Step 3: Remove duplicates → convert to 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2560320" y="374904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Courier New"/>
              <a:buNone/>
            </a:pPr>
            <a:r>
              <a:rPr b="1" i="0" lang="en" sz="32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2834640" y="3767328"/>
            <a:ext cx="548640" cy="548640"/>
          </a:xfrm>
          <a:prstGeom prst="ellipse">
            <a:avLst/>
          </a:prstGeom>
          <a:solidFill>
            <a:srgbClr val="4A90D9">
              <a:alpha val="80000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2834640" y="3767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Courier New"/>
              <a:buNone/>
            </a:pPr>
            <a:r>
              <a:rPr b="1" i="0" lang="en" sz="20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3401568" y="3840480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0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520440" y="3767328"/>
            <a:ext cx="548640" cy="548640"/>
          </a:xfrm>
          <a:prstGeom prst="ellipse">
            <a:avLst/>
          </a:prstGeom>
          <a:solidFill>
            <a:srgbClr val="4A90D9">
              <a:alpha val="80000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3520440" y="3767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Courier New"/>
              <a:buNone/>
            </a:pPr>
            <a:r>
              <a:rPr b="1" i="0" lang="en" sz="20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087368" y="3840480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0" i="0" lang="en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206240" y="3767328"/>
            <a:ext cx="548640" cy="548640"/>
          </a:xfrm>
          <a:prstGeom prst="ellipse">
            <a:avLst/>
          </a:prstGeom>
          <a:solidFill>
            <a:srgbClr val="F4A261">
              <a:alpha val="80000"/>
            </a:srgbClr>
          </a:solidFill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4206240" y="3767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Courier New"/>
              <a:buNone/>
            </a:pPr>
            <a:r>
              <a:rPr b="1" i="0" lang="en" sz="20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983480" y="374904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Courier New"/>
              <a:buNone/>
            </a:pPr>
            <a:r>
              <a:rPr b="1" i="0" lang="en" sz="32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5486400" y="391363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 All duplicates removed!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Arial"/>
              <a:buNone/>
            </a:pPr>
            <a:r>
              <a:rPr b="1" i="0" lang="en" sz="3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Explanatory Approach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Step-by-step: merge lists then convert to set.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420588" y="1280176"/>
            <a:ext cx="5577900" cy="2463600"/>
          </a:xfrm>
          <a:prstGeom prst="roundRect">
            <a:avLst>
              <a:gd fmla="val 2927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649192" y="1399050"/>
            <a:ext cx="5120700" cy="3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def merge_and_remove_duplicates(list1, list2):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1: Merge both lists using + operator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merged = list1 + list2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2: Convert to set (auto removes duplicates)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 = set(merged)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3: Return the set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result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6117305" y="1975122"/>
            <a:ext cx="411600" cy="0"/>
          </a:xfrm>
          <a:prstGeom prst="straightConnector1">
            <a:avLst/>
          </a:prstGeom>
          <a:noFill/>
          <a:ln cap="flat" cmpd="sng" w="190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9"/>
          <p:cNvSpPr/>
          <p:nvPr/>
        </p:nvSpPr>
        <p:spPr>
          <a:xfrm>
            <a:off x="6574505" y="1700802"/>
            <a:ext cx="2148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The + operator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concatenates lists: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[1,2] + [3,4] = [1,2,3,4]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19"/>
          <p:cNvCxnSpPr/>
          <p:nvPr/>
        </p:nvCxnSpPr>
        <p:spPr>
          <a:xfrm>
            <a:off x="6117305" y="2798082"/>
            <a:ext cx="411600" cy="0"/>
          </a:xfrm>
          <a:prstGeom prst="straightConnector1">
            <a:avLst/>
          </a:prstGeom>
          <a:noFill/>
          <a:ln cap="flat" cmpd="sng" w="190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9"/>
          <p:cNvSpPr/>
          <p:nvPr/>
        </p:nvSpPr>
        <p:spPr>
          <a:xfrm>
            <a:off x="6574505" y="2468898"/>
            <a:ext cx="214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set() automatically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removes duplicates 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returns unordered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collection.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Arial"/>
              <a:buNone/>
            </a:pPr>
            <a:r>
              <a:rPr b="1" i="0" lang="en" sz="3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Pythonic Optimization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Using set union operator for a one-liner.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11480" y="1024128"/>
            <a:ext cx="8321040" cy="1463040"/>
          </a:xfrm>
          <a:prstGeom prst="roundRect">
            <a:avLst>
              <a:gd fmla="val 7500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685800" y="1143000"/>
            <a:ext cx="7863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def merge_and_remove_duplicates(list1, list2):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Convert both to sets and use union operator |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set(list1) | set(list2)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11480" y="2670048"/>
            <a:ext cx="8321040" cy="2121408"/>
          </a:xfrm>
          <a:prstGeom prst="roundRect">
            <a:avLst>
              <a:gd fmla="val 5172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685800" y="278892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How the set union operator works: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685800" y="309067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143000" y="3090672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200"/>
              <a:buFont typeface="Courier New"/>
              <a:buNone/>
            </a:pPr>
            <a:r>
              <a:rPr b="1" i="0" lang="en" sz="120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417320" y="3090672"/>
            <a:ext cx="6217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operator combines two sets and automatically removes duplicates: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85800" y="3364992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22C55E"/>
                </a:solidFill>
                <a:latin typeface="Courier New"/>
                <a:ea typeface="Courier New"/>
                <a:cs typeface="Courier New"/>
                <a:sym typeface="Courier New"/>
              </a:rPr>
              <a:t>{1, 2} | {2, 3}  →  {1, 2, 3}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685800" y="3730752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Alternative methods (all equivalent):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85800" y="4005072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set(list1) | set(list2)           # Pipe operator (most Pythonic)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set(list1).union(set(list2))      # .union() method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set(list1 + list2)                # Convert merged list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/>
          <p:nvPr/>
        </p:nvSpPr>
        <p:spPr>
          <a:xfrm>
            <a:off x="0" y="20116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Solution Comparison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21"/>
          <p:cNvCxnSpPr/>
          <p:nvPr/>
        </p:nvCxnSpPr>
        <p:spPr>
          <a:xfrm>
            <a:off x="4572000" y="987552"/>
            <a:ext cx="0" cy="3822192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21"/>
          <p:cNvSpPr/>
          <p:nvPr/>
        </p:nvSpPr>
        <p:spPr>
          <a:xfrm>
            <a:off x="1645920" y="105156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List Concatenation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640080" y="251460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Easy to understand.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Clear two-step process.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Works with any iterable types.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Best for: Beginners &amp; clarity.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48640" y="41605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set(list1 + list2)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035040" y="105156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6400"/>
              <a:buFont typeface="Calibri"/>
              <a:buNone/>
            </a:pPr>
            <a:r>
              <a:rPr b="0" i="0" lang="en" sz="6400" u="none" cap="none" strike="noStrike">
                <a:solidFill>
                  <a:srgbClr val="1B4D8E"/>
                </a:solidFill>
                <a:latin typeface="Calibri"/>
                <a:ea typeface="Calibri"/>
                <a:cs typeface="Calibri"/>
                <a:sym typeface="Calibri"/>
              </a:rPr>
              <a:t>∪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754880" y="20116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Set Union Operator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937760" y="2514600"/>
            <a:ext cx="3840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More Pythonic and concise.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Built for set operations.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Slightly more efficient.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Best for: Clean code &amp; interviews.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846320" y="41605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set(list1) | set(list2)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/>
          <p:nvPr/>
        </p:nvSpPr>
        <p:spPr>
          <a:xfrm>
            <a:off x="50292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411480" y="914400"/>
            <a:ext cx="260604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90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76072" y="107899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01 Sets Remove Duplicates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76072" y="1572768"/>
            <a:ext cx="2276856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Converting any iterable to a </a:t>
            </a:r>
            <a:r>
              <a:rPr b="1" i="0" lang="en" sz="12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set()</a:t>
            </a: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automatically removes duplicate values. This is the primary use case for sets in Python.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3264408" y="914400"/>
            <a:ext cx="260604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90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3429000" y="107899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02 List Concatenation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3429000" y="1572768"/>
            <a:ext cx="2276856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" sz="12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operator to merge lists: </a:t>
            </a:r>
            <a:r>
              <a:rPr b="1" i="0" lang="en" sz="12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[1,2] + [3,4]</a:t>
            </a: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produces </a:t>
            </a:r>
            <a:r>
              <a:rPr b="1" i="0" lang="en" sz="12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[1,2,3,4]</a:t>
            </a: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 Then convert to set to remove duplicates.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6117336" y="914400"/>
            <a:ext cx="260604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90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6281928" y="107899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03 Set Union Operator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6281928" y="1572768"/>
            <a:ext cx="2276856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" sz="12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operator performs set union: </a:t>
            </a:r>
            <a:r>
              <a:rPr b="1" i="0" lang="en" sz="12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set1 | set2</a:t>
            </a: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combines elements from both sets, automatically handling duplicates.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411480" y="3310128"/>
            <a:ext cx="8321040" cy="1371600"/>
          </a:xfrm>
          <a:prstGeom prst="roundRect">
            <a:avLst>
              <a:gd fmla="val 6667" name="adj"/>
            </a:avLst>
          </a:prstGeom>
          <a:solidFill>
            <a:srgbClr val="D9E8F5"/>
          </a:solidFill>
          <a:ln cap="flat" cmpd="sng" w="12700">
            <a:solidFill>
              <a:srgbClr val="9E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658368" y="343814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Final Syntax Cheat Sheet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658368" y="3749040"/>
            <a:ext cx="7955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# Concatenation:  return set(list1 + list2)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# Union operator:  return set(list1) | set(list2)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# Union method:    return set(list1).union(set(list2))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